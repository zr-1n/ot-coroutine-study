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50" d="100"/>
          <a:sy n="150" d="100"/>
        </p:scale>
        <p:origin x="1454" y="101"/>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74154" y="284758"/>
            <a:ext cx="3859529" cy="1594372"/>
          </a:xfrm>
          <a:prstGeom prst="rect">
            <a:avLst/>
          </a:prstGeom>
        </p:spPr>
        <p:txBody>
          <a:bodyPr wrap="square" lIns="0" tIns="0" rIns="0" bIns="0">
            <a:spAutoFit/>
          </a:bodyPr>
          <a:lstStyle>
            <a:lvl1pPr>
              <a:defRPr sz="1100" b="0" i="0">
                <a:solidFill>
                  <a:schemeClr val="tx1"/>
                </a:solidFill>
                <a:latin typeface="SimSun"/>
                <a:cs typeface="SimSun"/>
              </a:defRPr>
            </a:lvl1pPr>
          </a:lstStyle>
          <a:p>
            <a:endParaRPr/>
          </a:p>
        </p:txBody>
      </p:sp>
      <p:sp>
        <p:nvSpPr>
          <p:cNvPr id="3" name="Holder 3"/>
          <p:cNvSpPr>
            <a:spLocks noGrp="1"/>
          </p:cNvSpPr>
          <p:nvPr>
            <p:ph type="subTitle" idx="4"/>
          </p:nvPr>
        </p:nvSpPr>
        <p:spPr>
          <a:xfrm>
            <a:off x="924826" y="2030638"/>
            <a:ext cx="2760446" cy="874394"/>
          </a:xfrm>
          <a:prstGeom prst="rect">
            <a:avLst/>
          </a:prstGeom>
        </p:spPr>
        <p:txBody>
          <a:bodyPr wrap="square" lIns="0" tIns="0" rIns="0" bIns="0">
            <a:spAutoFit/>
          </a:bodyPr>
          <a:lstStyle>
            <a:lvl1pPr>
              <a:defRPr sz="1200" b="0" i="0">
                <a:solidFill>
                  <a:schemeClr val="bg1"/>
                </a:solidFill>
                <a:latin typeface="SimSun"/>
                <a:cs typeface="SimSun"/>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SimSun"/>
                <a:cs typeface="SimSun"/>
              </a:defRPr>
            </a:lvl1pPr>
          </a:lstStyle>
          <a:p>
            <a:pPr marL="12700">
              <a:lnSpc>
                <a:spcPct val="100000"/>
              </a:lnSpc>
              <a:spcBef>
                <a:spcPts val="30"/>
              </a:spcBef>
            </a:pPr>
            <a:r>
              <a:rPr spc="-30" dirty="0">
                <a:latin typeface="Times New Roman"/>
                <a:cs typeface="Times New Roman"/>
              </a:rPr>
              <a:t>OT-</a:t>
            </a:r>
            <a:r>
              <a:rPr spc="-20" dirty="0"/>
              <a:t>协程技术调研</a:t>
            </a:r>
          </a:p>
        </p:txBody>
      </p:sp>
      <p:sp>
        <p:nvSpPr>
          <p:cNvPr id="5" name="Holder 5"/>
          <p:cNvSpPr>
            <a:spLocks noGrp="1"/>
          </p:cNvSpPr>
          <p:nvPr>
            <p:ph type="dt" sz="half" idx="6"/>
          </p:nvPr>
        </p:nvSpPr>
        <p:spPr/>
        <p:txBody>
          <a:bodyPr lIns="0" tIns="0" rIns="0" bIns="0"/>
          <a:lstStyle>
            <a:lvl1pPr>
              <a:defRPr sz="600" b="0" i="0">
                <a:solidFill>
                  <a:schemeClr val="bg1"/>
                </a:solidFill>
                <a:latin typeface="SimSun"/>
                <a:cs typeface="SimSun"/>
              </a:defRPr>
            </a:lvl1pPr>
          </a:lstStyle>
          <a:p>
            <a:pPr marL="12700">
              <a:lnSpc>
                <a:spcPct val="100000"/>
              </a:lnSpc>
              <a:spcBef>
                <a:spcPts val="10"/>
              </a:spcBef>
            </a:pPr>
            <a:r>
              <a:rPr spc="35" dirty="0"/>
              <a:t>尚文轩 南开大学</a:t>
            </a:r>
          </a:p>
        </p:txBody>
      </p:sp>
      <p:sp>
        <p:nvSpPr>
          <p:cNvPr id="6" name="Holder 6"/>
          <p:cNvSpPr>
            <a:spLocks noGrp="1"/>
          </p:cNvSpPr>
          <p:nvPr>
            <p:ph type="sldNum" sz="quarter" idx="7"/>
          </p:nvPr>
        </p:nvSpPr>
        <p:spPr/>
        <p:txBody>
          <a:bodyPr lIns="0" tIns="0" rIns="0" bIns="0"/>
          <a:lstStyle>
            <a:lvl1pPr>
              <a:defRPr sz="600" b="0" i="0">
                <a:solidFill>
                  <a:schemeClr val="bg1"/>
                </a:solidFill>
                <a:latin typeface="Times New Roman"/>
                <a:cs typeface="Times New Roman"/>
              </a:defRPr>
            </a:lvl1pPr>
          </a:lstStyle>
          <a:p>
            <a:pPr marL="37465">
              <a:lnSpc>
                <a:spcPct val="100000"/>
              </a:lnSpc>
              <a:spcBef>
                <a:spcPts val="30"/>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100" b="0" i="0">
                <a:solidFill>
                  <a:schemeClr val="tx1"/>
                </a:solidFill>
                <a:latin typeface="SimSun"/>
                <a:cs typeface="SimSun"/>
              </a:defRPr>
            </a:lvl1pPr>
          </a:lstStyle>
          <a:p>
            <a:endParaRPr/>
          </a:p>
        </p:txBody>
      </p:sp>
      <p:sp>
        <p:nvSpPr>
          <p:cNvPr id="3" name="Holder 3"/>
          <p:cNvSpPr>
            <a:spLocks noGrp="1"/>
          </p:cNvSpPr>
          <p:nvPr>
            <p:ph type="body" idx="1"/>
          </p:nvPr>
        </p:nvSpPr>
        <p:spPr/>
        <p:txBody>
          <a:bodyPr lIns="0" tIns="0" rIns="0" bIns="0"/>
          <a:lstStyle>
            <a:lvl1pPr>
              <a:defRPr sz="1200" b="0" i="0">
                <a:solidFill>
                  <a:schemeClr val="bg1"/>
                </a:solidFill>
                <a:latin typeface="SimSun"/>
                <a:cs typeface="SimSun"/>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SimSun"/>
                <a:cs typeface="SimSun"/>
              </a:defRPr>
            </a:lvl1pPr>
          </a:lstStyle>
          <a:p>
            <a:pPr marL="12700">
              <a:lnSpc>
                <a:spcPct val="100000"/>
              </a:lnSpc>
              <a:spcBef>
                <a:spcPts val="30"/>
              </a:spcBef>
            </a:pPr>
            <a:r>
              <a:rPr spc="-30" dirty="0">
                <a:latin typeface="Times New Roman"/>
                <a:cs typeface="Times New Roman"/>
              </a:rPr>
              <a:t>OT-</a:t>
            </a:r>
            <a:r>
              <a:rPr spc="-20" dirty="0"/>
              <a:t>协程技术调研</a:t>
            </a:r>
          </a:p>
        </p:txBody>
      </p:sp>
      <p:sp>
        <p:nvSpPr>
          <p:cNvPr id="5" name="Holder 5"/>
          <p:cNvSpPr>
            <a:spLocks noGrp="1"/>
          </p:cNvSpPr>
          <p:nvPr>
            <p:ph type="dt" sz="half" idx="6"/>
          </p:nvPr>
        </p:nvSpPr>
        <p:spPr/>
        <p:txBody>
          <a:bodyPr lIns="0" tIns="0" rIns="0" bIns="0"/>
          <a:lstStyle>
            <a:lvl1pPr>
              <a:defRPr sz="600" b="0" i="0">
                <a:solidFill>
                  <a:schemeClr val="bg1"/>
                </a:solidFill>
                <a:latin typeface="SimSun"/>
                <a:cs typeface="SimSun"/>
              </a:defRPr>
            </a:lvl1pPr>
          </a:lstStyle>
          <a:p>
            <a:pPr marL="12700">
              <a:lnSpc>
                <a:spcPct val="100000"/>
              </a:lnSpc>
              <a:spcBef>
                <a:spcPts val="10"/>
              </a:spcBef>
            </a:pPr>
            <a:r>
              <a:rPr spc="35" dirty="0"/>
              <a:t>尚文轩 南开大学</a:t>
            </a:r>
          </a:p>
        </p:txBody>
      </p:sp>
      <p:sp>
        <p:nvSpPr>
          <p:cNvPr id="6" name="Holder 6"/>
          <p:cNvSpPr>
            <a:spLocks noGrp="1"/>
          </p:cNvSpPr>
          <p:nvPr>
            <p:ph type="sldNum" sz="quarter" idx="7"/>
          </p:nvPr>
        </p:nvSpPr>
        <p:spPr/>
        <p:txBody>
          <a:bodyPr lIns="0" tIns="0" rIns="0" bIns="0"/>
          <a:lstStyle>
            <a:lvl1pPr>
              <a:defRPr sz="600" b="0" i="0">
                <a:solidFill>
                  <a:schemeClr val="bg1"/>
                </a:solidFill>
                <a:latin typeface="Times New Roman"/>
                <a:cs typeface="Times New Roman"/>
              </a:defRPr>
            </a:lvl1pPr>
          </a:lstStyle>
          <a:p>
            <a:pPr marL="37465">
              <a:lnSpc>
                <a:spcPct val="100000"/>
              </a:lnSpc>
              <a:spcBef>
                <a:spcPts val="30"/>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100" b="0" i="0">
                <a:solidFill>
                  <a:schemeClr val="tx1"/>
                </a:solidFill>
                <a:latin typeface="SimSun"/>
                <a:cs typeface="SimSun"/>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00" b="0" i="0">
                <a:solidFill>
                  <a:schemeClr val="bg1"/>
                </a:solidFill>
                <a:latin typeface="SimSun"/>
                <a:cs typeface="SimSun"/>
              </a:defRPr>
            </a:lvl1pPr>
          </a:lstStyle>
          <a:p>
            <a:pPr marL="12700">
              <a:lnSpc>
                <a:spcPct val="100000"/>
              </a:lnSpc>
              <a:spcBef>
                <a:spcPts val="30"/>
              </a:spcBef>
            </a:pPr>
            <a:r>
              <a:rPr spc="-30" dirty="0">
                <a:latin typeface="Times New Roman"/>
                <a:cs typeface="Times New Roman"/>
              </a:rPr>
              <a:t>OT-</a:t>
            </a:r>
            <a:r>
              <a:rPr spc="-20" dirty="0"/>
              <a:t>协程技术调研</a:t>
            </a:r>
          </a:p>
        </p:txBody>
      </p:sp>
      <p:sp>
        <p:nvSpPr>
          <p:cNvPr id="6" name="Holder 6"/>
          <p:cNvSpPr>
            <a:spLocks noGrp="1"/>
          </p:cNvSpPr>
          <p:nvPr>
            <p:ph type="dt" sz="half" idx="6"/>
          </p:nvPr>
        </p:nvSpPr>
        <p:spPr/>
        <p:txBody>
          <a:bodyPr lIns="0" tIns="0" rIns="0" bIns="0"/>
          <a:lstStyle>
            <a:lvl1pPr>
              <a:defRPr sz="600" b="0" i="0">
                <a:solidFill>
                  <a:schemeClr val="bg1"/>
                </a:solidFill>
                <a:latin typeface="SimSun"/>
                <a:cs typeface="SimSun"/>
              </a:defRPr>
            </a:lvl1pPr>
          </a:lstStyle>
          <a:p>
            <a:pPr marL="12700">
              <a:lnSpc>
                <a:spcPct val="100000"/>
              </a:lnSpc>
              <a:spcBef>
                <a:spcPts val="10"/>
              </a:spcBef>
            </a:pPr>
            <a:r>
              <a:rPr spc="35" dirty="0"/>
              <a:t>尚文轩 南开大学</a:t>
            </a:r>
          </a:p>
        </p:txBody>
      </p:sp>
      <p:sp>
        <p:nvSpPr>
          <p:cNvPr id="7" name="Holder 7"/>
          <p:cNvSpPr>
            <a:spLocks noGrp="1"/>
          </p:cNvSpPr>
          <p:nvPr>
            <p:ph type="sldNum" sz="quarter" idx="7"/>
          </p:nvPr>
        </p:nvSpPr>
        <p:spPr/>
        <p:txBody>
          <a:bodyPr lIns="0" tIns="0" rIns="0" bIns="0"/>
          <a:lstStyle>
            <a:lvl1pPr>
              <a:defRPr sz="600" b="0" i="0">
                <a:solidFill>
                  <a:schemeClr val="bg1"/>
                </a:solidFill>
                <a:latin typeface="Times New Roman"/>
                <a:cs typeface="Times New Roman"/>
              </a:defRPr>
            </a:lvl1pPr>
          </a:lstStyle>
          <a:p>
            <a:pPr marL="37465">
              <a:lnSpc>
                <a:spcPct val="100000"/>
              </a:lnSpc>
              <a:spcBef>
                <a:spcPts val="30"/>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100" b="0" i="0">
                <a:solidFill>
                  <a:schemeClr val="tx1"/>
                </a:solidFill>
                <a:latin typeface="SimSun"/>
                <a:cs typeface="SimSun"/>
              </a:defRPr>
            </a:lvl1pPr>
          </a:lstStyle>
          <a:p>
            <a:endParaRPr/>
          </a:p>
        </p:txBody>
      </p:sp>
      <p:sp>
        <p:nvSpPr>
          <p:cNvPr id="3" name="Holder 3"/>
          <p:cNvSpPr>
            <a:spLocks noGrp="1"/>
          </p:cNvSpPr>
          <p:nvPr>
            <p:ph type="ftr" sz="quarter" idx="5"/>
          </p:nvPr>
        </p:nvSpPr>
        <p:spPr/>
        <p:txBody>
          <a:bodyPr lIns="0" tIns="0" rIns="0" bIns="0"/>
          <a:lstStyle>
            <a:lvl1pPr>
              <a:defRPr sz="600" b="0" i="0">
                <a:solidFill>
                  <a:schemeClr val="bg1"/>
                </a:solidFill>
                <a:latin typeface="SimSun"/>
                <a:cs typeface="SimSun"/>
              </a:defRPr>
            </a:lvl1pPr>
          </a:lstStyle>
          <a:p>
            <a:pPr marL="12700">
              <a:lnSpc>
                <a:spcPct val="100000"/>
              </a:lnSpc>
              <a:spcBef>
                <a:spcPts val="30"/>
              </a:spcBef>
            </a:pPr>
            <a:r>
              <a:rPr spc="-30" dirty="0">
                <a:latin typeface="Times New Roman"/>
                <a:cs typeface="Times New Roman"/>
              </a:rPr>
              <a:t>OT-</a:t>
            </a:r>
            <a:r>
              <a:rPr spc="-20" dirty="0"/>
              <a:t>协程技术调研</a:t>
            </a:r>
          </a:p>
        </p:txBody>
      </p:sp>
      <p:sp>
        <p:nvSpPr>
          <p:cNvPr id="4" name="Holder 4"/>
          <p:cNvSpPr>
            <a:spLocks noGrp="1"/>
          </p:cNvSpPr>
          <p:nvPr>
            <p:ph type="dt" sz="half" idx="6"/>
          </p:nvPr>
        </p:nvSpPr>
        <p:spPr/>
        <p:txBody>
          <a:bodyPr lIns="0" tIns="0" rIns="0" bIns="0"/>
          <a:lstStyle>
            <a:lvl1pPr>
              <a:defRPr sz="600" b="0" i="0">
                <a:solidFill>
                  <a:schemeClr val="bg1"/>
                </a:solidFill>
                <a:latin typeface="SimSun"/>
                <a:cs typeface="SimSun"/>
              </a:defRPr>
            </a:lvl1pPr>
          </a:lstStyle>
          <a:p>
            <a:pPr marL="12700">
              <a:lnSpc>
                <a:spcPct val="100000"/>
              </a:lnSpc>
              <a:spcBef>
                <a:spcPts val="10"/>
              </a:spcBef>
            </a:pPr>
            <a:r>
              <a:rPr spc="35" dirty="0"/>
              <a:t>尚文轩 南开大学</a:t>
            </a:r>
          </a:p>
        </p:txBody>
      </p:sp>
      <p:sp>
        <p:nvSpPr>
          <p:cNvPr id="5" name="Holder 5"/>
          <p:cNvSpPr>
            <a:spLocks noGrp="1"/>
          </p:cNvSpPr>
          <p:nvPr>
            <p:ph type="sldNum" sz="quarter" idx="7"/>
          </p:nvPr>
        </p:nvSpPr>
        <p:spPr/>
        <p:txBody>
          <a:bodyPr lIns="0" tIns="0" rIns="0" bIns="0"/>
          <a:lstStyle>
            <a:lvl1pPr>
              <a:defRPr sz="600" b="0" i="0">
                <a:solidFill>
                  <a:schemeClr val="bg1"/>
                </a:solidFill>
                <a:latin typeface="Times New Roman"/>
                <a:cs typeface="Times New Roman"/>
              </a:defRPr>
            </a:lvl1pPr>
          </a:lstStyle>
          <a:p>
            <a:pPr marL="37465">
              <a:lnSpc>
                <a:spcPct val="100000"/>
              </a:lnSpc>
              <a:spcBef>
                <a:spcPts val="30"/>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600" b="0" i="0">
                <a:solidFill>
                  <a:schemeClr val="bg1"/>
                </a:solidFill>
                <a:latin typeface="SimSun"/>
                <a:cs typeface="SimSun"/>
              </a:defRPr>
            </a:lvl1pPr>
          </a:lstStyle>
          <a:p>
            <a:pPr marL="12700">
              <a:lnSpc>
                <a:spcPct val="100000"/>
              </a:lnSpc>
              <a:spcBef>
                <a:spcPts val="30"/>
              </a:spcBef>
            </a:pPr>
            <a:r>
              <a:rPr spc="-30" dirty="0">
                <a:latin typeface="Times New Roman"/>
                <a:cs typeface="Times New Roman"/>
              </a:rPr>
              <a:t>OT-</a:t>
            </a:r>
            <a:r>
              <a:rPr spc="-20" dirty="0"/>
              <a:t>协程技术调研</a:t>
            </a:r>
          </a:p>
        </p:txBody>
      </p:sp>
      <p:sp>
        <p:nvSpPr>
          <p:cNvPr id="3" name="Holder 3"/>
          <p:cNvSpPr>
            <a:spLocks noGrp="1"/>
          </p:cNvSpPr>
          <p:nvPr>
            <p:ph type="dt" sz="half" idx="6"/>
          </p:nvPr>
        </p:nvSpPr>
        <p:spPr/>
        <p:txBody>
          <a:bodyPr lIns="0" tIns="0" rIns="0" bIns="0"/>
          <a:lstStyle>
            <a:lvl1pPr>
              <a:defRPr sz="600" b="0" i="0">
                <a:solidFill>
                  <a:schemeClr val="bg1"/>
                </a:solidFill>
                <a:latin typeface="SimSun"/>
                <a:cs typeface="SimSun"/>
              </a:defRPr>
            </a:lvl1pPr>
          </a:lstStyle>
          <a:p>
            <a:pPr marL="12700">
              <a:lnSpc>
                <a:spcPct val="100000"/>
              </a:lnSpc>
              <a:spcBef>
                <a:spcPts val="10"/>
              </a:spcBef>
            </a:pPr>
            <a:r>
              <a:rPr spc="35" dirty="0"/>
              <a:t>尚文轩 南开大学</a:t>
            </a:r>
          </a:p>
        </p:txBody>
      </p:sp>
      <p:sp>
        <p:nvSpPr>
          <p:cNvPr id="4" name="Holder 4"/>
          <p:cNvSpPr>
            <a:spLocks noGrp="1"/>
          </p:cNvSpPr>
          <p:nvPr>
            <p:ph type="sldNum" sz="quarter" idx="7"/>
          </p:nvPr>
        </p:nvSpPr>
        <p:spPr/>
        <p:txBody>
          <a:bodyPr lIns="0" tIns="0" rIns="0" bIns="0"/>
          <a:lstStyle>
            <a:lvl1pPr>
              <a:defRPr sz="600" b="0" i="0">
                <a:solidFill>
                  <a:schemeClr val="bg1"/>
                </a:solidFill>
                <a:latin typeface="Times New Roman"/>
                <a:cs typeface="Times New Roman"/>
              </a:defRPr>
            </a:lvl1pPr>
          </a:lstStyle>
          <a:p>
            <a:pPr marL="37465">
              <a:lnSpc>
                <a:spcPct val="100000"/>
              </a:lnSpc>
              <a:spcBef>
                <a:spcPts val="30"/>
              </a:spcBef>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05130" y="42594"/>
            <a:ext cx="2103755" cy="191770"/>
          </a:xfrm>
          <a:prstGeom prst="rect">
            <a:avLst/>
          </a:prstGeom>
        </p:spPr>
        <p:txBody>
          <a:bodyPr wrap="square" lIns="0" tIns="0" rIns="0" bIns="0">
            <a:spAutoFit/>
          </a:bodyPr>
          <a:lstStyle>
            <a:lvl1pPr>
              <a:defRPr sz="1100" b="0" i="0">
                <a:solidFill>
                  <a:schemeClr val="tx1"/>
                </a:solidFill>
                <a:latin typeface="SimSun"/>
                <a:cs typeface="SimSun"/>
              </a:defRPr>
            </a:lvl1pPr>
          </a:lstStyle>
          <a:p>
            <a:endParaRPr/>
          </a:p>
        </p:txBody>
      </p:sp>
      <p:sp>
        <p:nvSpPr>
          <p:cNvPr id="3" name="Holder 3"/>
          <p:cNvSpPr>
            <a:spLocks noGrp="1"/>
          </p:cNvSpPr>
          <p:nvPr>
            <p:ph type="body" idx="1"/>
          </p:nvPr>
        </p:nvSpPr>
        <p:spPr>
          <a:xfrm>
            <a:off x="2472601" y="903234"/>
            <a:ext cx="1936114" cy="1297939"/>
          </a:xfrm>
          <a:prstGeom prst="rect">
            <a:avLst/>
          </a:prstGeom>
        </p:spPr>
        <p:txBody>
          <a:bodyPr wrap="square" lIns="0" tIns="0" rIns="0" bIns="0">
            <a:spAutoFit/>
          </a:bodyPr>
          <a:lstStyle>
            <a:lvl1pPr>
              <a:defRPr sz="1200" b="0" i="0">
                <a:solidFill>
                  <a:schemeClr val="bg1"/>
                </a:solidFill>
                <a:latin typeface="SimSun"/>
                <a:cs typeface="SimSun"/>
              </a:defRPr>
            </a:lvl1pPr>
          </a:lstStyle>
          <a:p>
            <a:endParaRPr/>
          </a:p>
        </p:txBody>
      </p:sp>
      <p:sp>
        <p:nvSpPr>
          <p:cNvPr id="4" name="Holder 4"/>
          <p:cNvSpPr>
            <a:spLocks noGrp="1"/>
          </p:cNvSpPr>
          <p:nvPr>
            <p:ph type="ftr" sz="quarter" idx="5"/>
          </p:nvPr>
        </p:nvSpPr>
        <p:spPr>
          <a:xfrm>
            <a:off x="2500629" y="3328457"/>
            <a:ext cx="600710" cy="109854"/>
          </a:xfrm>
          <a:prstGeom prst="rect">
            <a:avLst/>
          </a:prstGeom>
        </p:spPr>
        <p:txBody>
          <a:bodyPr wrap="square" lIns="0" tIns="0" rIns="0" bIns="0">
            <a:spAutoFit/>
          </a:bodyPr>
          <a:lstStyle>
            <a:lvl1pPr>
              <a:defRPr sz="600" b="0" i="0">
                <a:solidFill>
                  <a:schemeClr val="bg1"/>
                </a:solidFill>
                <a:latin typeface="SimSun"/>
                <a:cs typeface="SimSun"/>
              </a:defRPr>
            </a:lvl1pPr>
          </a:lstStyle>
          <a:p>
            <a:pPr marL="12700">
              <a:lnSpc>
                <a:spcPct val="100000"/>
              </a:lnSpc>
              <a:spcBef>
                <a:spcPts val="30"/>
              </a:spcBef>
            </a:pPr>
            <a:r>
              <a:rPr spc="-30" dirty="0">
                <a:latin typeface="Times New Roman"/>
                <a:cs typeface="Times New Roman"/>
              </a:rPr>
              <a:t>OT-</a:t>
            </a:r>
            <a:r>
              <a:rPr spc="-20" dirty="0"/>
              <a:t>协程技术调研</a:t>
            </a:r>
          </a:p>
        </p:txBody>
      </p:sp>
      <p:sp>
        <p:nvSpPr>
          <p:cNvPr id="5" name="Holder 5"/>
          <p:cNvSpPr>
            <a:spLocks noGrp="1"/>
          </p:cNvSpPr>
          <p:nvPr>
            <p:ph type="dt" sz="half" idx="6"/>
          </p:nvPr>
        </p:nvSpPr>
        <p:spPr>
          <a:xfrm>
            <a:off x="401332" y="3330867"/>
            <a:ext cx="652144" cy="101600"/>
          </a:xfrm>
          <a:prstGeom prst="rect">
            <a:avLst/>
          </a:prstGeom>
        </p:spPr>
        <p:txBody>
          <a:bodyPr wrap="square" lIns="0" tIns="0" rIns="0" bIns="0">
            <a:spAutoFit/>
          </a:bodyPr>
          <a:lstStyle>
            <a:lvl1pPr>
              <a:defRPr sz="600" b="0" i="0">
                <a:solidFill>
                  <a:schemeClr val="bg1"/>
                </a:solidFill>
                <a:latin typeface="SimSun"/>
                <a:cs typeface="SimSun"/>
              </a:defRPr>
            </a:lvl1pPr>
          </a:lstStyle>
          <a:p>
            <a:pPr marL="12700">
              <a:lnSpc>
                <a:spcPct val="100000"/>
              </a:lnSpc>
              <a:spcBef>
                <a:spcPts val="10"/>
              </a:spcBef>
            </a:pPr>
            <a:r>
              <a:rPr spc="35" dirty="0"/>
              <a:t>尚文轩 南开大学</a:t>
            </a:r>
          </a:p>
        </p:txBody>
      </p:sp>
      <p:sp>
        <p:nvSpPr>
          <p:cNvPr id="6" name="Holder 6"/>
          <p:cNvSpPr>
            <a:spLocks noGrp="1"/>
          </p:cNvSpPr>
          <p:nvPr>
            <p:ph type="sldNum" sz="quarter" idx="7"/>
          </p:nvPr>
        </p:nvSpPr>
        <p:spPr>
          <a:xfrm>
            <a:off x="4297794" y="3326374"/>
            <a:ext cx="165100" cy="110489"/>
          </a:xfrm>
          <a:prstGeom prst="rect">
            <a:avLst/>
          </a:prstGeom>
        </p:spPr>
        <p:txBody>
          <a:bodyPr wrap="square" lIns="0" tIns="0" rIns="0" bIns="0">
            <a:spAutoFit/>
          </a:bodyPr>
          <a:lstStyle>
            <a:lvl1pPr>
              <a:defRPr sz="600" b="0" i="0">
                <a:solidFill>
                  <a:schemeClr val="bg1"/>
                </a:solidFill>
                <a:latin typeface="Times New Roman"/>
                <a:cs typeface="Times New Roman"/>
              </a:defRPr>
            </a:lvl1pPr>
          </a:lstStyle>
          <a:p>
            <a:pPr marL="37465">
              <a:lnSpc>
                <a:spcPct val="100000"/>
              </a:lnSpc>
              <a:spcBef>
                <a:spcPts val="30"/>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 y="0"/>
            <a:ext cx="4608195" cy="1784985"/>
          </a:xfrm>
          <a:custGeom>
            <a:avLst/>
            <a:gdLst/>
            <a:ahLst/>
            <a:cxnLst/>
            <a:rect l="l" t="t" r="r" b="b"/>
            <a:pathLst>
              <a:path w="4608195" h="1784985">
                <a:moveTo>
                  <a:pt x="10" y="1784538"/>
                </a:moveTo>
                <a:lnTo>
                  <a:pt x="4607950" y="1784538"/>
                </a:lnTo>
                <a:lnTo>
                  <a:pt x="4608059" y="0"/>
                </a:lnTo>
                <a:lnTo>
                  <a:pt x="0" y="0"/>
                </a:lnTo>
                <a:lnTo>
                  <a:pt x="10" y="1784538"/>
                </a:lnTo>
                <a:close/>
              </a:path>
            </a:pathLst>
          </a:custGeom>
          <a:solidFill>
            <a:srgbClr val="1B4681"/>
          </a:solidFill>
        </p:spPr>
        <p:txBody>
          <a:bodyPr wrap="square" lIns="0" tIns="0" rIns="0" bIns="0" rtlCol="0"/>
          <a:lstStyle/>
          <a:p>
            <a:endParaRPr/>
          </a:p>
        </p:txBody>
      </p:sp>
      <p:sp>
        <p:nvSpPr>
          <p:cNvPr id="3" name="object 3" descr="$PPTXTitle"/>
          <p:cNvSpPr txBox="1">
            <a:spLocks noGrp="1"/>
          </p:cNvSpPr>
          <p:nvPr>
            <p:ph type="ctrTitle"/>
          </p:nvPr>
        </p:nvSpPr>
        <p:spPr>
          <a:prstGeom prst="rect">
            <a:avLst/>
          </a:prstGeom>
        </p:spPr>
        <p:txBody>
          <a:bodyPr vert="horz" wrap="square" lIns="0" tIns="3810" rIns="0" bIns="0" rtlCol="0">
            <a:spAutoFit/>
          </a:bodyPr>
          <a:lstStyle/>
          <a:p>
            <a:pPr marL="12700" marR="5080" algn="ctr">
              <a:lnSpc>
                <a:spcPct val="103400"/>
              </a:lnSpc>
              <a:spcBef>
                <a:spcPts val="30"/>
              </a:spcBef>
            </a:pPr>
            <a:r>
              <a:rPr sz="2650" spc="95" dirty="0">
                <a:solidFill>
                  <a:srgbClr val="FFFFFF"/>
                </a:solidFill>
              </a:rPr>
              <a:t>从线程到协程：高并发</a:t>
            </a:r>
            <a:r>
              <a:rPr sz="2650" spc="-50" dirty="0">
                <a:solidFill>
                  <a:srgbClr val="FFFFFF"/>
                </a:solidFill>
              </a:rPr>
              <a:t> </a:t>
            </a:r>
            <a:r>
              <a:rPr sz="2650" b="1" dirty="0">
                <a:solidFill>
                  <a:srgbClr val="FFFFFF"/>
                </a:solidFill>
                <a:latin typeface="Times New Roman"/>
                <a:cs typeface="Times New Roman"/>
              </a:rPr>
              <a:t>I/O </a:t>
            </a:r>
            <a:r>
              <a:rPr sz="2650" spc="75" dirty="0">
                <a:solidFill>
                  <a:srgbClr val="FFFFFF"/>
                </a:solidFill>
              </a:rPr>
              <a:t>场景下轻量级并发机</a:t>
            </a:r>
            <a:r>
              <a:rPr sz="2650" spc="65" dirty="0">
                <a:solidFill>
                  <a:srgbClr val="FFFFFF"/>
                </a:solidFill>
              </a:rPr>
              <a:t>制的底层实现与实验分析</a:t>
            </a:r>
            <a:endParaRPr sz="2650">
              <a:latin typeface="Times New Roman"/>
              <a:cs typeface="Times New Roman"/>
            </a:endParaRPr>
          </a:p>
        </p:txBody>
      </p:sp>
      <p:sp>
        <p:nvSpPr>
          <p:cNvPr id="4" name="object 4"/>
          <p:cNvSpPr txBox="1">
            <a:spLocks noGrp="1"/>
          </p:cNvSpPr>
          <p:nvPr>
            <p:ph type="subTitle" idx="4"/>
          </p:nvPr>
        </p:nvSpPr>
        <p:spPr>
          <a:prstGeom prst="rect">
            <a:avLst/>
          </a:prstGeom>
        </p:spPr>
        <p:txBody>
          <a:bodyPr vert="horz" wrap="square" lIns="0" tIns="17145" rIns="0" bIns="0" rtlCol="0">
            <a:spAutoFit/>
          </a:bodyPr>
          <a:lstStyle/>
          <a:p>
            <a:pPr algn="ctr">
              <a:lnSpc>
                <a:spcPct val="100000"/>
              </a:lnSpc>
              <a:spcBef>
                <a:spcPts val="135"/>
              </a:spcBef>
            </a:pPr>
            <a:r>
              <a:rPr sz="1400" spc="-20" dirty="0">
                <a:solidFill>
                  <a:srgbClr val="000000"/>
                </a:solidFill>
              </a:rPr>
              <a:t>尚文轩</a:t>
            </a:r>
            <a:endParaRPr sz="1400"/>
          </a:p>
          <a:p>
            <a:pPr algn="ctr">
              <a:lnSpc>
                <a:spcPct val="100000"/>
              </a:lnSpc>
              <a:spcBef>
                <a:spcPts val="985"/>
              </a:spcBef>
            </a:pPr>
            <a:r>
              <a:rPr spc="10" dirty="0">
                <a:solidFill>
                  <a:srgbClr val="000000"/>
                </a:solidFill>
              </a:rPr>
              <a:t>南开大学  计算机科学与技术  </a:t>
            </a:r>
            <a:r>
              <a:rPr spc="-10" dirty="0">
                <a:solidFill>
                  <a:srgbClr val="000000"/>
                </a:solidFill>
                <a:latin typeface="Times New Roman"/>
                <a:cs typeface="Times New Roman"/>
              </a:rPr>
              <a:t>2412456</a:t>
            </a:r>
          </a:p>
          <a:p>
            <a:pPr algn="ctr">
              <a:lnSpc>
                <a:spcPct val="100000"/>
              </a:lnSpc>
              <a:spcBef>
                <a:spcPts val="1105"/>
              </a:spcBef>
            </a:pPr>
            <a:r>
              <a:rPr spc="-25" dirty="0">
                <a:solidFill>
                  <a:srgbClr val="000000"/>
                </a:solidFill>
              </a:rPr>
              <a:t>并行程序设计课程报告</a:t>
            </a:r>
          </a:p>
        </p:txBody>
      </p:sp>
      <p:grpSp>
        <p:nvGrpSpPr>
          <p:cNvPr id="5" name="object 5"/>
          <p:cNvGrpSpPr/>
          <p:nvPr/>
        </p:nvGrpSpPr>
        <p:grpSpPr>
          <a:xfrm>
            <a:off x="0" y="3309520"/>
            <a:ext cx="4608195" cy="146685"/>
            <a:chOff x="0" y="3309520"/>
            <a:chExt cx="4608195" cy="146685"/>
          </a:xfrm>
        </p:grpSpPr>
        <p:sp>
          <p:nvSpPr>
            <p:cNvPr id="6" name="object 6"/>
            <p:cNvSpPr/>
            <p:nvPr/>
          </p:nvSpPr>
          <p:spPr>
            <a:xfrm>
              <a:off x="0" y="3309520"/>
              <a:ext cx="1464945" cy="146685"/>
            </a:xfrm>
            <a:custGeom>
              <a:avLst/>
              <a:gdLst/>
              <a:ahLst/>
              <a:cxnLst/>
              <a:rect l="l" t="t" r="r" b="b"/>
              <a:pathLst>
                <a:path w="1464945" h="146685">
                  <a:moveTo>
                    <a:pt x="1464490" y="146530"/>
                  </a:moveTo>
                  <a:lnTo>
                    <a:pt x="1464490" y="0"/>
                  </a:lnTo>
                  <a:lnTo>
                    <a:pt x="0" y="0"/>
                  </a:lnTo>
                  <a:lnTo>
                    <a:pt x="0" y="146530"/>
                  </a:lnTo>
                  <a:lnTo>
                    <a:pt x="1464490" y="146530"/>
                  </a:lnTo>
                  <a:close/>
                </a:path>
              </a:pathLst>
            </a:custGeom>
            <a:solidFill>
              <a:srgbClr val="4681B4"/>
            </a:solidFill>
          </p:spPr>
          <p:txBody>
            <a:bodyPr wrap="square" lIns="0" tIns="0" rIns="0" bIns="0" rtlCol="0"/>
            <a:lstStyle/>
            <a:p>
              <a:endParaRPr/>
            </a:p>
          </p:txBody>
        </p:sp>
        <p:sp>
          <p:nvSpPr>
            <p:cNvPr id="7" name="object 7"/>
            <p:cNvSpPr/>
            <p:nvPr/>
          </p:nvSpPr>
          <p:spPr>
            <a:xfrm>
              <a:off x="1464490" y="3309520"/>
              <a:ext cx="2672715" cy="146685"/>
            </a:xfrm>
            <a:custGeom>
              <a:avLst/>
              <a:gdLst/>
              <a:ahLst/>
              <a:cxnLst/>
              <a:rect l="l" t="t" r="r" b="b"/>
              <a:pathLst>
                <a:path w="2672715" h="146685">
                  <a:moveTo>
                    <a:pt x="2672682" y="0"/>
                  </a:moveTo>
                  <a:lnTo>
                    <a:pt x="0" y="0"/>
                  </a:lnTo>
                  <a:lnTo>
                    <a:pt x="0" y="146530"/>
                  </a:lnTo>
                  <a:lnTo>
                    <a:pt x="2672682" y="146530"/>
                  </a:lnTo>
                  <a:lnTo>
                    <a:pt x="2672682" y="0"/>
                  </a:lnTo>
                  <a:close/>
                </a:path>
              </a:pathLst>
            </a:custGeom>
            <a:solidFill>
              <a:srgbClr val="1B4681"/>
            </a:solidFill>
          </p:spPr>
          <p:txBody>
            <a:bodyPr wrap="square" lIns="0" tIns="0" rIns="0" bIns="0" rtlCol="0"/>
            <a:lstStyle/>
            <a:p>
              <a:endParaRPr/>
            </a:p>
          </p:txBody>
        </p:sp>
        <p:sp>
          <p:nvSpPr>
            <p:cNvPr id="8" name="object 8"/>
            <p:cNvSpPr/>
            <p:nvPr/>
          </p:nvSpPr>
          <p:spPr>
            <a:xfrm>
              <a:off x="4137103" y="3309520"/>
              <a:ext cx="471170" cy="146685"/>
            </a:xfrm>
            <a:custGeom>
              <a:avLst/>
              <a:gdLst/>
              <a:ahLst/>
              <a:cxnLst/>
              <a:rect l="l" t="t" r="r" b="b"/>
              <a:pathLst>
                <a:path w="471170" h="146685">
                  <a:moveTo>
                    <a:pt x="470836" y="0"/>
                  </a:moveTo>
                  <a:lnTo>
                    <a:pt x="0" y="0"/>
                  </a:lnTo>
                  <a:lnTo>
                    <a:pt x="0" y="146530"/>
                  </a:lnTo>
                  <a:lnTo>
                    <a:pt x="470836" y="146530"/>
                  </a:lnTo>
                  <a:lnTo>
                    <a:pt x="470836" y="0"/>
                  </a:lnTo>
                  <a:close/>
                </a:path>
              </a:pathLst>
            </a:custGeom>
            <a:solidFill>
              <a:srgbClr val="0A2750"/>
            </a:solidFill>
          </p:spPr>
          <p:txBody>
            <a:bodyPr wrap="square" lIns="0" tIns="0" rIns="0" bIns="0" rtlCol="0"/>
            <a:lstStyle/>
            <a:p>
              <a:endParaRPr/>
            </a:p>
          </p:txBody>
        </p:sp>
      </p:grpSp>
      <p:sp>
        <p:nvSpPr>
          <p:cNvPr id="9" name="object 9"/>
          <p:cNvSpPr txBox="1">
            <a:spLocks noGrp="1"/>
          </p:cNvSpPr>
          <p:nvPr>
            <p:ph type="dt" sz="half" idx="6"/>
          </p:nvPr>
        </p:nvSpPr>
        <p:spPr>
          <a:prstGeom prst="rect">
            <a:avLst/>
          </a:prstGeom>
        </p:spPr>
        <p:txBody>
          <a:bodyPr vert="horz" wrap="square" lIns="0" tIns="1270" rIns="0" bIns="0" rtlCol="0">
            <a:spAutoFit/>
          </a:bodyPr>
          <a:lstStyle/>
          <a:p>
            <a:pPr marL="12700">
              <a:lnSpc>
                <a:spcPct val="100000"/>
              </a:lnSpc>
              <a:spcBef>
                <a:spcPts val="10"/>
              </a:spcBef>
            </a:pPr>
            <a:r>
              <a:rPr spc="35" dirty="0"/>
              <a:t>尚文轩 南开大学</a:t>
            </a:r>
          </a:p>
        </p:txBody>
      </p:sp>
      <p:sp>
        <p:nvSpPr>
          <p:cNvPr id="10" name="object 10"/>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spc="-30" dirty="0">
                <a:latin typeface="Times New Roman"/>
                <a:cs typeface="Times New Roman"/>
              </a:rPr>
              <a:t>OT-</a:t>
            </a:r>
            <a:r>
              <a:rPr spc="-20" dirty="0"/>
              <a:t>协程技术调研</a:t>
            </a:r>
          </a:p>
        </p:txBody>
      </p:sp>
      <p:sp>
        <p:nvSpPr>
          <p:cNvPr id="11" name="object 11"/>
          <p:cNvSpPr txBox="1">
            <a:spLocks noGrp="1"/>
          </p:cNvSpPr>
          <p:nvPr>
            <p:ph type="sldNum" sz="quarter" idx="7"/>
          </p:nvPr>
        </p:nvSpPr>
        <p:spPr>
          <a:prstGeom prst="rect">
            <a:avLst/>
          </a:prstGeom>
        </p:spPr>
        <p:txBody>
          <a:bodyPr vert="horz" wrap="square" lIns="0" tIns="3810" rIns="0" bIns="0" rtlCol="0">
            <a:spAutoFit/>
          </a:bodyPr>
          <a:lstStyle/>
          <a:p>
            <a:pPr marL="37465">
              <a:lnSpc>
                <a:spcPct val="100000"/>
              </a:lnSpc>
              <a:spcBef>
                <a:spcPts val="30"/>
              </a:spcBef>
            </a:pPr>
            <a:fld id="{81D60167-4931-47E6-BA6A-407CBD079E47}" type="slidenum">
              <a:rPr spc="-25" dirty="0"/>
              <a:t>1</a:t>
            </a:fld>
            <a:endParaRPr spc="-25" dirty="0"/>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61339CB1-C911-A918-3A69-8A3FBF103193}"/>
              </a:ext>
            </a:extLst>
          </p:cNvPr>
          <p:cNvPicPr>
            <a:picLocks noChangeAspect="1"/>
          </p:cNvPicPr>
          <p:nvPr/>
        </p:nvPicPr>
        <p:blipFill>
          <a:blip r:embed="rId2"/>
          <a:stretch>
            <a:fillRect/>
          </a:stretch>
        </p:blipFill>
        <p:spPr>
          <a:xfrm>
            <a:off x="0" y="1"/>
            <a:ext cx="4610100" cy="250672"/>
          </a:xfrm>
          <a:prstGeom prst="rect">
            <a:avLst/>
          </a:prstGeom>
        </p:spPr>
      </p:pic>
      <p:sp>
        <p:nvSpPr>
          <p:cNvPr id="2" name="object 2" descr="$PPTXTitle"/>
          <p:cNvSpPr txBox="1">
            <a:spLocks noGrp="1"/>
          </p:cNvSpPr>
          <p:nvPr>
            <p:ph type="title"/>
          </p:nvPr>
        </p:nvSpPr>
        <p:spPr>
          <a:xfrm>
            <a:off x="105130" y="42048"/>
            <a:ext cx="579755" cy="180819"/>
          </a:xfrm>
          <a:prstGeom prst="rect">
            <a:avLst/>
          </a:prstGeom>
        </p:spPr>
        <p:txBody>
          <a:bodyPr vert="horz" wrap="square" lIns="0" tIns="11430" rIns="0" bIns="0" rtlCol="0">
            <a:spAutoFit/>
          </a:bodyPr>
          <a:lstStyle/>
          <a:p>
            <a:pPr marL="12700">
              <a:lnSpc>
                <a:spcPct val="100000"/>
              </a:lnSpc>
              <a:spcBef>
                <a:spcPts val="90"/>
              </a:spcBef>
            </a:pPr>
            <a:r>
              <a:rPr spc="-30" dirty="0">
                <a:solidFill>
                  <a:schemeClr val="bg1"/>
                </a:solidFill>
              </a:rPr>
              <a:t>报告结构</a:t>
            </a:r>
          </a:p>
        </p:txBody>
      </p:sp>
      <p:sp>
        <p:nvSpPr>
          <p:cNvPr id="3" name="object 3"/>
          <p:cNvSpPr/>
          <p:nvPr/>
        </p:nvSpPr>
        <p:spPr>
          <a:xfrm>
            <a:off x="0" y="252052"/>
            <a:ext cx="4608195" cy="0"/>
          </a:xfrm>
          <a:custGeom>
            <a:avLst/>
            <a:gdLst/>
            <a:ahLst/>
            <a:cxnLst/>
            <a:rect l="l" t="t" r="r" b="b"/>
            <a:pathLst>
              <a:path w="4608195">
                <a:moveTo>
                  <a:pt x="0" y="0"/>
                </a:moveTo>
                <a:lnTo>
                  <a:pt x="4608060" y="0"/>
                </a:lnTo>
              </a:path>
            </a:pathLst>
          </a:custGeom>
          <a:ln w="12652">
            <a:solidFill>
              <a:srgbClr val="1B4681"/>
            </a:solidFill>
          </a:ln>
        </p:spPr>
        <p:txBody>
          <a:bodyPr wrap="square" lIns="0" tIns="0" rIns="0" bIns="0" rtlCol="0"/>
          <a:lstStyle/>
          <a:p>
            <a:endParaRPr/>
          </a:p>
        </p:txBody>
      </p:sp>
      <p:sp>
        <p:nvSpPr>
          <p:cNvPr id="4" name="object 4"/>
          <p:cNvSpPr txBox="1"/>
          <p:nvPr/>
        </p:nvSpPr>
        <p:spPr>
          <a:xfrm>
            <a:off x="451205" y="1015527"/>
            <a:ext cx="3545204" cy="1075690"/>
          </a:xfrm>
          <a:prstGeom prst="rect">
            <a:avLst/>
          </a:prstGeom>
        </p:spPr>
        <p:txBody>
          <a:bodyPr vert="horz" wrap="square" lIns="0" tIns="55244" rIns="0" bIns="0" rtlCol="0">
            <a:spAutoFit/>
          </a:bodyPr>
          <a:lstStyle/>
          <a:p>
            <a:pPr marL="185420" indent="-172720">
              <a:lnSpc>
                <a:spcPct val="100000"/>
              </a:lnSpc>
              <a:spcBef>
                <a:spcPts val="434"/>
              </a:spcBef>
              <a:buClr>
                <a:srgbClr val="092850"/>
              </a:buClr>
              <a:buFont typeface="Times New Roman"/>
              <a:buAutoNum type="arabicPeriod"/>
              <a:tabLst>
                <a:tab pos="185420" algn="l"/>
              </a:tabLst>
            </a:pPr>
            <a:r>
              <a:rPr sz="1100" spc="-25" dirty="0">
                <a:latin typeface="SimSun"/>
                <a:cs typeface="SimSun"/>
              </a:rPr>
              <a:t>为什么并发模型会演进到协程</a:t>
            </a:r>
            <a:endParaRPr sz="1100" dirty="0">
              <a:latin typeface="SimSun"/>
              <a:cs typeface="SimSun"/>
            </a:endParaRPr>
          </a:p>
          <a:p>
            <a:pPr marL="185420" indent="-172720">
              <a:lnSpc>
                <a:spcPct val="100000"/>
              </a:lnSpc>
              <a:spcBef>
                <a:spcPts val="334"/>
              </a:spcBef>
              <a:buClr>
                <a:srgbClr val="092850"/>
              </a:buClr>
              <a:buFont typeface="Times New Roman"/>
              <a:buAutoNum type="arabicPeriod"/>
              <a:tabLst>
                <a:tab pos="185420" algn="l"/>
              </a:tabLst>
            </a:pPr>
            <a:r>
              <a:rPr sz="1100" spc="-25" dirty="0">
                <a:latin typeface="SimSun"/>
                <a:cs typeface="SimSun"/>
              </a:rPr>
              <a:t>协程的核心机制：挂起、恢复、调度与三层协同</a:t>
            </a:r>
            <a:endParaRPr sz="1100" dirty="0">
              <a:latin typeface="SimSun"/>
              <a:cs typeface="SimSun"/>
            </a:endParaRPr>
          </a:p>
          <a:p>
            <a:pPr marL="185420" indent="-172720">
              <a:lnSpc>
                <a:spcPct val="100000"/>
              </a:lnSpc>
              <a:spcBef>
                <a:spcPts val="330"/>
              </a:spcBef>
              <a:buClr>
                <a:srgbClr val="092850"/>
              </a:buClr>
              <a:buAutoNum type="arabicPeriod"/>
              <a:tabLst>
                <a:tab pos="185420" algn="l"/>
              </a:tabLst>
            </a:pPr>
            <a:r>
              <a:rPr sz="1100" dirty="0">
                <a:latin typeface="Times New Roman"/>
                <a:cs typeface="Times New Roman"/>
              </a:rPr>
              <a:t>C++20</a:t>
            </a:r>
            <a:r>
              <a:rPr sz="1100" spc="-15" dirty="0">
                <a:latin typeface="Times New Roman"/>
                <a:cs typeface="Times New Roman"/>
              </a:rPr>
              <a:t> / </a:t>
            </a:r>
            <a:r>
              <a:rPr sz="1100" dirty="0">
                <a:latin typeface="Times New Roman"/>
                <a:cs typeface="Times New Roman"/>
              </a:rPr>
              <a:t>Go</a:t>
            </a:r>
            <a:r>
              <a:rPr sz="1100" spc="-15" dirty="0">
                <a:latin typeface="Times New Roman"/>
                <a:cs typeface="Times New Roman"/>
              </a:rPr>
              <a:t> / </a:t>
            </a:r>
            <a:r>
              <a:rPr sz="1100" dirty="0">
                <a:latin typeface="Times New Roman"/>
                <a:cs typeface="Times New Roman"/>
              </a:rPr>
              <a:t>Python</a:t>
            </a:r>
            <a:r>
              <a:rPr sz="1100" spc="-15" dirty="0">
                <a:latin typeface="Times New Roman"/>
                <a:cs typeface="Times New Roman"/>
              </a:rPr>
              <a:t> / </a:t>
            </a:r>
            <a:r>
              <a:rPr sz="1100" dirty="0">
                <a:latin typeface="Times New Roman"/>
                <a:cs typeface="Times New Roman"/>
              </a:rPr>
              <a:t>C#</a:t>
            </a:r>
            <a:r>
              <a:rPr sz="1100" spc="-15" dirty="0">
                <a:latin typeface="Times New Roman"/>
                <a:cs typeface="Times New Roman"/>
              </a:rPr>
              <a:t> / </a:t>
            </a:r>
            <a:r>
              <a:rPr sz="1100" dirty="0">
                <a:latin typeface="Times New Roman"/>
                <a:cs typeface="Times New Roman"/>
              </a:rPr>
              <a:t>Java</a:t>
            </a:r>
            <a:r>
              <a:rPr sz="1100" spc="-15" dirty="0">
                <a:latin typeface="Times New Roman"/>
                <a:cs typeface="Times New Roman"/>
              </a:rPr>
              <a:t> </a:t>
            </a:r>
            <a:r>
              <a:rPr sz="1100" spc="-25" dirty="0">
                <a:latin typeface="SimSun"/>
                <a:cs typeface="SimSun"/>
              </a:rPr>
              <a:t>的支持方式对比</a:t>
            </a:r>
            <a:endParaRPr sz="1100" dirty="0">
              <a:latin typeface="SimSun"/>
              <a:cs typeface="SimSun"/>
            </a:endParaRPr>
          </a:p>
          <a:p>
            <a:pPr marL="185420" indent="-172720">
              <a:lnSpc>
                <a:spcPct val="100000"/>
              </a:lnSpc>
              <a:spcBef>
                <a:spcPts val="335"/>
              </a:spcBef>
              <a:buClr>
                <a:srgbClr val="092850"/>
              </a:buClr>
              <a:buFont typeface="Times New Roman"/>
              <a:buAutoNum type="arabicPeriod"/>
              <a:tabLst>
                <a:tab pos="185420" algn="l"/>
              </a:tabLst>
            </a:pPr>
            <a:r>
              <a:rPr sz="1100" dirty="0">
                <a:latin typeface="SimSun"/>
                <a:cs typeface="SimSun"/>
              </a:rPr>
              <a:t>五组实验：基础机制验证</a:t>
            </a:r>
            <a:r>
              <a:rPr sz="1100" spc="15" dirty="0">
                <a:latin typeface="Times New Roman"/>
                <a:cs typeface="Times New Roman"/>
              </a:rPr>
              <a:t>+ </a:t>
            </a:r>
            <a:r>
              <a:rPr sz="1100" spc="35" dirty="0">
                <a:latin typeface="SimSun"/>
                <a:cs typeface="SimSun"/>
              </a:rPr>
              <a:t>高并发扩展</a:t>
            </a:r>
            <a:r>
              <a:rPr sz="1100" spc="15" dirty="0">
                <a:latin typeface="Times New Roman"/>
                <a:cs typeface="Times New Roman"/>
              </a:rPr>
              <a:t>+ </a:t>
            </a:r>
            <a:r>
              <a:rPr sz="1100" dirty="0">
                <a:latin typeface="Times New Roman"/>
                <a:cs typeface="Times New Roman"/>
              </a:rPr>
              <a:t>Java</a:t>
            </a:r>
            <a:r>
              <a:rPr sz="1100" spc="35" dirty="0">
                <a:latin typeface="Times New Roman"/>
                <a:cs typeface="Times New Roman"/>
              </a:rPr>
              <a:t> </a:t>
            </a:r>
            <a:r>
              <a:rPr sz="1100" spc="-30" dirty="0">
                <a:latin typeface="SimSun"/>
                <a:cs typeface="SimSun"/>
              </a:rPr>
              <a:t>虚拟线程</a:t>
            </a:r>
            <a:endParaRPr sz="1100" dirty="0">
              <a:latin typeface="SimSun"/>
              <a:cs typeface="SimSun"/>
            </a:endParaRPr>
          </a:p>
          <a:p>
            <a:pPr marL="185420" indent="-172720">
              <a:lnSpc>
                <a:spcPct val="100000"/>
              </a:lnSpc>
              <a:spcBef>
                <a:spcPts val="335"/>
              </a:spcBef>
              <a:buClr>
                <a:srgbClr val="092850"/>
              </a:buClr>
              <a:buFont typeface="Times New Roman"/>
              <a:buAutoNum type="arabicPeriod"/>
              <a:tabLst>
                <a:tab pos="185420" algn="l"/>
              </a:tabLst>
            </a:pPr>
            <a:r>
              <a:rPr sz="1100" spc="-25" dirty="0">
                <a:latin typeface="SimSun"/>
                <a:cs typeface="SimSun"/>
              </a:rPr>
              <a:t>结论：何时用协程，何时不要用协程</a:t>
            </a:r>
            <a:endParaRPr sz="1100" dirty="0">
              <a:latin typeface="SimSun"/>
              <a:cs typeface="SimSun"/>
            </a:endParaRPr>
          </a:p>
        </p:txBody>
      </p:sp>
      <p:grpSp>
        <p:nvGrpSpPr>
          <p:cNvPr id="5" name="object 5"/>
          <p:cNvGrpSpPr/>
          <p:nvPr/>
        </p:nvGrpSpPr>
        <p:grpSpPr>
          <a:xfrm>
            <a:off x="0" y="3309520"/>
            <a:ext cx="4608195" cy="146685"/>
            <a:chOff x="0" y="3309520"/>
            <a:chExt cx="4608195" cy="146685"/>
          </a:xfrm>
        </p:grpSpPr>
        <p:sp>
          <p:nvSpPr>
            <p:cNvPr id="6" name="object 6"/>
            <p:cNvSpPr/>
            <p:nvPr/>
          </p:nvSpPr>
          <p:spPr>
            <a:xfrm>
              <a:off x="0" y="3309520"/>
              <a:ext cx="1464945" cy="146685"/>
            </a:xfrm>
            <a:custGeom>
              <a:avLst/>
              <a:gdLst/>
              <a:ahLst/>
              <a:cxnLst/>
              <a:rect l="l" t="t" r="r" b="b"/>
              <a:pathLst>
                <a:path w="1464945" h="146685">
                  <a:moveTo>
                    <a:pt x="1464490" y="146530"/>
                  </a:moveTo>
                  <a:lnTo>
                    <a:pt x="1464490" y="0"/>
                  </a:lnTo>
                  <a:lnTo>
                    <a:pt x="0" y="0"/>
                  </a:lnTo>
                  <a:lnTo>
                    <a:pt x="0" y="146530"/>
                  </a:lnTo>
                  <a:lnTo>
                    <a:pt x="1464490" y="146530"/>
                  </a:lnTo>
                  <a:close/>
                </a:path>
              </a:pathLst>
            </a:custGeom>
            <a:solidFill>
              <a:srgbClr val="4681B4"/>
            </a:solidFill>
          </p:spPr>
          <p:txBody>
            <a:bodyPr wrap="square" lIns="0" tIns="0" rIns="0" bIns="0" rtlCol="0"/>
            <a:lstStyle/>
            <a:p>
              <a:endParaRPr/>
            </a:p>
          </p:txBody>
        </p:sp>
        <p:sp>
          <p:nvSpPr>
            <p:cNvPr id="7" name="object 7"/>
            <p:cNvSpPr/>
            <p:nvPr/>
          </p:nvSpPr>
          <p:spPr>
            <a:xfrm>
              <a:off x="1464490" y="3309520"/>
              <a:ext cx="2672715" cy="146685"/>
            </a:xfrm>
            <a:custGeom>
              <a:avLst/>
              <a:gdLst/>
              <a:ahLst/>
              <a:cxnLst/>
              <a:rect l="l" t="t" r="r" b="b"/>
              <a:pathLst>
                <a:path w="2672715" h="146685">
                  <a:moveTo>
                    <a:pt x="2672682" y="0"/>
                  </a:moveTo>
                  <a:lnTo>
                    <a:pt x="0" y="0"/>
                  </a:lnTo>
                  <a:lnTo>
                    <a:pt x="0" y="146530"/>
                  </a:lnTo>
                  <a:lnTo>
                    <a:pt x="2672682" y="146530"/>
                  </a:lnTo>
                  <a:lnTo>
                    <a:pt x="2672682" y="0"/>
                  </a:lnTo>
                  <a:close/>
                </a:path>
              </a:pathLst>
            </a:custGeom>
            <a:solidFill>
              <a:srgbClr val="1B4681"/>
            </a:solidFill>
          </p:spPr>
          <p:txBody>
            <a:bodyPr wrap="square" lIns="0" tIns="0" rIns="0" bIns="0" rtlCol="0"/>
            <a:lstStyle/>
            <a:p>
              <a:endParaRPr/>
            </a:p>
          </p:txBody>
        </p:sp>
        <p:sp>
          <p:nvSpPr>
            <p:cNvPr id="8" name="object 8"/>
            <p:cNvSpPr/>
            <p:nvPr/>
          </p:nvSpPr>
          <p:spPr>
            <a:xfrm>
              <a:off x="4137103" y="3309520"/>
              <a:ext cx="471170" cy="146685"/>
            </a:xfrm>
            <a:custGeom>
              <a:avLst/>
              <a:gdLst/>
              <a:ahLst/>
              <a:cxnLst/>
              <a:rect l="l" t="t" r="r" b="b"/>
              <a:pathLst>
                <a:path w="471170" h="146685">
                  <a:moveTo>
                    <a:pt x="470836" y="0"/>
                  </a:moveTo>
                  <a:lnTo>
                    <a:pt x="0" y="0"/>
                  </a:lnTo>
                  <a:lnTo>
                    <a:pt x="0" y="146530"/>
                  </a:lnTo>
                  <a:lnTo>
                    <a:pt x="470836" y="146530"/>
                  </a:lnTo>
                  <a:lnTo>
                    <a:pt x="470836" y="0"/>
                  </a:lnTo>
                  <a:close/>
                </a:path>
              </a:pathLst>
            </a:custGeom>
            <a:solidFill>
              <a:srgbClr val="0A2750"/>
            </a:solidFill>
          </p:spPr>
          <p:txBody>
            <a:bodyPr wrap="square" lIns="0" tIns="0" rIns="0" bIns="0" rtlCol="0"/>
            <a:lstStyle/>
            <a:p>
              <a:endParaRPr/>
            </a:p>
          </p:txBody>
        </p:sp>
      </p:grpSp>
      <p:sp>
        <p:nvSpPr>
          <p:cNvPr id="9" name="object 9"/>
          <p:cNvSpPr txBox="1">
            <a:spLocks noGrp="1"/>
          </p:cNvSpPr>
          <p:nvPr>
            <p:ph type="dt" sz="half" idx="6"/>
          </p:nvPr>
        </p:nvSpPr>
        <p:spPr>
          <a:prstGeom prst="rect">
            <a:avLst/>
          </a:prstGeom>
        </p:spPr>
        <p:txBody>
          <a:bodyPr vert="horz" wrap="square" lIns="0" tIns="1270" rIns="0" bIns="0" rtlCol="0">
            <a:spAutoFit/>
          </a:bodyPr>
          <a:lstStyle/>
          <a:p>
            <a:pPr marL="12700">
              <a:lnSpc>
                <a:spcPct val="100000"/>
              </a:lnSpc>
              <a:spcBef>
                <a:spcPts val="10"/>
              </a:spcBef>
            </a:pPr>
            <a:r>
              <a:rPr spc="35" dirty="0"/>
              <a:t>尚文轩 南开大学</a:t>
            </a:r>
          </a:p>
        </p:txBody>
      </p:sp>
      <p:sp>
        <p:nvSpPr>
          <p:cNvPr id="10" name="object 10"/>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spc="-30" dirty="0">
                <a:latin typeface="Times New Roman"/>
                <a:cs typeface="Times New Roman"/>
              </a:rPr>
              <a:t>OT-</a:t>
            </a:r>
            <a:r>
              <a:rPr spc="-20" dirty="0"/>
              <a:t>协程技术调研</a:t>
            </a:r>
          </a:p>
        </p:txBody>
      </p:sp>
      <p:sp>
        <p:nvSpPr>
          <p:cNvPr id="11" name="object 11"/>
          <p:cNvSpPr txBox="1">
            <a:spLocks noGrp="1"/>
          </p:cNvSpPr>
          <p:nvPr>
            <p:ph type="sldNum" sz="quarter" idx="7"/>
          </p:nvPr>
        </p:nvSpPr>
        <p:spPr>
          <a:prstGeom prst="rect">
            <a:avLst/>
          </a:prstGeom>
        </p:spPr>
        <p:txBody>
          <a:bodyPr vert="horz" wrap="square" lIns="0" tIns="3810" rIns="0" bIns="0" rtlCol="0">
            <a:spAutoFit/>
          </a:bodyPr>
          <a:lstStyle/>
          <a:p>
            <a:pPr marL="37465">
              <a:lnSpc>
                <a:spcPct val="100000"/>
              </a:lnSpc>
              <a:spcBef>
                <a:spcPts val="30"/>
              </a:spcBef>
            </a:pPr>
            <a:fld id="{81D60167-4931-47E6-BA6A-407CBD079E47}" type="slidenum">
              <a:rPr spc="-25" dirty="0"/>
              <a:t>2</a:t>
            </a:fld>
            <a:endParaRPr spc="-25" dirty="0"/>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5" name="图片 44">
            <a:extLst>
              <a:ext uri="{FF2B5EF4-FFF2-40B4-BE49-F238E27FC236}">
                <a16:creationId xmlns:a16="http://schemas.microsoft.com/office/drawing/2014/main" id="{E43BB798-078D-E0E2-8A33-31AF71AC3602}"/>
              </a:ext>
            </a:extLst>
          </p:cNvPr>
          <p:cNvPicPr>
            <a:picLocks noChangeAspect="1"/>
          </p:cNvPicPr>
          <p:nvPr/>
        </p:nvPicPr>
        <p:blipFill>
          <a:blip r:embed="rId2"/>
          <a:stretch>
            <a:fillRect/>
          </a:stretch>
        </p:blipFill>
        <p:spPr>
          <a:xfrm>
            <a:off x="0" y="1"/>
            <a:ext cx="4610100" cy="250672"/>
          </a:xfrm>
          <a:prstGeom prst="rect">
            <a:avLst/>
          </a:prstGeom>
        </p:spPr>
      </p:pic>
      <p:sp>
        <p:nvSpPr>
          <p:cNvPr id="2" name="object 2" descr="$PPTXTitle"/>
          <p:cNvSpPr txBox="1">
            <a:spLocks noGrp="1"/>
          </p:cNvSpPr>
          <p:nvPr>
            <p:ph type="title"/>
          </p:nvPr>
        </p:nvSpPr>
        <p:spPr>
          <a:xfrm>
            <a:off x="105130" y="42594"/>
            <a:ext cx="2080895" cy="180819"/>
          </a:xfrm>
          <a:prstGeom prst="rect">
            <a:avLst/>
          </a:prstGeom>
        </p:spPr>
        <p:txBody>
          <a:bodyPr vert="horz" wrap="square" lIns="0" tIns="11430" rIns="0" bIns="0" rtlCol="0">
            <a:spAutoFit/>
          </a:bodyPr>
          <a:lstStyle/>
          <a:p>
            <a:pPr marL="12700">
              <a:lnSpc>
                <a:spcPct val="100000"/>
              </a:lnSpc>
              <a:spcBef>
                <a:spcPts val="90"/>
              </a:spcBef>
            </a:pPr>
            <a:r>
              <a:rPr spc="-45" dirty="0">
                <a:solidFill>
                  <a:schemeClr val="bg1"/>
                </a:solidFill>
              </a:rPr>
              <a:t>问题背景：高并发 </a:t>
            </a:r>
            <a:r>
              <a:rPr dirty="0">
                <a:solidFill>
                  <a:schemeClr val="bg1"/>
                </a:solidFill>
                <a:latin typeface="Times New Roman"/>
                <a:cs typeface="Times New Roman"/>
              </a:rPr>
              <a:t>I/O</a:t>
            </a:r>
            <a:r>
              <a:rPr spc="35" dirty="0">
                <a:solidFill>
                  <a:schemeClr val="bg1"/>
                </a:solidFill>
                <a:latin typeface="Times New Roman"/>
                <a:cs typeface="Times New Roman"/>
              </a:rPr>
              <a:t> </a:t>
            </a:r>
            <a:r>
              <a:rPr spc="-30" dirty="0">
                <a:solidFill>
                  <a:schemeClr val="bg1"/>
                </a:solidFill>
              </a:rPr>
              <a:t>的核心矛盾</a:t>
            </a:r>
          </a:p>
        </p:txBody>
      </p:sp>
      <p:sp>
        <p:nvSpPr>
          <p:cNvPr id="3" name="object 3"/>
          <p:cNvSpPr/>
          <p:nvPr/>
        </p:nvSpPr>
        <p:spPr>
          <a:xfrm>
            <a:off x="0" y="252052"/>
            <a:ext cx="4608195" cy="0"/>
          </a:xfrm>
          <a:custGeom>
            <a:avLst/>
            <a:gdLst/>
            <a:ahLst/>
            <a:cxnLst/>
            <a:rect l="l" t="t" r="r" b="b"/>
            <a:pathLst>
              <a:path w="4608195">
                <a:moveTo>
                  <a:pt x="0" y="0"/>
                </a:moveTo>
                <a:lnTo>
                  <a:pt x="4608060" y="0"/>
                </a:lnTo>
              </a:path>
            </a:pathLst>
          </a:custGeom>
          <a:ln w="12652">
            <a:solidFill>
              <a:srgbClr val="1B4681"/>
            </a:solidFill>
          </a:ln>
        </p:spPr>
        <p:txBody>
          <a:bodyPr wrap="square" lIns="0" tIns="0" rIns="0" bIns="0" rtlCol="0"/>
          <a:lstStyle/>
          <a:p>
            <a:endParaRPr/>
          </a:p>
        </p:txBody>
      </p:sp>
      <p:grpSp>
        <p:nvGrpSpPr>
          <p:cNvPr id="4" name="object 4"/>
          <p:cNvGrpSpPr/>
          <p:nvPr/>
        </p:nvGrpSpPr>
        <p:grpSpPr>
          <a:xfrm>
            <a:off x="417454" y="733634"/>
            <a:ext cx="30480" cy="30480"/>
            <a:chOff x="417454" y="733634"/>
            <a:chExt cx="30480" cy="30480"/>
          </a:xfrm>
        </p:grpSpPr>
        <p:sp>
          <p:nvSpPr>
            <p:cNvPr id="5" name="object 5"/>
            <p:cNvSpPr/>
            <p:nvPr/>
          </p:nvSpPr>
          <p:spPr>
            <a:xfrm>
              <a:off x="419985" y="736164"/>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6" name="object 6"/>
            <p:cNvSpPr/>
            <p:nvPr/>
          </p:nvSpPr>
          <p:spPr>
            <a:xfrm>
              <a:off x="419985" y="736164"/>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7" name="object 7"/>
          <p:cNvGrpSpPr/>
          <p:nvPr/>
        </p:nvGrpSpPr>
        <p:grpSpPr>
          <a:xfrm>
            <a:off x="417454" y="1267567"/>
            <a:ext cx="30480" cy="30480"/>
            <a:chOff x="417454" y="1267567"/>
            <a:chExt cx="30480" cy="30480"/>
          </a:xfrm>
        </p:grpSpPr>
        <p:sp>
          <p:nvSpPr>
            <p:cNvPr id="8" name="object 8"/>
            <p:cNvSpPr/>
            <p:nvPr/>
          </p:nvSpPr>
          <p:spPr>
            <a:xfrm>
              <a:off x="419985" y="1270098"/>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9" name="object 9"/>
            <p:cNvSpPr/>
            <p:nvPr/>
          </p:nvSpPr>
          <p:spPr>
            <a:xfrm>
              <a:off x="419985" y="1270098"/>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0" name="object 10"/>
          <p:cNvGrpSpPr/>
          <p:nvPr/>
        </p:nvGrpSpPr>
        <p:grpSpPr>
          <a:xfrm>
            <a:off x="694543" y="1598415"/>
            <a:ext cx="30480" cy="30480"/>
            <a:chOff x="694543" y="1598415"/>
            <a:chExt cx="30480" cy="30480"/>
          </a:xfrm>
        </p:grpSpPr>
        <p:sp>
          <p:nvSpPr>
            <p:cNvPr id="11" name="object 11"/>
            <p:cNvSpPr/>
            <p:nvPr/>
          </p:nvSpPr>
          <p:spPr>
            <a:xfrm>
              <a:off x="697074" y="1600945"/>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2" name="object 12"/>
            <p:cNvSpPr/>
            <p:nvPr/>
          </p:nvSpPr>
          <p:spPr>
            <a:xfrm>
              <a:off x="697074" y="1600945"/>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3" name="object 13"/>
          <p:cNvGrpSpPr/>
          <p:nvPr/>
        </p:nvGrpSpPr>
        <p:grpSpPr>
          <a:xfrm>
            <a:off x="694543" y="1750243"/>
            <a:ext cx="30480" cy="30480"/>
            <a:chOff x="694543" y="1750243"/>
            <a:chExt cx="30480" cy="30480"/>
          </a:xfrm>
        </p:grpSpPr>
        <p:sp>
          <p:nvSpPr>
            <p:cNvPr id="14" name="object 14"/>
            <p:cNvSpPr/>
            <p:nvPr/>
          </p:nvSpPr>
          <p:spPr>
            <a:xfrm>
              <a:off x="697074" y="1752774"/>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5" name="object 15"/>
            <p:cNvSpPr/>
            <p:nvPr/>
          </p:nvSpPr>
          <p:spPr>
            <a:xfrm>
              <a:off x="697074" y="1752774"/>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6" name="object 16"/>
          <p:cNvGrpSpPr/>
          <p:nvPr/>
        </p:nvGrpSpPr>
        <p:grpSpPr>
          <a:xfrm>
            <a:off x="694543" y="1902072"/>
            <a:ext cx="30480" cy="30480"/>
            <a:chOff x="694543" y="1902072"/>
            <a:chExt cx="30480" cy="30480"/>
          </a:xfrm>
        </p:grpSpPr>
        <p:sp>
          <p:nvSpPr>
            <p:cNvPr id="17" name="object 17"/>
            <p:cNvSpPr/>
            <p:nvPr/>
          </p:nvSpPr>
          <p:spPr>
            <a:xfrm>
              <a:off x="697074" y="1904602"/>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8" name="object 18"/>
            <p:cNvSpPr/>
            <p:nvPr/>
          </p:nvSpPr>
          <p:spPr>
            <a:xfrm>
              <a:off x="697074" y="1904602"/>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9" name="object 19"/>
          <p:cNvGrpSpPr/>
          <p:nvPr/>
        </p:nvGrpSpPr>
        <p:grpSpPr>
          <a:xfrm>
            <a:off x="417454" y="2262053"/>
            <a:ext cx="30480" cy="30480"/>
            <a:chOff x="417454" y="2262053"/>
            <a:chExt cx="30480" cy="30480"/>
          </a:xfrm>
        </p:grpSpPr>
        <p:sp>
          <p:nvSpPr>
            <p:cNvPr id="20" name="object 20"/>
            <p:cNvSpPr/>
            <p:nvPr/>
          </p:nvSpPr>
          <p:spPr>
            <a:xfrm>
              <a:off x="419985" y="2264584"/>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21" name="object 21"/>
            <p:cNvSpPr/>
            <p:nvPr/>
          </p:nvSpPr>
          <p:spPr>
            <a:xfrm>
              <a:off x="419985" y="2264584"/>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sp>
        <p:nvSpPr>
          <p:cNvPr id="22" name="object 22"/>
          <p:cNvSpPr txBox="1"/>
          <p:nvPr/>
        </p:nvSpPr>
        <p:spPr>
          <a:xfrm>
            <a:off x="439445" y="634440"/>
            <a:ext cx="1990725" cy="2064385"/>
          </a:xfrm>
          <a:prstGeom prst="rect">
            <a:avLst/>
          </a:prstGeom>
        </p:spPr>
        <p:txBody>
          <a:bodyPr vert="horz" wrap="square" lIns="0" tIns="6985" rIns="0" bIns="0" rtlCol="0">
            <a:spAutoFit/>
          </a:bodyPr>
          <a:lstStyle/>
          <a:p>
            <a:pPr marL="12700" marR="5080" indent="64769">
              <a:lnSpc>
                <a:spcPct val="102600"/>
              </a:lnSpc>
              <a:spcBef>
                <a:spcPts val="55"/>
              </a:spcBef>
            </a:pPr>
            <a:r>
              <a:rPr sz="1100" spc="-45" dirty="0">
                <a:latin typeface="SimSun"/>
                <a:cs typeface="SimSun"/>
              </a:rPr>
              <a:t>云服务、网关、爬虫、</a:t>
            </a:r>
            <a:r>
              <a:rPr sz="1100" spc="-25" dirty="0">
                <a:latin typeface="Times New Roman"/>
                <a:cs typeface="Times New Roman"/>
              </a:rPr>
              <a:t>RPC</a:t>
            </a:r>
            <a:r>
              <a:rPr sz="1100" spc="-60" dirty="0">
                <a:latin typeface="SimSun"/>
                <a:cs typeface="SimSun"/>
              </a:rPr>
              <a:t>、数</a:t>
            </a:r>
            <a:r>
              <a:rPr sz="1100" spc="-25" dirty="0">
                <a:latin typeface="SimSun"/>
                <a:cs typeface="SimSun"/>
              </a:rPr>
              <a:t>据库访问中，单个任务常常算</a:t>
            </a:r>
            <a:r>
              <a:rPr sz="1100" spc="-50" dirty="0">
                <a:latin typeface="SimSun"/>
                <a:cs typeface="SimSun"/>
              </a:rPr>
              <a:t> </a:t>
            </a:r>
            <a:r>
              <a:rPr sz="1100" spc="-25" dirty="0">
                <a:latin typeface="SimSun"/>
                <a:cs typeface="SimSun"/>
              </a:rPr>
              <a:t>得少、等得多。</a:t>
            </a:r>
            <a:endParaRPr sz="1100">
              <a:latin typeface="SimSun"/>
              <a:cs typeface="SimSun"/>
            </a:endParaRPr>
          </a:p>
          <a:p>
            <a:pPr marL="77470" marR="30480" indent="-65405">
              <a:lnSpc>
                <a:spcPts val="1200"/>
              </a:lnSpc>
              <a:spcBef>
                <a:spcPts val="315"/>
              </a:spcBef>
            </a:pPr>
            <a:r>
              <a:rPr sz="1100" spc="-25" dirty="0">
                <a:latin typeface="SimSun"/>
                <a:cs typeface="SimSun"/>
              </a:rPr>
              <a:t>“一请求一线程”写法直观，但并发数升高后会积累：</a:t>
            </a:r>
            <a:endParaRPr sz="1100">
              <a:latin typeface="SimSun"/>
              <a:cs typeface="SimSun"/>
            </a:endParaRPr>
          </a:p>
          <a:p>
            <a:pPr marL="354330" marR="362585">
              <a:lnSpc>
                <a:spcPct val="100000"/>
              </a:lnSpc>
              <a:spcBef>
                <a:spcPts val="150"/>
              </a:spcBef>
            </a:pPr>
            <a:r>
              <a:rPr sz="1000" spc="-15" dirty="0">
                <a:latin typeface="SimSun"/>
                <a:cs typeface="SimSun"/>
              </a:rPr>
              <a:t>线程栈与线程对象开销内核调度与上下文切换</a:t>
            </a:r>
            <a:endParaRPr sz="1000">
              <a:latin typeface="SimSun"/>
              <a:cs typeface="SimSun"/>
            </a:endParaRPr>
          </a:p>
          <a:p>
            <a:pPr marL="354330" marR="109855">
              <a:lnSpc>
                <a:spcPts val="1200"/>
              </a:lnSpc>
              <a:spcBef>
                <a:spcPts val="30"/>
              </a:spcBef>
            </a:pPr>
            <a:r>
              <a:rPr sz="1000" spc="-15" dirty="0">
                <a:latin typeface="SimSun"/>
                <a:cs typeface="SimSun"/>
              </a:rPr>
              <a:t>阻塞等待导致的执行资源浪</a:t>
            </a:r>
            <a:r>
              <a:rPr sz="1000" spc="-50" dirty="0">
                <a:latin typeface="SimSun"/>
                <a:cs typeface="SimSun"/>
              </a:rPr>
              <a:t>费</a:t>
            </a:r>
            <a:endParaRPr sz="1000">
              <a:latin typeface="SimSun"/>
              <a:cs typeface="SimSun"/>
            </a:endParaRPr>
          </a:p>
          <a:p>
            <a:pPr marL="77470">
              <a:lnSpc>
                <a:spcPct val="100000"/>
              </a:lnSpc>
              <a:spcBef>
                <a:spcPts val="310"/>
              </a:spcBef>
            </a:pPr>
            <a:r>
              <a:rPr sz="1100" spc="-25" dirty="0">
                <a:latin typeface="SimSun"/>
                <a:cs typeface="SimSun"/>
              </a:rPr>
              <a:t>核心问题不是“创建更多线</a:t>
            </a:r>
            <a:endParaRPr sz="1100">
              <a:latin typeface="SimSun"/>
              <a:cs typeface="SimSun"/>
            </a:endParaRPr>
          </a:p>
          <a:p>
            <a:pPr marL="77470" marR="34925">
              <a:lnSpc>
                <a:spcPct val="102600"/>
              </a:lnSpc>
            </a:pPr>
            <a:r>
              <a:rPr sz="1100" spc="-75" dirty="0">
                <a:latin typeface="SimSun"/>
                <a:cs typeface="SimSun"/>
              </a:rPr>
              <a:t>程”，而是低成本管理大量等待</a:t>
            </a:r>
            <a:r>
              <a:rPr sz="1100" spc="-30" dirty="0">
                <a:latin typeface="SimSun"/>
                <a:cs typeface="SimSun"/>
              </a:rPr>
              <a:t>中的任务。</a:t>
            </a:r>
            <a:endParaRPr sz="1100">
              <a:latin typeface="SimSun"/>
              <a:cs typeface="SimSun"/>
            </a:endParaRPr>
          </a:p>
        </p:txBody>
      </p:sp>
      <p:grpSp>
        <p:nvGrpSpPr>
          <p:cNvPr id="23" name="object 23"/>
          <p:cNvGrpSpPr/>
          <p:nvPr/>
        </p:nvGrpSpPr>
        <p:grpSpPr>
          <a:xfrm>
            <a:off x="2657271" y="771393"/>
            <a:ext cx="1711325" cy="1438910"/>
            <a:chOff x="2657271" y="771393"/>
            <a:chExt cx="1711325" cy="1438910"/>
          </a:xfrm>
        </p:grpSpPr>
        <p:sp>
          <p:nvSpPr>
            <p:cNvPr id="24" name="object 24"/>
            <p:cNvSpPr/>
            <p:nvPr/>
          </p:nvSpPr>
          <p:spPr>
            <a:xfrm>
              <a:off x="2711272" y="838046"/>
              <a:ext cx="1603375" cy="1330325"/>
            </a:xfrm>
            <a:custGeom>
              <a:avLst/>
              <a:gdLst/>
              <a:ahLst/>
              <a:cxnLst/>
              <a:rect l="l" t="t" r="r" b="b"/>
              <a:pathLst>
                <a:path w="1603375" h="1330325">
                  <a:moveTo>
                    <a:pt x="1602751" y="0"/>
                  </a:moveTo>
                  <a:lnTo>
                    <a:pt x="0" y="0"/>
                  </a:lnTo>
                  <a:lnTo>
                    <a:pt x="0" y="1330291"/>
                  </a:lnTo>
                  <a:lnTo>
                    <a:pt x="1602751" y="1330291"/>
                  </a:lnTo>
                  <a:lnTo>
                    <a:pt x="1602751" y="0"/>
                  </a:lnTo>
                  <a:close/>
                </a:path>
              </a:pathLst>
            </a:custGeom>
            <a:solidFill>
              <a:srgbClr val="B2B2B2"/>
            </a:solidFill>
          </p:spPr>
          <p:txBody>
            <a:bodyPr wrap="square" lIns="0" tIns="0" rIns="0" bIns="0" rtlCol="0"/>
            <a:lstStyle/>
            <a:p>
              <a:endParaRPr/>
            </a:p>
          </p:txBody>
        </p:sp>
        <p:sp>
          <p:nvSpPr>
            <p:cNvPr id="25" name="object 25"/>
            <p:cNvSpPr/>
            <p:nvPr/>
          </p:nvSpPr>
          <p:spPr>
            <a:xfrm>
              <a:off x="2657271" y="771393"/>
              <a:ext cx="1711325" cy="1438910"/>
            </a:xfrm>
            <a:custGeom>
              <a:avLst/>
              <a:gdLst/>
              <a:ahLst/>
              <a:cxnLst/>
              <a:rect l="l" t="t" r="r" b="b"/>
              <a:pathLst>
                <a:path w="1711325" h="1438910">
                  <a:moveTo>
                    <a:pt x="1656751" y="0"/>
                  </a:moveTo>
                  <a:lnTo>
                    <a:pt x="54000" y="0"/>
                  </a:lnTo>
                  <a:lnTo>
                    <a:pt x="32980" y="4243"/>
                  </a:lnTo>
                  <a:lnTo>
                    <a:pt x="15816" y="15816"/>
                  </a:lnTo>
                  <a:lnTo>
                    <a:pt x="4243" y="32981"/>
                  </a:lnTo>
                  <a:lnTo>
                    <a:pt x="0" y="54000"/>
                  </a:lnTo>
                  <a:lnTo>
                    <a:pt x="0" y="1384291"/>
                  </a:lnTo>
                  <a:lnTo>
                    <a:pt x="4243" y="1405311"/>
                  </a:lnTo>
                  <a:lnTo>
                    <a:pt x="15816" y="1422476"/>
                  </a:lnTo>
                  <a:lnTo>
                    <a:pt x="32980" y="1434048"/>
                  </a:lnTo>
                  <a:lnTo>
                    <a:pt x="54000" y="1438292"/>
                  </a:lnTo>
                  <a:lnTo>
                    <a:pt x="1656751" y="1438292"/>
                  </a:lnTo>
                  <a:lnTo>
                    <a:pt x="1677770" y="1434048"/>
                  </a:lnTo>
                  <a:lnTo>
                    <a:pt x="1694935" y="1422476"/>
                  </a:lnTo>
                  <a:lnTo>
                    <a:pt x="1706508" y="1405311"/>
                  </a:lnTo>
                  <a:lnTo>
                    <a:pt x="1710751" y="1384291"/>
                  </a:lnTo>
                  <a:lnTo>
                    <a:pt x="1710751" y="54000"/>
                  </a:lnTo>
                  <a:lnTo>
                    <a:pt x="1706508" y="32981"/>
                  </a:lnTo>
                  <a:lnTo>
                    <a:pt x="1694935" y="15816"/>
                  </a:lnTo>
                  <a:lnTo>
                    <a:pt x="1677770" y="4243"/>
                  </a:lnTo>
                  <a:lnTo>
                    <a:pt x="1656751" y="0"/>
                  </a:lnTo>
                  <a:close/>
                </a:path>
              </a:pathLst>
            </a:custGeom>
            <a:solidFill>
              <a:srgbClr val="1B4681"/>
            </a:solidFill>
          </p:spPr>
          <p:txBody>
            <a:bodyPr wrap="square" lIns="0" tIns="0" rIns="0" bIns="0" rtlCol="0"/>
            <a:lstStyle/>
            <a:p>
              <a:endParaRPr/>
            </a:p>
          </p:txBody>
        </p:sp>
        <p:sp>
          <p:nvSpPr>
            <p:cNvPr id="26" name="object 26"/>
            <p:cNvSpPr/>
            <p:nvPr/>
          </p:nvSpPr>
          <p:spPr>
            <a:xfrm>
              <a:off x="2657271" y="984550"/>
              <a:ext cx="1711325" cy="1225550"/>
            </a:xfrm>
            <a:custGeom>
              <a:avLst/>
              <a:gdLst/>
              <a:ahLst/>
              <a:cxnLst/>
              <a:rect l="l" t="t" r="r" b="b"/>
              <a:pathLst>
                <a:path w="1711325" h="1225550">
                  <a:moveTo>
                    <a:pt x="1710751" y="0"/>
                  </a:moveTo>
                  <a:lnTo>
                    <a:pt x="0" y="0"/>
                  </a:lnTo>
                  <a:lnTo>
                    <a:pt x="0" y="1171134"/>
                  </a:lnTo>
                  <a:lnTo>
                    <a:pt x="4243" y="1192154"/>
                  </a:lnTo>
                  <a:lnTo>
                    <a:pt x="15816" y="1209318"/>
                  </a:lnTo>
                  <a:lnTo>
                    <a:pt x="32980" y="1220891"/>
                  </a:lnTo>
                  <a:lnTo>
                    <a:pt x="54000" y="1225135"/>
                  </a:lnTo>
                  <a:lnTo>
                    <a:pt x="1656751" y="1225135"/>
                  </a:lnTo>
                  <a:lnTo>
                    <a:pt x="1677770" y="1220891"/>
                  </a:lnTo>
                  <a:lnTo>
                    <a:pt x="1694935" y="1209318"/>
                  </a:lnTo>
                  <a:lnTo>
                    <a:pt x="1706508" y="1192154"/>
                  </a:lnTo>
                  <a:lnTo>
                    <a:pt x="1710751" y="1171134"/>
                  </a:lnTo>
                  <a:lnTo>
                    <a:pt x="1710751" y="0"/>
                  </a:lnTo>
                  <a:close/>
                </a:path>
              </a:pathLst>
            </a:custGeom>
            <a:solidFill>
              <a:srgbClr val="E8ECF2"/>
            </a:solidFill>
          </p:spPr>
          <p:txBody>
            <a:bodyPr wrap="square" lIns="0" tIns="0" rIns="0" bIns="0" rtlCol="0"/>
            <a:lstStyle/>
            <a:p>
              <a:endParaRPr/>
            </a:p>
          </p:txBody>
        </p:sp>
        <p:sp>
          <p:nvSpPr>
            <p:cNvPr id="27" name="object 27"/>
            <p:cNvSpPr/>
            <p:nvPr/>
          </p:nvSpPr>
          <p:spPr>
            <a:xfrm>
              <a:off x="2898555" y="1110547"/>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28" name="object 28"/>
            <p:cNvSpPr/>
            <p:nvPr/>
          </p:nvSpPr>
          <p:spPr>
            <a:xfrm>
              <a:off x="2898555" y="1110547"/>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sp>
          <p:nvSpPr>
            <p:cNvPr id="29" name="object 29"/>
            <p:cNvSpPr/>
            <p:nvPr/>
          </p:nvSpPr>
          <p:spPr>
            <a:xfrm>
              <a:off x="2898555" y="1320580"/>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30" name="object 30"/>
            <p:cNvSpPr/>
            <p:nvPr/>
          </p:nvSpPr>
          <p:spPr>
            <a:xfrm>
              <a:off x="2898555" y="1320580"/>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sp>
          <p:nvSpPr>
            <p:cNvPr id="31" name="object 31"/>
            <p:cNvSpPr/>
            <p:nvPr/>
          </p:nvSpPr>
          <p:spPr>
            <a:xfrm>
              <a:off x="2898555" y="1530613"/>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32" name="object 32"/>
            <p:cNvSpPr/>
            <p:nvPr/>
          </p:nvSpPr>
          <p:spPr>
            <a:xfrm>
              <a:off x="2898555" y="1530613"/>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sp>
          <p:nvSpPr>
            <p:cNvPr id="33" name="object 33"/>
            <p:cNvSpPr/>
            <p:nvPr/>
          </p:nvSpPr>
          <p:spPr>
            <a:xfrm>
              <a:off x="2898555" y="1912718"/>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34" name="object 34"/>
            <p:cNvSpPr/>
            <p:nvPr/>
          </p:nvSpPr>
          <p:spPr>
            <a:xfrm>
              <a:off x="2898555" y="1912718"/>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sp>
        <p:nvSpPr>
          <p:cNvPr id="35" name="object 35"/>
          <p:cNvSpPr txBox="1"/>
          <p:nvPr/>
        </p:nvSpPr>
        <p:spPr>
          <a:xfrm>
            <a:off x="2705874" y="702510"/>
            <a:ext cx="1685925" cy="1472565"/>
          </a:xfrm>
          <a:prstGeom prst="rect">
            <a:avLst/>
          </a:prstGeom>
        </p:spPr>
        <p:txBody>
          <a:bodyPr vert="horz" wrap="square" lIns="0" tIns="76835" rIns="0" bIns="0" rtlCol="0">
            <a:spAutoFit/>
          </a:bodyPr>
          <a:lstStyle/>
          <a:p>
            <a:pPr marL="12700">
              <a:lnSpc>
                <a:spcPct val="100000"/>
              </a:lnSpc>
              <a:spcBef>
                <a:spcPts val="605"/>
              </a:spcBef>
            </a:pPr>
            <a:r>
              <a:rPr sz="1200" spc="-25" dirty="0">
                <a:solidFill>
                  <a:srgbClr val="FFFFFF"/>
                </a:solidFill>
                <a:latin typeface="SimSun"/>
                <a:cs typeface="SimSun"/>
              </a:rPr>
              <a:t>本报告的主问题</a:t>
            </a:r>
            <a:endParaRPr sz="1200">
              <a:latin typeface="SimSun"/>
              <a:cs typeface="SimSun"/>
            </a:endParaRPr>
          </a:p>
          <a:p>
            <a:pPr marL="289560" marR="5080">
              <a:lnSpc>
                <a:spcPct val="125299"/>
              </a:lnSpc>
              <a:spcBef>
                <a:spcPts val="120"/>
              </a:spcBef>
            </a:pPr>
            <a:r>
              <a:rPr sz="1100" spc="-15" dirty="0">
                <a:latin typeface="SimSun"/>
                <a:cs typeface="SimSun"/>
              </a:rPr>
              <a:t>协程为什么会出现？它</a:t>
            </a:r>
            <a:r>
              <a:rPr sz="1100" spc="-25" dirty="0">
                <a:latin typeface="SimSun"/>
                <a:cs typeface="SimSun"/>
              </a:rPr>
              <a:t>到底“轻”在哪里？</a:t>
            </a:r>
            <a:endParaRPr sz="1100">
              <a:latin typeface="SimSun"/>
              <a:cs typeface="SimSun"/>
            </a:endParaRPr>
          </a:p>
          <a:p>
            <a:pPr marL="289560" marR="102235">
              <a:lnSpc>
                <a:spcPct val="102600"/>
              </a:lnSpc>
              <a:spcBef>
                <a:spcPts val="300"/>
              </a:spcBef>
            </a:pPr>
            <a:r>
              <a:rPr sz="1100" spc="-20" dirty="0">
                <a:latin typeface="SimSun"/>
                <a:cs typeface="SimSun"/>
              </a:rPr>
              <a:t>编译器、运行时、</a:t>
            </a:r>
            <a:r>
              <a:rPr sz="1100" spc="-25" dirty="0">
                <a:latin typeface="Times New Roman"/>
                <a:cs typeface="Times New Roman"/>
              </a:rPr>
              <a:t>OS</a:t>
            </a:r>
            <a:r>
              <a:rPr sz="1100" spc="-30" dirty="0">
                <a:latin typeface="SimSun"/>
                <a:cs typeface="SimSun"/>
              </a:rPr>
              <a:t>如何协同？</a:t>
            </a:r>
            <a:endParaRPr sz="1100">
              <a:latin typeface="SimSun"/>
              <a:cs typeface="SimSun"/>
            </a:endParaRPr>
          </a:p>
          <a:p>
            <a:pPr marL="289560" marR="140970">
              <a:lnSpc>
                <a:spcPct val="102600"/>
              </a:lnSpc>
              <a:spcBef>
                <a:spcPts val="300"/>
              </a:spcBef>
            </a:pPr>
            <a:r>
              <a:rPr sz="1100" spc="-25" dirty="0">
                <a:latin typeface="SimSun"/>
                <a:cs typeface="SimSun"/>
              </a:rPr>
              <a:t>实验上什么时候有优</a:t>
            </a:r>
            <a:r>
              <a:rPr sz="1100" spc="-35" dirty="0">
                <a:latin typeface="SimSun"/>
                <a:cs typeface="SimSun"/>
              </a:rPr>
              <a:t>势？</a:t>
            </a:r>
            <a:endParaRPr sz="1100">
              <a:latin typeface="SimSun"/>
              <a:cs typeface="SimSun"/>
            </a:endParaRPr>
          </a:p>
        </p:txBody>
      </p:sp>
      <p:grpSp>
        <p:nvGrpSpPr>
          <p:cNvPr id="36" name="object 36"/>
          <p:cNvGrpSpPr/>
          <p:nvPr/>
        </p:nvGrpSpPr>
        <p:grpSpPr>
          <a:xfrm>
            <a:off x="0" y="3309520"/>
            <a:ext cx="4608195" cy="146685"/>
            <a:chOff x="0" y="3309520"/>
            <a:chExt cx="4608195" cy="146685"/>
          </a:xfrm>
        </p:grpSpPr>
        <p:sp>
          <p:nvSpPr>
            <p:cNvPr id="37" name="object 37"/>
            <p:cNvSpPr/>
            <p:nvPr/>
          </p:nvSpPr>
          <p:spPr>
            <a:xfrm>
              <a:off x="0" y="3309520"/>
              <a:ext cx="1464945" cy="146685"/>
            </a:xfrm>
            <a:custGeom>
              <a:avLst/>
              <a:gdLst/>
              <a:ahLst/>
              <a:cxnLst/>
              <a:rect l="l" t="t" r="r" b="b"/>
              <a:pathLst>
                <a:path w="1464945" h="146685">
                  <a:moveTo>
                    <a:pt x="1464490" y="146530"/>
                  </a:moveTo>
                  <a:lnTo>
                    <a:pt x="1464490" y="0"/>
                  </a:lnTo>
                  <a:lnTo>
                    <a:pt x="0" y="0"/>
                  </a:lnTo>
                  <a:lnTo>
                    <a:pt x="0" y="146530"/>
                  </a:lnTo>
                  <a:lnTo>
                    <a:pt x="1464490" y="146530"/>
                  </a:lnTo>
                  <a:close/>
                </a:path>
              </a:pathLst>
            </a:custGeom>
            <a:solidFill>
              <a:srgbClr val="4681B4"/>
            </a:solidFill>
          </p:spPr>
          <p:txBody>
            <a:bodyPr wrap="square" lIns="0" tIns="0" rIns="0" bIns="0" rtlCol="0"/>
            <a:lstStyle/>
            <a:p>
              <a:endParaRPr/>
            </a:p>
          </p:txBody>
        </p:sp>
        <p:sp>
          <p:nvSpPr>
            <p:cNvPr id="38" name="object 38"/>
            <p:cNvSpPr/>
            <p:nvPr/>
          </p:nvSpPr>
          <p:spPr>
            <a:xfrm>
              <a:off x="1464490" y="3309520"/>
              <a:ext cx="2672715" cy="146685"/>
            </a:xfrm>
            <a:custGeom>
              <a:avLst/>
              <a:gdLst/>
              <a:ahLst/>
              <a:cxnLst/>
              <a:rect l="l" t="t" r="r" b="b"/>
              <a:pathLst>
                <a:path w="2672715" h="146685">
                  <a:moveTo>
                    <a:pt x="2672682" y="0"/>
                  </a:moveTo>
                  <a:lnTo>
                    <a:pt x="0" y="0"/>
                  </a:lnTo>
                  <a:lnTo>
                    <a:pt x="0" y="146530"/>
                  </a:lnTo>
                  <a:lnTo>
                    <a:pt x="2672682" y="146530"/>
                  </a:lnTo>
                  <a:lnTo>
                    <a:pt x="2672682" y="0"/>
                  </a:lnTo>
                  <a:close/>
                </a:path>
              </a:pathLst>
            </a:custGeom>
            <a:solidFill>
              <a:srgbClr val="1B4681"/>
            </a:solidFill>
          </p:spPr>
          <p:txBody>
            <a:bodyPr wrap="square" lIns="0" tIns="0" rIns="0" bIns="0" rtlCol="0"/>
            <a:lstStyle/>
            <a:p>
              <a:endParaRPr/>
            </a:p>
          </p:txBody>
        </p:sp>
        <p:sp>
          <p:nvSpPr>
            <p:cNvPr id="39" name="object 39"/>
            <p:cNvSpPr/>
            <p:nvPr/>
          </p:nvSpPr>
          <p:spPr>
            <a:xfrm>
              <a:off x="4137103" y="3309520"/>
              <a:ext cx="471170" cy="146685"/>
            </a:xfrm>
            <a:custGeom>
              <a:avLst/>
              <a:gdLst/>
              <a:ahLst/>
              <a:cxnLst/>
              <a:rect l="l" t="t" r="r" b="b"/>
              <a:pathLst>
                <a:path w="471170" h="146685">
                  <a:moveTo>
                    <a:pt x="470836" y="0"/>
                  </a:moveTo>
                  <a:lnTo>
                    <a:pt x="0" y="0"/>
                  </a:lnTo>
                  <a:lnTo>
                    <a:pt x="0" y="146530"/>
                  </a:lnTo>
                  <a:lnTo>
                    <a:pt x="470836" y="146530"/>
                  </a:lnTo>
                  <a:lnTo>
                    <a:pt x="470836" y="0"/>
                  </a:lnTo>
                  <a:close/>
                </a:path>
              </a:pathLst>
            </a:custGeom>
            <a:solidFill>
              <a:srgbClr val="0A2750"/>
            </a:solidFill>
          </p:spPr>
          <p:txBody>
            <a:bodyPr wrap="square" lIns="0" tIns="0" rIns="0" bIns="0" rtlCol="0"/>
            <a:lstStyle/>
            <a:p>
              <a:endParaRPr/>
            </a:p>
          </p:txBody>
        </p:sp>
      </p:grpSp>
      <p:sp>
        <p:nvSpPr>
          <p:cNvPr id="40" name="object 40"/>
          <p:cNvSpPr txBox="1">
            <a:spLocks noGrp="1"/>
          </p:cNvSpPr>
          <p:nvPr>
            <p:ph type="dt" sz="half" idx="6"/>
          </p:nvPr>
        </p:nvSpPr>
        <p:spPr>
          <a:prstGeom prst="rect">
            <a:avLst/>
          </a:prstGeom>
        </p:spPr>
        <p:txBody>
          <a:bodyPr vert="horz" wrap="square" lIns="0" tIns="1270" rIns="0" bIns="0" rtlCol="0">
            <a:spAutoFit/>
          </a:bodyPr>
          <a:lstStyle/>
          <a:p>
            <a:pPr marL="12700">
              <a:lnSpc>
                <a:spcPct val="100000"/>
              </a:lnSpc>
              <a:spcBef>
                <a:spcPts val="10"/>
              </a:spcBef>
            </a:pPr>
            <a:r>
              <a:rPr spc="35" dirty="0"/>
              <a:t>尚文轩 南开大学</a:t>
            </a:r>
          </a:p>
        </p:txBody>
      </p:sp>
      <p:sp>
        <p:nvSpPr>
          <p:cNvPr id="41" name="object 41"/>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spc="-30" dirty="0">
                <a:latin typeface="Times New Roman"/>
                <a:cs typeface="Times New Roman"/>
              </a:rPr>
              <a:t>OT-</a:t>
            </a:r>
            <a:r>
              <a:rPr spc="-20" dirty="0"/>
              <a:t>协程技术调研</a:t>
            </a:r>
          </a:p>
        </p:txBody>
      </p:sp>
      <p:sp>
        <p:nvSpPr>
          <p:cNvPr id="42" name="object 42"/>
          <p:cNvSpPr txBox="1">
            <a:spLocks noGrp="1"/>
          </p:cNvSpPr>
          <p:nvPr>
            <p:ph type="sldNum" sz="quarter" idx="7"/>
          </p:nvPr>
        </p:nvSpPr>
        <p:spPr>
          <a:prstGeom prst="rect">
            <a:avLst/>
          </a:prstGeom>
        </p:spPr>
        <p:txBody>
          <a:bodyPr vert="horz" wrap="square" lIns="0" tIns="3810" rIns="0" bIns="0" rtlCol="0">
            <a:spAutoFit/>
          </a:bodyPr>
          <a:lstStyle/>
          <a:p>
            <a:pPr marL="37465">
              <a:lnSpc>
                <a:spcPct val="100000"/>
              </a:lnSpc>
              <a:spcBef>
                <a:spcPts val="30"/>
              </a:spcBef>
            </a:pPr>
            <a:fld id="{81D60167-4931-47E6-BA6A-407CBD079E47}" type="slidenum">
              <a:rPr spc="-25" dirty="0"/>
              <a:t>3</a:t>
            </a:fld>
            <a:endParaRPr spc="-25" dirty="0"/>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9" name="图片 48">
            <a:extLst>
              <a:ext uri="{FF2B5EF4-FFF2-40B4-BE49-F238E27FC236}">
                <a16:creationId xmlns:a16="http://schemas.microsoft.com/office/drawing/2014/main" id="{549F40A8-E648-CC87-33AA-1F7134E66AA1}"/>
              </a:ext>
            </a:extLst>
          </p:cNvPr>
          <p:cNvPicPr>
            <a:picLocks noChangeAspect="1"/>
          </p:cNvPicPr>
          <p:nvPr/>
        </p:nvPicPr>
        <p:blipFill>
          <a:blip r:embed="rId2"/>
          <a:stretch>
            <a:fillRect/>
          </a:stretch>
        </p:blipFill>
        <p:spPr>
          <a:xfrm>
            <a:off x="0" y="1"/>
            <a:ext cx="4610100" cy="250672"/>
          </a:xfrm>
          <a:prstGeom prst="rect">
            <a:avLst/>
          </a:prstGeom>
        </p:spPr>
      </p:pic>
      <p:sp>
        <p:nvSpPr>
          <p:cNvPr id="2" name="object 2" descr="$PPTXTitle"/>
          <p:cNvSpPr txBox="1">
            <a:spLocks noGrp="1"/>
          </p:cNvSpPr>
          <p:nvPr>
            <p:ph type="title"/>
          </p:nvPr>
        </p:nvSpPr>
        <p:spPr>
          <a:xfrm>
            <a:off x="105130" y="42861"/>
            <a:ext cx="1272540" cy="180819"/>
          </a:xfrm>
          <a:prstGeom prst="rect">
            <a:avLst/>
          </a:prstGeom>
        </p:spPr>
        <p:txBody>
          <a:bodyPr vert="horz" wrap="square" lIns="0" tIns="11430" rIns="0" bIns="0" rtlCol="0">
            <a:spAutoFit/>
          </a:bodyPr>
          <a:lstStyle/>
          <a:p>
            <a:pPr marL="12700">
              <a:lnSpc>
                <a:spcPct val="100000"/>
              </a:lnSpc>
              <a:spcBef>
                <a:spcPts val="90"/>
              </a:spcBef>
            </a:pPr>
            <a:r>
              <a:rPr spc="-25" dirty="0">
                <a:solidFill>
                  <a:schemeClr val="bg1"/>
                </a:solidFill>
              </a:rPr>
              <a:t>并发模型的演进路径</a:t>
            </a:r>
          </a:p>
        </p:txBody>
      </p:sp>
      <p:sp>
        <p:nvSpPr>
          <p:cNvPr id="3" name="object 3"/>
          <p:cNvSpPr/>
          <p:nvPr/>
        </p:nvSpPr>
        <p:spPr>
          <a:xfrm>
            <a:off x="0" y="252052"/>
            <a:ext cx="4608195" cy="0"/>
          </a:xfrm>
          <a:custGeom>
            <a:avLst/>
            <a:gdLst/>
            <a:ahLst/>
            <a:cxnLst/>
            <a:rect l="l" t="t" r="r" b="b"/>
            <a:pathLst>
              <a:path w="4608195">
                <a:moveTo>
                  <a:pt x="0" y="0"/>
                </a:moveTo>
                <a:lnTo>
                  <a:pt x="4608060" y="0"/>
                </a:lnTo>
              </a:path>
            </a:pathLst>
          </a:custGeom>
          <a:ln w="12652">
            <a:solidFill>
              <a:srgbClr val="1B4681"/>
            </a:solidFill>
          </a:ln>
        </p:spPr>
        <p:txBody>
          <a:bodyPr wrap="square" lIns="0" tIns="0" rIns="0" bIns="0" rtlCol="0"/>
          <a:lstStyle/>
          <a:p>
            <a:endParaRPr/>
          </a:p>
        </p:txBody>
      </p:sp>
      <p:grpSp>
        <p:nvGrpSpPr>
          <p:cNvPr id="4" name="object 4"/>
          <p:cNvGrpSpPr/>
          <p:nvPr/>
        </p:nvGrpSpPr>
        <p:grpSpPr>
          <a:xfrm>
            <a:off x="385665" y="851172"/>
            <a:ext cx="646430" cy="429259"/>
            <a:chOff x="385665" y="851172"/>
            <a:chExt cx="646430" cy="429259"/>
          </a:xfrm>
        </p:grpSpPr>
        <p:sp>
          <p:nvSpPr>
            <p:cNvPr id="5" name="object 5"/>
            <p:cNvSpPr/>
            <p:nvPr/>
          </p:nvSpPr>
          <p:spPr>
            <a:xfrm>
              <a:off x="388205" y="853712"/>
              <a:ext cx="641350" cy="424180"/>
            </a:xfrm>
            <a:custGeom>
              <a:avLst/>
              <a:gdLst/>
              <a:ahLst/>
              <a:cxnLst/>
              <a:rect l="l" t="t" r="r" b="b"/>
              <a:pathLst>
                <a:path w="641350" h="424180">
                  <a:moveTo>
                    <a:pt x="590196" y="0"/>
                  </a:moveTo>
                  <a:lnTo>
                    <a:pt x="50610" y="0"/>
                  </a:lnTo>
                  <a:lnTo>
                    <a:pt x="30910" y="3977"/>
                  </a:lnTo>
                  <a:lnTo>
                    <a:pt x="14823" y="14823"/>
                  </a:lnTo>
                  <a:lnTo>
                    <a:pt x="3977" y="30910"/>
                  </a:lnTo>
                  <a:lnTo>
                    <a:pt x="0" y="50610"/>
                  </a:lnTo>
                  <a:lnTo>
                    <a:pt x="0" y="373481"/>
                  </a:lnTo>
                  <a:lnTo>
                    <a:pt x="3977" y="393181"/>
                  </a:lnTo>
                  <a:lnTo>
                    <a:pt x="14823" y="409268"/>
                  </a:lnTo>
                  <a:lnTo>
                    <a:pt x="30910" y="420115"/>
                  </a:lnTo>
                  <a:lnTo>
                    <a:pt x="50610" y="424092"/>
                  </a:lnTo>
                  <a:lnTo>
                    <a:pt x="590196" y="424092"/>
                  </a:lnTo>
                  <a:lnTo>
                    <a:pt x="609896" y="420115"/>
                  </a:lnTo>
                  <a:lnTo>
                    <a:pt x="625983" y="409268"/>
                  </a:lnTo>
                  <a:lnTo>
                    <a:pt x="636830" y="393181"/>
                  </a:lnTo>
                  <a:lnTo>
                    <a:pt x="640807" y="373481"/>
                  </a:lnTo>
                  <a:lnTo>
                    <a:pt x="640807" y="50610"/>
                  </a:lnTo>
                  <a:lnTo>
                    <a:pt x="636830" y="30910"/>
                  </a:lnTo>
                  <a:lnTo>
                    <a:pt x="625983" y="14823"/>
                  </a:lnTo>
                  <a:lnTo>
                    <a:pt x="609896" y="3977"/>
                  </a:lnTo>
                  <a:lnTo>
                    <a:pt x="590196" y="0"/>
                  </a:lnTo>
                  <a:close/>
                </a:path>
              </a:pathLst>
            </a:custGeom>
            <a:solidFill>
              <a:srgbClr val="F4F4FF"/>
            </a:solidFill>
          </p:spPr>
          <p:txBody>
            <a:bodyPr wrap="square" lIns="0" tIns="0" rIns="0" bIns="0" rtlCol="0"/>
            <a:lstStyle/>
            <a:p>
              <a:endParaRPr/>
            </a:p>
          </p:txBody>
        </p:sp>
        <p:sp>
          <p:nvSpPr>
            <p:cNvPr id="6" name="object 6"/>
            <p:cNvSpPr/>
            <p:nvPr/>
          </p:nvSpPr>
          <p:spPr>
            <a:xfrm>
              <a:off x="388205" y="853712"/>
              <a:ext cx="641350" cy="424180"/>
            </a:xfrm>
            <a:custGeom>
              <a:avLst/>
              <a:gdLst/>
              <a:ahLst/>
              <a:cxnLst/>
              <a:rect l="l" t="t" r="r" b="b"/>
              <a:pathLst>
                <a:path w="641350" h="424180">
                  <a:moveTo>
                    <a:pt x="590196" y="0"/>
                  </a:moveTo>
                  <a:lnTo>
                    <a:pt x="50610" y="0"/>
                  </a:lnTo>
                  <a:lnTo>
                    <a:pt x="30910" y="3977"/>
                  </a:lnTo>
                  <a:lnTo>
                    <a:pt x="14823" y="14823"/>
                  </a:lnTo>
                  <a:lnTo>
                    <a:pt x="3977" y="30910"/>
                  </a:lnTo>
                  <a:lnTo>
                    <a:pt x="0" y="50610"/>
                  </a:lnTo>
                  <a:lnTo>
                    <a:pt x="0" y="373481"/>
                  </a:lnTo>
                  <a:lnTo>
                    <a:pt x="3977" y="393181"/>
                  </a:lnTo>
                  <a:lnTo>
                    <a:pt x="14823" y="409268"/>
                  </a:lnTo>
                  <a:lnTo>
                    <a:pt x="30910" y="420115"/>
                  </a:lnTo>
                  <a:lnTo>
                    <a:pt x="50610" y="424092"/>
                  </a:lnTo>
                  <a:lnTo>
                    <a:pt x="590196" y="424092"/>
                  </a:lnTo>
                  <a:lnTo>
                    <a:pt x="609896" y="420115"/>
                  </a:lnTo>
                  <a:lnTo>
                    <a:pt x="625983" y="409268"/>
                  </a:lnTo>
                  <a:lnTo>
                    <a:pt x="636830" y="393181"/>
                  </a:lnTo>
                  <a:lnTo>
                    <a:pt x="640807" y="373481"/>
                  </a:lnTo>
                  <a:lnTo>
                    <a:pt x="640807" y="50610"/>
                  </a:lnTo>
                  <a:lnTo>
                    <a:pt x="636830" y="30910"/>
                  </a:lnTo>
                  <a:lnTo>
                    <a:pt x="625983" y="14823"/>
                  </a:lnTo>
                  <a:lnTo>
                    <a:pt x="609896" y="3977"/>
                  </a:lnTo>
                  <a:lnTo>
                    <a:pt x="590196" y="0"/>
                  </a:lnTo>
                  <a:close/>
                </a:path>
              </a:pathLst>
            </a:custGeom>
            <a:ln w="5060">
              <a:solidFill>
                <a:srgbClr val="000000"/>
              </a:solidFill>
            </a:ln>
          </p:spPr>
          <p:txBody>
            <a:bodyPr wrap="square" lIns="0" tIns="0" rIns="0" bIns="0" rtlCol="0"/>
            <a:lstStyle/>
            <a:p>
              <a:endParaRPr/>
            </a:p>
          </p:txBody>
        </p:sp>
      </p:grpSp>
      <p:sp>
        <p:nvSpPr>
          <p:cNvPr id="7" name="object 7"/>
          <p:cNvSpPr txBox="1"/>
          <p:nvPr/>
        </p:nvSpPr>
        <p:spPr>
          <a:xfrm>
            <a:off x="544080" y="867421"/>
            <a:ext cx="329565" cy="387350"/>
          </a:xfrm>
          <a:prstGeom prst="rect">
            <a:avLst/>
          </a:prstGeom>
        </p:spPr>
        <p:txBody>
          <a:bodyPr vert="horz" wrap="square" lIns="0" tIns="17145" rIns="0" bIns="0" rtlCol="0">
            <a:spAutoFit/>
          </a:bodyPr>
          <a:lstStyle/>
          <a:p>
            <a:pPr marL="12700" marR="5080" indent="50165">
              <a:lnSpc>
                <a:spcPts val="950"/>
              </a:lnSpc>
              <a:spcBef>
                <a:spcPts val="135"/>
              </a:spcBef>
            </a:pPr>
            <a:r>
              <a:rPr sz="800" spc="-30" dirty="0">
                <a:latin typeface="SimSun"/>
                <a:cs typeface="SimSun"/>
              </a:rPr>
              <a:t>进程</a:t>
            </a:r>
            <a:r>
              <a:rPr sz="800" spc="-25" dirty="0">
                <a:latin typeface="SimSun"/>
                <a:cs typeface="SimSun"/>
              </a:rPr>
              <a:t>隔离强开销大</a:t>
            </a:r>
            <a:endParaRPr sz="800">
              <a:latin typeface="SimSun"/>
              <a:cs typeface="SimSun"/>
            </a:endParaRPr>
          </a:p>
        </p:txBody>
      </p:sp>
      <p:grpSp>
        <p:nvGrpSpPr>
          <p:cNvPr id="8" name="object 8"/>
          <p:cNvGrpSpPr/>
          <p:nvPr/>
        </p:nvGrpSpPr>
        <p:grpSpPr>
          <a:xfrm>
            <a:off x="1153934" y="850381"/>
            <a:ext cx="646430" cy="431165"/>
            <a:chOff x="1153934" y="850381"/>
            <a:chExt cx="646430" cy="431165"/>
          </a:xfrm>
        </p:grpSpPr>
        <p:sp>
          <p:nvSpPr>
            <p:cNvPr id="9" name="object 9"/>
            <p:cNvSpPr/>
            <p:nvPr/>
          </p:nvSpPr>
          <p:spPr>
            <a:xfrm>
              <a:off x="1156474" y="852921"/>
              <a:ext cx="641350" cy="426084"/>
            </a:xfrm>
            <a:custGeom>
              <a:avLst/>
              <a:gdLst/>
              <a:ahLst/>
              <a:cxnLst/>
              <a:rect l="l" t="t" r="r" b="b"/>
              <a:pathLst>
                <a:path w="641350" h="426084">
                  <a:moveTo>
                    <a:pt x="590196" y="0"/>
                  </a:moveTo>
                  <a:lnTo>
                    <a:pt x="50610" y="0"/>
                  </a:lnTo>
                  <a:lnTo>
                    <a:pt x="30910" y="3977"/>
                  </a:lnTo>
                  <a:lnTo>
                    <a:pt x="14823" y="14823"/>
                  </a:lnTo>
                  <a:lnTo>
                    <a:pt x="3977" y="30910"/>
                  </a:lnTo>
                  <a:lnTo>
                    <a:pt x="0" y="50610"/>
                  </a:lnTo>
                  <a:lnTo>
                    <a:pt x="0" y="375063"/>
                  </a:lnTo>
                  <a:lnTo>
                    <a:pt x="3977" y="394763"/>
                  </a:lnTo>
                  <a:lnTo>
                    <a:pt x="14823" y="410850"/>
                  </a:lnTo>
                  <a:lnTo>
                    <a:pt x="30910" y="421696"/>
                  </a:lnTo>
                  <a:lnTo>
                    <a:pt x="50610" y="425674"/>
                  </a:lnTo>
                  <a:lnTo>
                    <a:pt x="590196" y="425674"/>
                  </a:lnTo>
                  <a:lnTo>
                    <a:pt x="609896" y="421696"/>
                  </a:lnTo>
                  <a:lnTo>
                    <a:pt x="625983" y="410850"/>
                  </a:lnTo>
                  <a:lnTo>
                    <a:pt x="636830" y="394763"/>
                  </a:lnTo>
                  <a:lnTo>
                    <a:pt x="640807" y="375063"/>
                  </a:lnTo>
                  <a:lnTo>
                    <a:pt x="640807" y="50610"/>
                  </a:lnTo>
                  <a:lnTo>
                    <a:pt x="636830" y="30910"/>
                  </a:lnTo>
                  <a:lnTo>
                    <a:pt x="625983" y="14823"/>
                  </a:lnTo>
                  <a:lnTo>
                    <a:pt x="609896" y="3977"/>
                  </a:lnTo>
                  <a:lnTo>
                    <a:pt x="590196" y="0"/>
                  </a:lnTo>
                  <a:close/>
                </a:path>
              </a:pathLst>
            </a:custGeom>
            <a:solidFill>
              <a:srgbClr val="F4F4FF"/>
            </a:solidFill>
          </p:spPr>
          <p:txBody>
            <a:bodyPr wrap="square" lIns="0" tIns="0" rIns="0" bIns="0" rtlCol="0"/>
            <a:lstStyle/>
            <a:p>
              <a:endParaRPr/>
            </a:p>
          </p:txBody>
        </p:sp>
        <p:sp>
          <p:nvSpPr>
            <p:cNvPr id="10" name="object 10"/>
            <p:cNvSpPr/>
            <p:nvPr/>
          </p:nvSpPr>
          <p:spPr>
            <a:xfrm>
              <a:off x="1156474" y="852921"/>
              <a:ext cx="641350" cy="426084"/>
            </a:xfrm>
            <a:custGeom>
              <a:avLst/>
              <a:gdLst/>
              <a:ahLst/>
              <a:cxnLst/>
              <a:rect l="l" t="t" r="r" b="b"/>
              <a:pathLst>
                <a:path w="641350" h="426084">
                  <a:moveTo>
                    <a:pt x="590196" y="0"/>
                  </a:moveTo>
                  <a:lnTo>
                    <a:pt x="50610" y="0"/>
                  </a:lnTo>
                  <a:lnTo>
                    <a:pt x="30910" y="3977"/>
                  </a:lnTo>
                  <a:lnTo>
                    <a:pt x="14823" y="14823"/>
                  </a:lnTo>
                  <a:lnTo>
                    <a:pt x="3977" y="30910"/>
                  </a:lnTo>
                  <a:lnTo>
                    <a:pt x="0" y="50610"/>
                  </a:lnTo>
                  <a:lnTo>
                    <a:pt x="0" y="375063"/>
                  </a:lnTo>
                  <a:lnTo>
                    <a:pt x="3977" y="394763"/>
                  </a:lnTo>
                  <a:lnTo>
                    <a:pt x="14823" y="410850"/>
                  </a:lnTo>
                  <a:lnTo>
                    <a:pt x="30910" y="421696"/>
                  </a:lnTo>
                  <a:lnTo>
                    <a:pt x="50610" y="425674"/>
                  </a:lnTo>
                  <a:lnTo>
                    <a:pt x="590196" y="425674"/>
                  </a:lnTo>
                  <a:lnTo>
                    <a:pt x="609896" y="421696"/>
                  </a:lnTo>
                  <a:lnTo>
                    <a:pt x="625983" y="410850"/>
                  </a:lnTo>
                  <a:lnTo>
                    <a:pt x="636830" y="394763"/>
                  </a:lnTo>
                  <a:lnTo>
                    <a:pt x="640807" y="375063"/>
                  </a:lnTo>
                  <a:lnTo>
                    <a:pt x="640807" y="50610"/>
                  </a:lnTo>
                  <a:lnTo>
                    <a:pt x="636830" y="30910"/>
                  </a:lnTo>
                  <a:lnTo>
                    <a:pt x="625983" y="14823"/>
                  </a:lnTo>
                  <a:lnTo>
                    <a:pt x="609896" y="3977"/>
                  </a:lnTo>
                  <a:lnTo>
                    <a:pt x="590196" y="0"/>
                  </a:lnTo>
                  <a:close/>
                </a:path>
              </a:pathLst>
            </a:custGeom>
            <a:ln w="5060">
              <a:solidFill>
                <a:srgbClr val="000000"/>
              </a:solidFill>
            </a:ln>
          </p:spPr>
          <p:txBody>
            <a:bodyPr wrap="square" lIns="0" tIns="0" rIns="0" bIns="0" rtlCol="0"/>
            <a:lstStyle/>
            <a:p>
              <a:endParaRPr/>
            </a:p>
          </p:txBody>
        </p:sp>
      </p:grpSp>
      <p:sp>
        <p:nvSpPr>
          <p:cNvPr id="11" name="object 11"/>
          <p:cNvSpPr txBox="1"/>
          <p:nvPr/>
        </p:nvSpPr>
        <p:spPr>
          <a:xfrm>
            <a:off x="1261732" y="868221"/>
            <a:ext cx="430530" cy="387350"/>
          </a:xfrm>
          <a:prstGeom prst="rect">
            <a:avLst/>
          </a:prstGeom>
        </p:spPr>
        <p:txBody>
          <a:bodyPr vert="horz" wrap="square" lIns="0" tIns="17145" rIns="0" bIns="0" rtlCol="0">
            <a:spAutoFit/>
          </a:bodyPr>
          <a:lstStyle/>
          <a:p>
            <a:pPr marL="12700" marR="5080" indent="100965">
              <a:lnSpc>
                <a:spcPts val="950"/>
              </a:lnSpc>
              <a:spcBef>
                <a:spcPts val="135"/>
              </a:spcBef>
            </a:pPr>
            <a:r>
              <a:rPr sz="800" spc="-30" dirty="0">
                <a:latin typeface="SimSun"/>
                <a:cs typeface="SimSun"/>
              </a:rPr>
              <a:t>线程</a:t>
            </a:r>
            <a:r>
              <a:rPr sz="800" spc="-50" dirty="0">
                <a:latin typeface="SimSun"/>
                <a:cs typeface="SimSun"/>
              </a:rPr>
              <a:t> </a:t>
            </a:r>
            <a:r>
              <a:rPr sz="800" spc="-20" dirty="0">
                <a:latin typeface="SimSun"/>
                <a:cs typeface="SimSun"/>
              </a:rPr>
              <a:t>共享内存写法直观</a:t>
            </a:r>
            <a:endParaRPr sz="800">
              <a:latin typeface="SimSun"/>
              <a:cs typeface="SimSun"/>
            </a:endParaRPr>
          </a:p>
        </p:txBody>
      </p:sp>
      <p:grpSp>
        <p:nvGrpSpPr>
          <p:cNvPr id="12" name="object 12"/>
          <p:cNvGrpSpPr/>
          <p:nvPr/>
        </p:nvGrpSpPr>
        <p:grpSpPr>
          <a:xfrm>
            <a:off x="1922202" y="850381"/>
            <a:ext cx="704850" cy="431165"/>
            <a:chOff x="1922202" y="850381"/>
            <a:chExt cx="704850" cy="431165"/>
          </a:xfrm>
        </p:grpSpPr>
        <p:sp>
          <p:nvSpPr>
            <p:cNvPr id="13" name="object 13"/>
            <p:cNvSpPr/>
            <p:nvPr/>
          </p:nvSpPr>
          <p:spPr>
            <a:xfrm>
              <a:off x="1924742" y="852921"/>
              <a:ext cx="699770" cy="426084"/>
            </a:xfrm>
            <a:custGeom>
              <a:avLst/>
              <a:gdLst/>
              <a:ahLst/>
              <a:cxnLst/>
              <a:rect l="l" t="t" r="r" b="b"/>
              <a:pathLst>
                <a:path w="699769" h="426084">
                  <a:moveTo>
                    <a:pt x="649074" y="0"/>
                  </a:moveTo>
                  <a:lnTo>
                    <a:pt x="50610" y="0"/>
                  </a:lnTo>
                  <a:lnTo>
                    <a:pt x="30910" y="3977"/>
                  </a:lnTo>
                  <a:lnTo>
                    <a:pt x="14823" y="14823"/>
                  </a:lnTo>
                  <a:lnTo>
                    <a:pt x="3977" y="30910"/>
                  </a:lnTo>
                  <a:lnTo>
                    <a:pt x="0" y="50610"/>
                  </a:lnTo>
                  <a:lnTo>
                    <a:pt x="0" y="375063"/>
                  </a:lnTo>
                  <a:lnTo>
                    <a:pt x="3977" y="394763"/>
                  </a:lnTo>
                  <a:lnTo>
                    <a:pt x="14823" y="410850"/>
                  </a:lnTo>
                  <a:lnTo>
                    <a:pt x="30910" y="421696"/>
                  </a:lnTo>
                  <a:lnTo>
                    <a:pt x="50610" y="425674"/>
                  </a:lnTo>
                  <a:lnTo>
                    <a:pt x="649074" y="425674"/>
                  </a:lnTo>
                  <a:lnTo>
                    <a:pt x="668774" y="421696"/>
                  </a:lnTo>
                  <a:lnTo>
                    <a:pt x="684861" y="410850"/>
                  </a:lnTo>
                  <a:lnTo>
                    <a:pt x="695707" y="394763"/>
                  </a:lnTo>
                  <a:lnTo>
                    <a:pt x="699685" y="375063"/>
                  </a:lnTo>
                  <a:lnTo>
                    <a:pt x="699685" y="50610"/>
                  </a:lnTo>
                  <a:lnTo>
                    <a:pt x="695707" y="30910"/>
                  </a:lnTo>
                  <a:lnTo>
                    <a:pt x="684861" y="14823"/>
                  </a:lnTo>
                  <a:lnTo>
                    <a:pt x="668774" y="3977"/>
                  </a:lnTo>
                  <a:lnTo>
                    <a:pt x="649074" y="0"/>
                  </a:lnTo>
                  <a:close/>
                </a:path>
              </a:pathLst>
            </a:custGeom>
            <a:solidFill>
              <a:srgbClr val="F4F4FF"/>
            </a:solidFill>
          </p:spPr>
          <p:txBody>
            <a:bodyPr wrap="square" lIns="0" tIns="0" rIns="0" bIns="0" rtlCol="0"/>
            <a:lstStyle/>
            <a:p>
              <a:endParaRPr/>
            </a:p>
          </p:txBody>
        </p:sp>
        <p:sp>
          <p:nvSpPr>
            <p:cNvPr id="14" name="object 14"/>
            <p:cNvSpPr/>
            <p:nvPr/>
          </p:nvSpPr>
          <p:spPr>
            <a:xfrm>
              <a:off x="1924742" y="852921"/>
              <a:ext cx="699770" cy="426084"/>
            </a:xfrm>
            <a:custGeom>
              <a:avLst/>
              <a:gdLst/>
              <a:ahLst/>
              <a:cxnLst/>
              <a:rect l="l" t="t" r="r" b="b"/>
              <a:pathLst>
                <a:path w="699769" h="426084">
                  <a:moveTo>
                    <a:pt x="649074" y="0"/>
                  </a:moveTo>
                  <a:lnTo>
                    <a:pt x="50610" y="0"/>
                  </a:lnTo>
                  <a:lnTo>
                    <a:pt x="30910" y="3977"/>
                  </a:lnTo>
                  <a:lnTo>
                    <a:pt x="14823" y="14823"/>
                  </a:lnTo>
                  <a:lnTo>
                    <a:pt x="3977" y="30910"/>
                  </a:lnTo>
                  <a:lnTo>
                    <a:pt x="0" y="50610"/>
                  </a:lnTo>
                  <a:lnTo>
                    <a:pt x="0" y="375063"/>
                  </a:lnTo>
                  <a:lnTo>
                    <a:pt x="3977" y="394763"/>
                  </a:lnTo>
                  <a:lnTo>
                    <a:pt x="14823" y="410850"/>
                  </a:lnTo>
                  <a:lnTo>
                    <a:pt x="30910" y="421696"/>
                  </a:lnTo>
                  <a:lnTo>
                    <a:pt x="50610" y="425674"/>
                  </a:lnTo>
                  <a:lnTo>
                    <a:pt x="649074" y="425674"/>
                  </a:lnTo>
                  <a:lnTo>
                    <a:pt x="668774" y="421696"/>
                  </a:lnTo>
                  <a:lnTo>
                    <a:pt x="684861" y="410850"/>
                  </a:lnTo>
                  <a:lnTo>
                    <a:pt x="695707" y="394763"/>
                  </a:lnTo>
                  <a:lnTo>
                    <a:pt x="699685" y="375063"/>
                  </a:lnTo>
                  <a:lnTo>
                    <a:pt x="699685" y="50610"/>
                  </a:lnTo>
                  <a:lnTo>
                    <a:pt x="695707" y="30910"/>
                  </a:lnTo>
                  <a:lnTo>
                    <a:pt x="684861" y="14823"/>
                  </a:lnTo>
                  <a:lnTo>
                    <a:pt x="668774" y="3977"/>
                  </a:lnTo>
                  <a:lnTo>
                    <a:pt x="649074" y="0"/>
                  </a:lnTo>
                  <a:close/>
                </a:path>
              </a:pathLst>
            </a:custGeom>
            <a:ln w="5060">
              <a:solidFill>
                <a:srgbClr val="000000"/>
              </a:solidFill>
            </a:ln>
          </p:spPr>
          <p:txBody>
            <a:bodyPr wrap="square" lIns="0" tIns="0" rIns="0" bIns="0" rtlCol="0"/>
            <a:lstStyle/>
            <a:p>
              <a:endParaRPr/>
            </a:p>
          </p:txBody>
        </p:sp>
      </p:grpSp>
      <p:sp>
        <p:nvSpPr>
          <p:cNvPr id="15" name="object 15"/>
          <p:cNvSpPr txBox="1"/>
          <p:nvPr/>
        </p:nvSpPr>
        <p:spPr>
          <a:xfrm>
            <a:off x="1958225" y="868221"/>
            <a:ext cx="633095" cy="387350"/>
          </a:xfrm>
          <a:prstGeom prst="rect">
            <a:avLst/>
          </a:prstGeom>
        </p:spPr>
        <p:txBody>
          <a:bodyPr vert="horz" wrap="square" lIns="0" tIns="17145" rIns="0" bIns="0" rtlCol="0">
            <a:spAutoFit/>
          </a:bodyPr>
          <a:lstStyle/>
          <a:p>
            <a:pPr marL="113664" marR="106045" algn="ctr">
              <a:lnSpc>
                <a:spcPts val="950"/>
              </a:lnSpc>
              <a:spcBef>
                <a:spcPts val="135"/>
              </a:spcBef>
            </a:pPr>
            <a:r>
              <a:rPr sz="800" spc="-20" dirty="0">
                <a:latin typeface="SimSun"/>
                <a:cs typeface="SimSun"/>
              </a:rPr>
              <a:t>事件驱动少量线程</a:t>
            </a:r>
            <a:endParaRPr sz="800">
              <a:latin typeface="SimSun"/>
              <a:cs typeface="SimSun"/>
            </a:endParaRPr>
          </a:p>
          <a:p>
            <a:pPr algn="ctr">
              <a:lnSpc>
                <a:spcPts val="915"/>
              </a:lnSpc>
            </a:pPr>
            <a:r>
              <a:rPr sz="800" spc="-20" dirty="0">
                <a:latin typeface="SimSun"/>
                <a:cs typeface="SimSun"/>
              </a:rPr>
              <a:t>处理大量连接</a:t>
            </a:r>
            <a:endParaRPr sz="800">
              <a:latin typeface="SimSun"/>
              <a:cs typeface="SimSun"/>
            </a:endParaRPr>
          </a:p>
        </p:txBody>
      </p:sp>
      <p:grpSp>
        <p:nvGrpSpPr>
          <p:cNvPr id="16" name="object 16"/>
          <p:cNvGrpSpPr/>
          <p:nvPr/>
        </p:nvGrpSpPr>
        <p:grpSpPr>
          <a:xfrm>
            <a:off x="2749349" y="850579"/>
            <a:ext cx="646430" cy="430530"/>
            <a:chOff x="2749349" y="850579"/>
            <a:chExt cx="646430" cy="430530"/>
          </a:xfrm>
        </p:grpSpPr>
        <p:sp>
          <p:nvSpPr>
            <p:cNvPr id="17" name="object 17"/>
            <p:cNvSpPr/>
            <p:nvPr/>
          </p:nvSpPr>
          <p:spPr>
            <a:xfrm>
              <a:off x="2751889" y="853119"/>
              <a:ext cx="641350" cy="425450"/>
            </a:xfrm>
            <a:custGeom>
              <a:avLst/>
              <a:gdLst/>
              <a:ahLst/>
              <a:cxnLst/>
              <a:rect l="l" t="t" r="r" b="b"/>
              <a:pathLst>
                <a:path w="641350" h="425450">
                  <a:moveTo>
                    <a:pt x="590196" y="0"/>
                  </a:moveTo>
                  <a:lnTo>
                    <a:pt x="50610" y="0"/>
                  </a:lnTo>
                  <a:lnTo>
                    <a:pt x="30910" y="3977"/>
                  </a:lnTo>
                  <a:lnTo>
                    <a:pt x="14823" y="14823"/>
                  </a:lnTo>
                  <a:lnTo>
                    <a:pt x="3977" y="30910"/>
                  </a:lnTo>
                  <a:lnTo>
                    <a:pt x="0" y="50610"/>
                  </a:lnTo>
                  <a:lnTo>
                    <a:pt x="0" y="374667"/>
                  </a:lnTo>
                  <a:lnTo>
                    <a:pt x="3977" y="394368"/>
                  </a:lnTo>
                  <a:lnTo>
                    <a:pt x="14823" y="410455"/>
                  </a:lnTo>
                  <a:lnTo>
                    <a:pt x="30910" y="421301"/>
                  </a:lnTo>
                  <a:lnTo>
                    <a:pt x="50610" y="425278"/>
                  </a:lnTo>
                  <a:lnTo>
                    <a:pt x="590196" y="425278"/>
                  </a:lnTo>
                  <a:lnTo>
                    <a:pt x="609896" y="421301"/>
                  </a:lnTo>
                  <a:lnTo>
                    <a:pt x="625983" y="410455"/>
                  </a:lnTo>
                  <a:lnTo>
                    <a:pt x="636830" y="394368"/>
                  </a:lnTo>
                  <a:lnTo>
                    <a:pt x="640807" y="374667"/>
                  </a:lnTo>
                  <a:lnTo>
                    <a:pt x="640807" y="50610"/>
                  </a:lnTo>
                  <a:lnTo>
                    <a:pt x="636830" y="30910"/>
                  </a:lnTo>
                  <a:lnTo>
                    <a:pt x="625983" y="14823"/>
                  </a:lnTo>
                  <a:lnTo>
                    <a:pt x="609896" y="3977"/>
                  </a:lnTo>
                  <a:lnTo>
                    <a:pt x="590196" y="0"/>
                  </a:lnTo>
                  <a:close/>
                </a:path>
              </a:pathLst>
            </a:custGeom>
            <a:solidFill>
              <a:srgbClr val="F4F4FF"/>
            </a:solidFill>
          </p:spPr>
          <p:txBody>
            <a:bodyPr wrap="square" lIns="0" tIns="0" rIns="0" bIns="0" rtlCol="0"/>
            <a:lstStyle/>
            <a:p>
              <a:endParaRPr/>
            </a:p>
          </p:txBody>
        </p:sp>
        <p:sp>
          <p:nvSpPr>
            <p:cNvPr id="18" name="object 18"/>
            <p:cNvSpPr/>
            <p:nvPr/>
          </p:nvSpPr>
          <p:spPr>
            <a:xfrm>
              <a:off x="2751889" y="853119"/>
              <a:ext cx="641350" cy="425450"/>
            </a:xfrm>
            <a:custGeom>
              <a:avLst/>
              <a:gdLst/>
              <a:ahLst/>
              <a:cxnLst/>
              <a:rect l="l" t="t" r="r" b="b"/>
              <a:pathLst>
                <a:path w="641350" h="425450">
                  <a:moveTo>
                    <a:pt x="590196" y="0"/>
                  </a:moveTo>
                  <a:lnTo>
                    <a:pt x="50610" y="0"/>
                  </a:lnTo>
                  <a:lnTo>
                    <a:pt x="30910" y="3977"/>
                  </a:lnTo>
                  <a:lnTo>
                    <a:pt x="14823" y="14823"/>
                  </a:lnTo>
                  <a:lnTo>
                    <a:pt x="3977" y="30910"/>
                  </a:lnTo>
                  <a:lnTo>
                    <a:pt x="0" y="50610"/>
                  </a:lnTo>
                  <a:lnTo>
                    <a:pt x="0" y="374667"/>
                  </a:lnTo>
                  <a:lnTo>
                    <a:pt x="3977" y="394368"/>
                  </a:lnTo>
                  <a:lnTo>
                    <a:pt x="14823" y="410455"/>
                  </a:lnTo>
                  <a:lnTo>
                    <a:pt x="30910" y="421301"/>
                  </a:lnTo>
                  <a:lnTo>
                    <a:pt x="50610" y="425278"/>
                  </a:lnTo>
                  <a:lnTo>
                    <a:pt x="590196" y="425278"/>
                  </a:lnTo>
                  <a:lnTo>
                    <a:pt x="609896" y="421301"/>
                  </a:lnTo>
                  <a:lnTo>
                    <a:pt x="625983" y="410455"/>
                  </a:lnTo>
                  <a:lnTo>
                    <a:pt x="636830" y="394368"/>
                  </a:lnTo>
                  <a:lnTo>
                    <a:pt x="640807" y="374667"/>
                  </a:lnTo>
                  <a:lnTo>
                    <a:pt x="640807" y="50610"/>
                  </a:lnTo>
                  <a:lnTo>
                    <a:pt x="636830" y="30910"/>
                  </a:lnTo>
                  <a:lnTo>
                    <a:pt x="625983" y="14823"/>
                  </a:lnTo>
                  <a:lnTo>
                    <a:pt x="609896" y="3977"/>
                  </a:lnTo>
                  <a:lnTo>
                    <a:pt x="590196" y="0"/>
                  </a:lnTo>
                  <a:close/>
                </a:path>
              </a:pathLst>
            </a:custGeom>
            <a:ln w="5060">
              <a:solidFill>
                <a:srgbClr val="000000"/>
              </a:solidFill>
            </a:ln>
          </p:spPr>
          <p:txBody>
            <a:bodyPr wrap="square" lIns="0" tIns="0" rIns="0" bIns="0" rtlCol="0"/>
            <a:lstStyle/>
            <a:p>
              <a:endParaRPr/>
            </a:p>
          </p:txBody>
        </p:sp>
      </p:grpSp>
      <p:sp>
        <p:nvSpPr>
          <p:cNvPr id="19" name="object 19"/>
          <p:cNvSpPr txBox="1"/>
          <p:nvPr/>
        </p:nvSpPr>
        <p:spPr>
          <a:xfrm>
            <a:off x="2857144" y="867624"/>
            <a:ext cx="430530" cy="387350"/>
          </a:xfrm>
          <a:prstGeom prst="rect">
            <a:avLst/>
          </a:prstGeom>
        </p:spPr>
        <p:txBody>
          <a:bodyPr vert="horz" wrap="square" lIns="0" tIns="17145" rIns="0" bIns="0" rtlCol="0">
            <a:spAutoFit/>
          </a:bodyPr>
          <a:lstStyle/>
          <a:p>
            <a:pPr marL="12700" marR="5080" indent="100965">
              <a:lnSpc>
                <a:spcPts val="950"/>
              </a:lnSpc>
              <a:spcBef>
                <a:spcPts val="135"/>
              </a:spcBef>
            </a:pPr>
            <a:r>
              <a:rPr sz="800" spc="-30" dirty="0">
                <a:latin typeface="SimSun"/>
                <a:cs typeface="SimSun"/>
              </a:rPr>
              <a:t>协程</a:t>
            </a:r>
            <a:r>
              <a:rPr sz="800" spc="-50" dirty="0">
                <a:latin typeface="SimSun"/>
                <a:cs typeface="SimSun"/>
              </a:rPr>
              <a:t> </a:t>
            </a:r>
            <a:r>
              <a:rPr sz="800" spc="-20" dirty="0">
                <a:latin typeface="SimSun"/>
                <a:cs typeface="SimSun"/>
              </a:rPr>
              <a:t>异步效率同步体验</a:t>
            </a:r>
            <a:endParaRPr sz="800">
              <a:latin typeface="SimSun"/>
              <a:cs typeface="SimSun"/>
            </a:endParaRPr>
          </a:p>
        </p:txBody>
      </p:sp>
      <p:grpSp>
        <p:nvGrpSpPr>
          <p:cNvPr id="20" name="object 20"/>
          <p:cNvGrpSpPr/>
          <p:nvPr/>
        </p:nvGrpSpPr>
        <p:grpSpPr>
          <a:xfrm>
            <a:off x="3517617" y="850184"/>
            <a:ext cx="704850" cy="431165"/>
            <a:chOff x="3517617" y="850184"/>
            <a:chExt cx="704850" cy="431165"/>
          </a:xfrm>
        </p:grpSpPr>
        <p:sp>
          <p:nvSpPr>
            <p:cNvPr id="21" name="object 21"/>
            <p:cNvSpPr/>
            <p:nvPr/>
          </p:nvSpPr>
          <p:spPr>
            <a:xfrm>
              <a:off x="3520157" y="852724"/>
              <a:ext cx="699770" cy="426084"/>
            </a:xfrm>
            <a:custGeom>
              <a:avLst/>
              <a:gdLst/>
              <a:ahLst/>
              <a:cxnLst/>
              <a:rect l="l" t="t" r="r" b="b"/>
              <a:pathLst>
                <a:path w="699770" h="426084">
                  <a:moveTo>
                    <a:pt x="649074" y="0"/>
                  </a:moveTo>
                  <a:lnTo>
                    <a:pt x="50610" y="0"/>
                  </a:lnTo>
                  <a:lnTo>
                    <a:pt x="30910" y="3977"/>
                  </a:lnTo>
                  <a:lnTo>
                    <a:pt x="14823" y="14823"/>
                  </a:lnTo>
                  <a:lnTo>
                    <a:pt x="3977" y="30910"/>
                  </a:lnTo>
                  <a:lnTo>
                    <a:pt x="0" y="50610"/>
                  </a:lnTo>
                  <a:lnTo>
                    <a:pt x="0" y="375458"/>
                  </a:lnTo>
                  <a:lnTo>
                    <a:pt x="3977" y="395158"/>
                  </a:lnTo>
                  <a:lnTo>
                    <a:pt x="14823" y="411245"/>
                  </a:lnTo>
                  <a:lnTo>
                    <a:pt x="30910" y="422092"/>
                  </a:lnTo>
                  <a:lnTo>
                    <a:pt x="50610" y="426069"/>
                  </a:lnTo>
                  <a:lnTo>
                    <a:pt x="649074" y="426069"/>
                  </a:lnTo>
                  <a:lnTo>
                    <a:pt x="668774" y="422092"/>
                  </a:lnTo>
                  <a:lnTo>
                    <a:pt x="684861" y="411245"/>
                  </a:lnTo>
                  <a:lnTo>
                    <a:pt x="695707" y="395158"/>
                  </a:lnTo>
                  <a:lnTo>
                    <a:pt x="699685" y="375458"/>
                  </a:lnTo>
                  <a:lnTo>
                    <a:pt x="699685" y="50610"/>
                  </a:lnTo>
                  <a:lnTo>
                    <a:pt x="695707" y="30910"/>
                  </a:lnTo>
                  <a:lnTo>
                    <a:pt x="684861" y="14823"/>
                  </a:lnTo>
                  <a:lnTo>
                    <a:pt x="668774" y="3977"/>
                  </a:lnTo>
                  <a:lnTo>
                    <a:pt x="649074" y="0"/>
                  </a:lnTo>
                  <a:close/>
                </a:path>
              </a:pathLst>
            </a:custGeom>
            <a:solidFill>
              <a:srgbClr val="F4F4FF"/>
            </a:solidFill>
          </p:spPr>
          <p:txBody>
            <a:bodyPr wrap="square" lIns="0" tIns="0" rIns="0" bIns="0" rtlCol="0"/>
            <a:lstStyle/>
            <a:p>
              <a:endParaRPr/>
            </a:p>
          </p:txBody>
        </p:sp>
        <p:sp>
          <p:nvSpPr>
            <p:cNvPr id="22" name="object 22"/>
            <p:cNvSpPr/>
            <p:nvPr/>
          </p:nvSpPr>
          <p:spPr>
            <a:xfrm>
              <a:off x="3520157" y="852724"/>
              <a:ext cx="699770" cy="426084"/>
            </a:xfrm>
            <a:custGeom>
              <a:avLst/>
              <a:gdLst/>
              <a:ahLst/>
              <a:cxnLst/>
              <a:rect l="l" t="t" r="r" b="b"/>
              <a:pathLst>
                <a:path w="699770" h="426084">
                  <a:moveTo>
                    <a:pt x="649074" y="0"/>
                  </a:moveTo>
                  <a:lnTo>
                    <a:pt x="50610" y="0"/>
                  </a:lnTo>
                  <a:lnTo>
                    <a:pt x="30910" y="3977"/>
                  </a:lnTo>
                  <a:lnTo>
                    <a:pt x="14823" y="14823"/>
                  </a:lnTo>
                  <a:lnTo>
                    <a:pt x="3977" y="30910"/>
                  </a:lnTo>
                  <a:lnTo>
                    <a:pt x="0" y="50610"/>
                  </a:lnTo>
                  <a:lnTo>
                    <a:pt x="0" y="375458"/>
                  </a:lnTo>
                  <a:lnTo>
                    <a:pt x="3977" y="395158"/>
                  </a:lnTo>
                  <a:lnTo>
                    <a:pt x="14823" y="411245"/>
                  </a:lnTo>
                  <a:lnTo>
                    <a:pt x="30910" y="422092"/>
                  </a:lnTo>
                  <a:lnTo>
                    <a:pt x="50610" y="426069"/>
                  </a:lnTo>
                  <a:lnTo>
                    <a:pt x="649074" y="426069"/>
                  </a:lnTo>
                  <a:lnTo>
                    <a:pt x="668774" y="422092"/>
                  </a:lnTo>
                  <a:lnTo>
                    <a:pt x="684861" y="411245"/>
                  </a:lnTo>
                  <a:lnTo>
                    <a:pt x="695707" y="395158"/>
                  </a:lnTo>
                  <a:lnTo>
                    <a:pt x="699685" y="375458"/>
                  </a:lnTo>
                  <a:lnTo>
                    <a:pt x="699685" y="50610"/>
                  </a:lnTo>
                  <a:lnTo>
                    <a:pt x="695707" y="30910"/>
                  </a:lnTo>
                  <a:lnTo>
                    <a:pt x="684861" y="14823"/>
                  </a:lnTo>
                  <a:lnTo>
                    <a:pt x="668774" y="3977"/>
                  </a:lnTo>
                  <a:lnTo>
                    <a:pt x="649074" y="0"/>
                  </a:lnTo>
                  <a:close/>
                </a:path>
              </a:pathLst>
            </a:custGeom>
            <a:ln w="5060">
              <a:solidFill>
                <a:srgbClr val="000000"/>
              </a:solidFill>
            </a:ln>
          </p:spPr>
          <p:txBody>
            <a:bodyPr wrap="square" lIns="0" tIns="0" rIns="0" bIns="0" rtlCol="0"/>
            <a:lstStyle/>
            <a:p>
              <a:endParaRPr/>
            </a:p>
          </p:txBody>
        </p:sp>
      </p:grpSp>
      <p:sp>
        <p:nvSpPr>
          <p:cNvPr id="23" name="object 23"/>
          <p:cNvSpPr txBox="1"/>
          <p:nvPr/>
        </p:nvSpPr>
        <p:spPr>
          <a:xfrm>
            <a:off x="3553637" y="868018"/>
            <a:ext cx="633095" cy="387350"/>
          </a:xfrm>
          <a:prstGeom prst="rect">
            <a:avLst/>
          </a:prstGeom>
        </p:spPr>
        <p:txBody>
          <a:bodyPr vert="horz" wrap="square" lIns="0" tIns="17145" rIns="0" bIns="0" rtlCol="0">
            <a:spAutoFit/>
          </a:bodyPr>
          <a:lstStyle/>
          <a:p>
            <a:pPr marL="12700" marR="5080" indent="100965">
              <a:lnSpc>
                <a:spcPts val="950"/>
              </a:lnSpc>
              <a:spcBef>
                <a:spcPts val="135"/>
              </a:spcBef>
            </a:pPr>
            <a:r>
              <a:rPr sz="800" spc="-20" dirty="0">
                <a:latin typeface="SimSun"/>
                <a:cs typeface="SimSun"/>
              </a:rPr>
              <a:t>虚拟线程</a:t>
            </a:r>
            <a:r>
              <a:rPr sz="800" spc="-50" dirty="0">
                <a:latin typeface="SimSun"/>
                <a:cs typeface="SimSun"/>
              </a:rPr>
              <a:t> </a:t>
            </a:r>
            <a:r>
              <a:rPr sz="800" spc="-20" dirty="0">
                <a:latin typeface="SimSun"/>
                <a:cs typeface="SimSun"/>
              </a:rPr>
              <a:t>保留线程写法轻量执行单元</a:t>
            </a:r>
            <a:endParaRPr sz="800">
              <a:latin typeface="SimSun"/>
              <a:cs typeface="SimSun"/>
            </a:endParaRPr>
          </a:p>
        </p:txBody>
      </p:sp>
      <p:grpSp>
        <p:nvGrpSpPr>
          <p:cNvPr id="24" name="object 24"/>
          <p:cNvGrpSpPr/>
          <p:nvPr/>
        </p:nvGrpSpPr>
        <p:grpSpPr>
          <a:xfrm>
            <a:off x="1031543" y="1035758"/>
            <a:ext cx="2470785" cy="60325"/>
            <a:chOff x="1031543" y="1035758"/>
            <a:chExt cx="2470785" cy="60325"/>
          </a:xfrm>
        </p:grpSpPr>
        <p:sp>
          <p:nvSpPr>
            <p:cNvPr id="25" name="object 25"/>
            <p:cNvSpPr/>
            <p:nvPr/>
          </p:nvSpPr>
          <p:spPr>
            <a:xfrm>
              <a:off x="1031543" y="1065758"/>
              <a:ext cx="37465" cy="0"/>
            </a:xfrm>
            <a:custGeom>
              <a:avLst/>
              <a:gdLst/>
              <a:ahLst/>
              <a:cxnLst/>
              <a:rect l="l" t="t" r="r" b="b"/>
              <a:pathLst>
                <a:path w="37465">
                  <a:moveTo>
                    <a:pt x="0" y="0"/>
                  </a:moveTo>
                  <a:lnTo>
                    <a:pt x="37460" y="0"/>
                  </a:lnTo>
                </a:path>
              </a:pathLst>
            </a:custGeom>
            <a:ln w="10122">
              <a:solidFill>
                <a:srgbClr val="000000"/>
              </a:solidFill>
            </a:ln>
          </p:spPr>
          <p:txBody>
            <a:bodyPr wrap="square" lIns="0" tIns="0" rIns="0" bIns="0" rtlCol="0"/>
            <a:lstStyle/>
            <a:p>
              <a:endParaRPr/>
            </a:p>
          </p:txBody>
        </p:sp>
        <p:sp>
          <p:nvSpPr>
            <p:cNvPr id="26" name="object 26"/>
            <p:cNvSpPr/>
            <p:nvPr/>
          </p:nvSpPr>
          <p:spPr>
            <a:xfrm>
              <a:off x="1069003" y="1040819"/>
              <a:ext cx="64135" cy="50165"/>
            </a:xfrm>
            <a:custGeom>
              <a:avLst/>
              <a:gdLst/>
              <a:ahLst/>
              <a:cxnLst/>
              <a:rect l="l" t="t" r="r" b="b"/>
              <a:pathLst>
                <a:path w="64134" h="50165">
                  <a:moveTo>
                    <a:pt x="0" y="0"/>
                  </a:moveTo>
                  <a:lnTo>
                    <a:pt x="0" y="49877"/>
                  </a:lnTo>
                  <a:lnTo>
                    <a:pt x="18024" y="41198"/>
                  </a:lnTo>
                  <a:lnTo>
                    <a:pt x="37192" y="33643"/>
                  </a:lnTo>
                  <a:lnTo>
                    <a:pt x="53781" y="27970"/>
                  </a:lnTo>
                  <a:lnTo>
                    <a:pt x="64072" y="24938"/>
                  </a:lnTo>
                  <a:lnTo>
                    <a:pt x="53781" y="21907"/>
                  </a:lnTo>
                  <a:lnTo>
                    <a:pt x="37192" y="16234"/>
                  </a:lnTo>
                  <a:lnTo>
                    <a:pt x="18024" y="8678"/>
                  </a:lnTo>
                  <a:lnTo>
                    <a:pt x="0" y="0"/>
                  </a:lnTo>
                  <a:close/>
                </a:path>
              </a:pathLst>
            </a:custGeom>
            <a:solidFill>
              <a:srgbClr val="000000"/>
            </a:solidFill>
          </p:spPr>
          <p:txBody>
            <a:bodyPr wrap="square" lIns="0" tIns="0" rIns="0" bIns="0" rtlCol="0"/>
            <a:lstStyle/>
            <a:p>
              <a:endParaRPr/>
            </a:p>
          </p:txBody>
        </p:sp>
        <p:sp>
          <p:nvSpPr>
            <p:cNvPr id="27" name="object 27"/>
            <p:cNvSpPr/>
            <p:nvPr/>
          </p:nvSpPr>
          <p:spPr>
            <a:xfrm>
              <a:off x="1069003" y="1040819"/>
              <a:ext cx="64135" cy="50165"/>
            </a:xfrm>
            <a:custGeom>
              <a:avLst/>
              <a:gdLst/>
              <a:ahLst/>
              <a:cxnLst/>
              <a:rect l="l" t="t" r="r" b="b"/>
              <a:pathLst>
                <a:path w="64134" h="50165">
                  <a:moveTo>
                    <a:pt x="64072" y="24938"/>
                  </a:moveTo>
                  <a:lnTo>
                    <a:pt x="53781" y="21907"/>
                  </a:lnTo>
                  <a:lnTo>
                    <a:pt x="37192" y="16234"/>
                  </a:lnTo>
                  <a:lnTo>
                    <a:pt x="18024" y="8678"/>
                  </a:lnTo>
                  <a:lnTo>
                    <a:pt x="0" y="0"/>
                  </a:lnTo>
                  <a:lnTo>
                    <a:pt x="0" y="49877"/>
                  </a:lnTo>
                  <a:lnTo>
                    <a:pt x="18024" y="41198"/>
                  </a:lnTo>
                  <a:lnTo>
                    <a:pt x="37192" y="33643"/>
                  </a:lnTo>
                  <a:lnTo>
                    <a:pt x="53781" y="27970"/>
                  </a:lnTo>
                  <a:lnTo>
                    <a:pt x="64072" y="24938"/>
                  </a:lnTo>
                  <a:close/>
                </a:path>
              </a:pathLst>
            </a:custGeom>
            <a:ln w="10122">
              <a:solidFill>
                <a:srgbClr val="000000"/>
              </a:solidFill>
            </a:ln>
          </p:spPr>
          <p:txBody>
            <a:bodyPr wrap="square" lIns="0" tIns="0" rIns="0" bIns="0" rtlCol="0"/>
            <a:lstStyle/>
            <a:p>
              <a:endParaRPr/>
            </a:p>
          </p:txBody>
        </p:sp>
        <p:sp>
          <p:nvSpPr>
            <p:cNvPr id="28" name="object 28"/>
            <p:cNvSpPr/>
            <p:nvPr/>
          </p:nvSpPr>
          <p:spPr>
            <a:xfrm>
              <a:off x="1799812" y="1065758"/>
              <a:ext cx="37465" cy="0"/>
            </a:xfrm>
            <a:custGeom>
              <a:avLst/>
              <a:gdLst/>
              <a:ahLst/>
              <a:cxnLst/>
              <a:rect l="l" t="t" r="r" b="b"/>
              <a:pathLst>
                <a:path w="37464">
                  <a:moveTo>
                    <a:pt x="0" y="0"/>
                  </a:moveTo>
                  <a:lnTo>
                    <a:pt x="37460" y="0"/>
                  </a:lnTo>
                </a:path>
              </a:pathLst>
            </a:custGeom>
            <a:ln w="10122">
              <a:solidFill>
                <a:srgbClr val="000000"/>
              </a:solidFill>
            </a:ln>
          </p:spPr>
          <p:txBody>
            <a:bodyPr wrap="square" lIns="0" tIns="0" rIns="0" bIns="0" rtlCol="0"/>
            <a:lstStyle/>
            <a:p>
              <a:endParaRPr/>
            </a:p>
          </p:txBody>
        </p:sp>
        <p:sp>
          <p:nvSpPr>
            <p:cNvPr id="29" name="object 29"/>
            <p:cNvSpPr/>
            <p:nvPr/>
          </p:nvSpPr>
          <p:spPr>
            <a:xfrm>
              <a:off x="1837272" y="1040819"/>
              <a:ext cx="64135" cy="50165"/>
            </a:xfrm>
            <a:custGeom>
              <a:avLst/>
              <a:gdLst/>
              <a:ahLst/>
              <a:cxnLst/>
              <a:rect l="l" t="t" r="r" b="b"/>
              <a:pathLst>
                <a:path w="64135" h="50165">
                  <a:moveTo>
                    <a:pt x="0" y="0"/>
                  </a:moveTo>
                  <a:lnTo>
                    <a:pt x="0" y="49877"/>
                  </a:lnTo>
                  <a:lnTo>
                    <a:pt x="18024" y="41198"/>
                  </a:lnTo>
                  <a:lnTo>
                    <a:pt x="37192" y="33643"/>
                  </a:lnTo>
                  <a:lnTo>
                    <a:pt x="53781" y="27970"/>
                  </a:lnTo>
                  <a:lnTo>
                    <a:pt x="64072" y="24938"/>
                  </a:lnTo>
                  <a:lnTo>
                    <a:pt x="53781" y="21907"/>
                  </a:lnTo>
                  <a:lnTo>
                    <a:pt x="37192" y="16234"/>
                  </a:lnTo>
                  <a:lnTo>
                    <a:pt x="18024" y="8678"/>
                  </a:lnTo>
                  <a:lnTo>
                    <a:pt x="0" y="0"/>
                  </a:lnTo>
                  <a:close/>
                </a:path>
              </a:pathLst>
            </a:custGeom>
            <a:solidFill>
              <a:srgbClr val="000000"/>
            </a:solidFill>
          </p:spPr>
          <p:txBody>
            <a:bodyPr wrap="square" lIns="0" tIns="0" rIns="0" bIns="0" rtlCol="0"/>
            <a:lstStyle/>
            <a:p>
              <a:endParaRPr/>
            </a:p>
          </p:txBody>
        </p:sp>
        <p:sp>
          <p:nvSpPr>
            <p:cNvPr id="30" name="object 30"/>
            <p:cNvSpPr/>
            <p:nvPr/>
          </p:nvSpPr>
          <p:spPr>
            <a:xfrm>
              <a:off x="1837272" y="1040819"/>
              <a:ext cx="64135" cy="50165"/>
            </a:xfrm>
            <a:custGeom>
              <a:avLst/>
              <a:gdLst/>
              <a:ahLst/>
              <a:cxnLst/>
              <a:rect l="l" t="t" r="r" b="b"/>
              <a:pathLst>
                <a:path w="64135" h="50165">
                  <a:moveTo>
                    <a:pt x="64072" y="24938"/>
                  </a:moveTo>
                  <a:lnTo>
                    <a:pt x="53781" y="21907"/>
                  </a:lnTo>
                  <a:lnTo>
                    <a:pt x="37192" y="16234"/>
                  </a:lnTo>
                  <a:lnTo>
                    <a:pt x="18024" y="8678"/>
                  </a:lnTo>
                  <a:lnTo>
                    <a:pt x="0" y="0"/>
                  </a:lnTo>
                  <a:lnTo>
                    <a:pt x="0" y="49877"/>
                  </a:lnTo>
                  <a:lnTo>
                    <a:pt x="18024" y="41198"/>
                  </a:lnTo>
                  <a:lnTo>
                    <a:pt x="37192" y="33643"/>
                  </a:lnTo>
                  <a:lnTo>
                    <a:pt x="53781" y="27970"/>
                  </a:lnTo>
                  <a:lnTo>
                    <a:pt x="64072" y="24938"/>
                  </a:lnTo>
                  <a:close/>
                </a:path>
              </a:pathLst>
            </a:custGeom>
            <a:ln w="10122">
              <a:solidFill>
                <a:srgbClr val="000000"/>
              </a:solidFill>
            </a:ln>
          </p:spPr>
          <p:txBody>
            <a:bodyPr wrap="square" lIns="0" tIns="0" rIns="0" bIns="0" rtlCol="0"/>
            <a:lstStyle/>
            <a:p>
              <a:endParaRPr/>
            </a:p>
          </p:txBody>
        </p:sp>
        <p:sp>
          <p:nvSpPr>
            <p:cNvPr id="31" name="object 31"/>
            <p:cNvSpPr/>
            <p:nvPr/>
          </p:nvSpPr>
          <p:spPr>
            <a:xfrm>
              <a:off x="2626958" y="1065758"/>
              <a:ext cx="37465" cy="0"/>
            </a:xfrm>
            <a:custGeom>
              <a:avLst/>
              <a:gdLst/>
              <a:ahLst/>
              <a:cxnLst/>
              <a:rect l="l" t="t" r="r" b="b"/>
              <a:pathLst>
                <a:path w="37464">
                  <a:moveTo>
                    <a:pt x="0" y="0"/>
                  </a:moveTo>
                  <a:lnTo>
                    <a:pt x="37460" y="0"/>
                  </a:lnTo>
                </a:path>
              </a:pathLst>
            </a:custGeom>
            <a:ln w="10122">
              <a:solidFill>
                <a:srgbClr val="000000"/>
              </a:solidFill>
            </a:ln>
          </p:spPr>
          <p:txBody>
            <a:bodyPr wrap="square" lIns="0" tIns="0" rIns="0" bIns="0" rtlCol="0"/>
            <a:lstStyle/>
            <a:p>
              <a:endParaRPr/>
            </a:p>
          </p:txBody>
        </p:sp>
        <p:sp>
          <p:nvSpPr>
            <p:cNvPr id="32" name="object 32"/>
            <p:cNvSpPr/>
            <p:nvPr/>
          </p:nvSpPr>
          <p:spPr>
            <a:xfrm>
              <a:off x="2664418" y="1040819"/>
              <a:ext cx="64135" cy="50165"/>
            </a:xfrm>
            <a:custGeom>
              <a:avLst/>
              <a:gdLst/>
              <a:ahLst/>
              <a:cxnLst/>
              <a:rect l="l" t="t" r="r" b="b"/>
              <a:pathLst>
                <a:path w="64135" h="50165">
                  <a:moveTo>
                    <a:pt x="0" y="0"/>
                  </a:moveTo>
                  <a:lnTo>
                    <a:pt x="0" y="49877"/>
                  </a:lnTo>
                  <a:lnTo>
                    <a:pt x="18024" y="41198"/>
                  </a:lnTo>
                  <a:lnTo>
                    <a:pt x="37192" y="33643"/>
                  </a:lnTo>
                  <a:lnTo>
                    <a:pt x="53781" y="27970"/>
                  </a:lnTo>
                  <a:lnTo>
                    <a:pt x="64072" y="24938"/>
                  </a:lnTo>
                  <a:lnTo>
                    <a:pt x="53781" y="21907"/>
                  </a:lnTo>
                  <a:lnTo>
                    <a:pt x="37192" y="16234"/>
                  </a:lnTo>
                  <a:lnTo>
                    <a:pt x="18024" y="8678"/>
                  </a:lnTo>
                  <a:lnTo>
                    <a:pt x="0" y="0"/>
                  </a:lnTo>
                  <a:close/>
                </a:path>
              </a:pathLst>
            </a:custGeom>
            <a:solidFill>
              <a:srgbClr val="000000"/>
            </a:solidFill>
          </p:spPr>
          <p:txBody>
            <a:bodyPr wrap="square" lIns="0" tIns="0" rIns="0" bIns="0" rtlCol="0"/>
            <a:lstStyle/>
            <a:p>
              <a:endParaRPr/>
            </a:p>
          </p:txBody>
        </p:sp>
        <p:sp>
          <p:nvSpPr>
            <p:cNvPr id="33" name="object 33"/>
            <p:cNvSpPr/>
            <p:nvPr/>
          </p:nvSpPr>
          <p:spPr>
            <a:xfrm>
              <a:off x="2664418" y="1040819"/>
              <a:ext cx="64135" cy="50165"/>
            </a:xfrm>
            <a:custGeom>
              <a:avLst/>
              <a:gdLst/>
              <a:ahLst/>
              <a:cxnLst/>
              <a:rect l="l" t="t" r="r" b="b"/>
              <a:pathLst>
                <a:path w="64135" h="50165">
                  <a:moveTo>
                    <a:pt x="64072" y="24938"/>
                  </a:moveTo>
                  <a:lnTo>
                    <a:pt x="53781" y="21907"/>
                  </a:lnTo>
                  <a:lnTo>
                    <a:pt x="37192" y="16234"/>
                  </a:lnTo>
                  <a:lnTo>
                    <a:pt x="18024" y="8678"/>
                  </a:lnTo>
                  <a:lnTo>
                    <a:pt x="0" y="0"/>
                  </a:lnTo>
                  <a:lnTo>
                    <a:pt x="0" y="49877"/>
                  </a:lnTo>
                  <a:lnTo>
                    <a:pt x="18024" y="41198"/>
                  </a:lnTo>
                  <a:lnTo>
                    <a:pt x="37192" y="33643"/>
                  </a:lnTo>
                  <a:lnTo>
                    <a:pt x="53781" y="27970"/>
                  </a:lnTo>
                  <a:lnTo>
                    <a:pt x="64072" y="24938"/>
                  </a:lnTo>
                  <a:close/>
                </a:path>
              </a:pathLst>
            </a:custGeom>
            <a:ln w="10122">
              <a:solidFill>
                <a:srgbClr val="000000"/>
              </a:solidFill>
            </a:ln>
          </p:spPr>
          <p:txBody>
            <a:bodyPr wrap="square" lIns="0" tIns="0" rIns="0" bIns="0" rtlCol="0"/>
            <a:lstStyle/>
            <a:p>
              <a:endParaRPr/>
            </a:p>
          </p:txBody>
        </p:sp>
        <p:sp>
          <p:nvSpPr>
            <p:cNvPr id="34" name="object 34"/>
            <p:cNvSpPr/>
            <p:nvPr/>
          </p:nvSpPr>
          <p:spPr>
            <a:xfrm>
              <a:off x="3395227" y="1065758"/>
              <a:ext cx="37465" cy="0"/>
            </a:xfrm>
            <a:custGeom>
              <a:avLst/>
              <a:gdLst/>
              <a:ahLst/>
              <a:cxnLst/>
              <a:rect l="l" t="t" r="r" b="b"/>
              <a:pathLst>
                <a:path w="37464">
                  <a:moveTo>
                    <a:pt x="0" y="0"/>
                  </a:moveTo>
                  <a:lnTo>
                    <a:pt x="37460" y="0"/>
                  </a:lnTo>
                </a:path>
              </a:pathLst>
            </a:custGeom>
            <a:ln w="10122">
              <a:solidFill>
                <a:srgbClr val="000000"/>
              </a:solidFill>
            </a:ln>
          </p:spPr>
          <p:txBody>
            <a:bodyPr wrap="square" lIns="0" tIns="0" rIns="0" bIns="0" rtlCol="0"/>
            <a:lstStyle/>
            <a:p>
              <a:endParaRPr/>
            </a:p>
          </p:txBody>
        </p:sp>
        <p:sp>
          <p:nvSpPr>
            <p:cNvPr id="35" name="object 35"/>
            <p:cNvSpPr/>
            <p:nvPr/>
          </p:nvSpPr>
          <p:spPr>
            <a:xfrm>
              <a:off x="3432687" y="1040819"/>
              <a:ext cx="64135" cy="50165"/>
            </a:xfrm>
            <a:custGeom>
              <a:avLst/>
              <a:gdLst/>
              <a:ahLst/>
              <a:cxnLst/>
              <a:rect l="l" t="t" r="r" b="b"/>
              <a:pathLst>
                <a:path w="64135" h="50165">
                  <a:moveTo>
                    <a:pt x="0" y="0"/>
                  </a:moveTo>
                  <a:lnTo>
                    <a:pt x="0" y="49877"/>
                  </a:lnTo>
                  <a:lnTo>
                    <a:pt x="18024" y="41198"/>
                  </a:lnTo>
                  <a:lnTo>
                    <a:pt x="37192" y="33643"/>
                  </a:lnTo>
                  <a:lnTo>
                    <a:pt x="53781" y="27970"/>
                  </a:lnTo>
                  <a:lnTo>
                    <a:pt x="64072" y="24938"/>
                  </a:lnTo>
                  <a:lnTo>
                    <a:pt x="53781" y="21907"/>
                  </a:lnTo>
                  <a:lnTo>
                    <a:pt x="37192" y="16234"/>
                  </a:lnTo>
                  <a:lnTo>
                    <a:pt x="18024" y="8678"/>
                  </a:lnTo>
                  <a:lnTo>
                    <a:pt x="0" y="0"/>
                  </a:lnTo>
                  <a:close/>
                </a:path>
              </a:pathLst>
            </a:custGeom>
            <a:solidFill>
              <a:srgbClr val="000000"/>
            </a:solidFill>
          </p:spPr>
          <p:txBody>
            <a:bodyPr wrap="square" lIns="0" tIns="0" rIns="0" bIns="0" rtlCol="0"/>
            <a:lstStyle/>
            <a:p>
              <a:endParaRPr/>
            </a:p>
          </p:txBody>
        </p:sp>
        <p:sp>
          <p:nvSpPr>
            <p:cNvPr id="36" name="object 36"/>
            <p:cNvSpPr/>
            <p:nvPr/>
          </p:nvSpPr>
          <p:spPr>
            <a:xfrm>
              <a:off x="3432687" y="1040819"/>
              <a:ext cx="64135" cy="50165"/>
            </a:xfrm>
            <a:custGeom>
              <a:avLst/>
              <a:gdLst/>
              <a:ahLst/>
              <a:cxnLst/>
              <a:rect l="l" t="t" r="r" b="b"/>
              <a:pathLst>
                <a:path w="64135" h="50165">
                  <a:moveTo>
                    <a:pt x="64072" y="24938"/>
                  </a:moveTo>
                  <a:lnTo>
                    <a:pt x="53781" y="21907"/>
                  </a:lnTo>
                  <a:lnTo>
                    <a:pt x="37192" y="16234"/>
                  </a:lnTo>
                  <a:lnTo>
                    <a:pt x="18024" y="8678"/>
                  </a:lnTo>
                  <a:lnTo>
                    <a:pt x="0" y="0"/>
                  </a:lnTo>
                  <a:lnTo>
                    <a:pt x="0" y="49877"/>
                  </a:lnTo>
                  <a:lnTo>
                    <a:pt x="18024" y="41198"/>
                  </a:lnTo>
                  <a:lnTo>
                    <a:pt x="37192" y="33643"/>
                  </a:lnTo>
                  <a:lnTo>
                    <a:pt x="53781" y="27970"/>
                  </a:lnTo>
                  <a:lnTo>
                    <a:pt x="64072" y="24938"/>
                  </a:lnTo>
                  <a:close/>
                </a:path>
              </a:pathLst>
            </a:custGeom>
            <a:ln w="10122">
              <a:solidFill>
                <a:srgbClr val="000000"/>
              </a:solidFill>
            </a:ln>
          </p:spPr>
          <p:txBody>
            <a:bodyPr wrap="square" lIns="0" tIns="0" rIns="0" bIns="0" rtlCol="0"/>
            <a:lstStyle/>
            <a:p>
              <a:endParaRPr/>
            </a:p>
          </p:txBody>
        </p:sp>
      </p:grpSp>
      <p:grpSp>
        <p:nvGrpSpPr>
          <p:cNvPr id="37" name="object 37"/>
          <p:cNvGrpSpPr/>
          <p:nvPr/>
        </p:nvGrpSpPr>
        <p:grpSpPr>
          <a:xfrm>
            <a:off x="359994" y="1481925"/>
            <a:ext cx="3888104" cy="633730"/>
            <a:chOff x="359994" y="1481925"/>
            <a:chExt cx="3888104" cy="633730"/>
          </a:xfrm>
        </p:grpSpPr>
        <p:sp>
          <p:nvSpPr>
            <p:cNvPr id="38" name="object 38"/>
            <p:cNvSpPr/>
            <p:nvPr/>
          </p:nvSpPr>
          <p:spPr>
            <a:xfrm>
              <a:off x="413994" y="1548578"/>
              <a:ext cx="3780154" cy="525780"/>
            </a:xfrm>
            <a:custGeom>
              <a:avLst/>
              <a:gdLst/>
              <a:ahLst/>
              <a:cxnLst/>
              <a:rect l="l" t="t" r="r" b="b"/>
              <a:pathLst>
                <a:path w="3780154" h="525780">
                  <a:moveTo>
                    <a:pt x="3780050" y="0"/>
                  </a:moveTo>
                  <a:lnTo>
                    <a:pt x="0" y="0"/>
                  </a:lnTo>
                  <a:lnTo>
                    <a:pt x="0" y="525195"/>
                  </a:lnTo>
                  <a:lnTo>
                    <a:pt x="3780050" y="525195"/>
                  </a:lnTo>
                  <a:lnTo>
                    <a:pt x="3780050" y="0"/>
                  </a:lnTo>
                  <a:close/>
                </a:path>
              </a:pathLst>
            </a:custGeom>
            <a:solidFill>
              <a:srgbClr val="B2B2B2"/>
            </a:solidFill>
          </p:spPr>
          <p:txBody>
            <a:bodyPr wrap="square" lIns="0" tIns="0" rIns="0" bIns="0" rtlCol="0"/>
            <a:lstStyle/>
            <a:p>
              <a:endParaRPr/>
            </a:p>
          </p:txBody>
        </p:sp>
        <p:sp>
          <p:nvSpPr>
            <p:cNvPr id="39" name="object 39"/>
            <p:cNvSpPr/>
            <p:nvPr/>
          </p:nvSpPr>
          <p:spPr>
            <a:xfrm>
              <a:off x="359994" y="1481925"/>
              <a:ext cx="3888104" cy="633730"/>
            </a:xfrm>
            <a:custGeom>
              <a:avLst/>
              <a:gdLst/>
              <a:ahLst/>
              <a:cxnLst/>
              <a:rect l="l" t="t" r="r" b="b"/>
              <a:pathLst>
                <a:path w="3888104" h="633730">
                  <a:moveTo>
                    <a:pt x="3834050" y="0"/>
                  </a:moveTo>
                  <a:lnTo>
                    <a:pt x="54000" y="0"/>
                  </a:lnTo>
                  <a:lnTo>
                    <a:pt x="32980" y="4243"/>
                  </a:lnTo>
                  <a:lnTo>
                    <a:pt x="15816" y="15816"/>
                  </a:lnTo>
                  <a:lnTo>
                    <a:pt x="4243" y="32980"/>
                  </a:lnTo>
                  <a:lnTo>
                    <a:pt x="0" y="54000"/>
                  </a:lnTo>
                  <a:lnTo>
                    <a:pt x="0" y="579195"/>
                  </a:lnTo>
                  <a:lnTo>
                    <a:pt x="4243" y="600215"/>
                  </a:lnTo>
                  <a:lnTo>
                    <a:pt x="15816" y="617379"/>
                  </a:lnTo>
                  <a:lnTo>
                    <a:pt x="32980" y="628952"/>
                  </a:lnTo>
                  <a:lnTo>
                    <a:pt x="54000" y="633196"/>
                  </a:lnTo>
                  <a:lnTo>
                    <a:pt x="3834050" y="633196"/>
                  </a:lnTo>
                  <a:lnTo>
                    <a:pt x="3855070" y="628952"/>
                  </a:lnTo>
                  <a:lnTo>
                    <a:pt x="3872235" y="617379"/>
                  </a:lnTo>
                  <a:lnTo>
                    <a:pt x="3883807" y="600215"/>
                  </a:lnTo>
                  <a:lnTo>
                    <a:pt x="3888051" y="579195"/>
                  </a:lnTo>
                  <a:lnTo>
                    <a:pt x="3888051" y="54000"/>
                  </a:lnTo>
                  <a:lnTo>
                    <a:pt x="3883807" y="32980"/>
                  </a:lnTo>
                  <a:lnTo>
                    <a:pt x="3872235" y="15816"/>
                  </a:lnTo>
                  <a:lnTo>
                    <a:pt x="3855070" y="4243"/>
                  </a:lnTo>
                  <a:lnTo>
                    <a:pt x="3834050" y="0"/>
                  </a:lnTo>
                  <a:close/>
                </a:path>
              </a:pathLst>
            </a:custGeom>
            <a:solidFill>
              <a:srgbClr val="BE581F"/>
            </a:solidFill>
          </p:spPr>
          <p:txBody>
            <a:bodyPr wrap="square" lIns="0" tIns="0" rIns="0" bIns="0" rtlCol="0"/>
            <a:lstStyle/>
            <a:p>
              <a:endParaRPr/>
            </a:p>
          </p:txBody>
        </p:sp>
        <p:sp>
          <p:nvSpPr>
            <p:cNvPr id="40" name="object 40"/>
            <p:cNvSpPr/>
            <p:nvPr/>
          </p:nvSpPr>
          <p:spPr>
            <a:xfrm>
              <a:off x="359994" y="1692710"/>
              <a:ext cx="3888104" cy="422909"/>
            </a:xfrm>
            <a:custGeom>
              <a:avLst/>
              <a:gdLst/>
              <a:ahLst/>
              <a:cxnLst/>
              <a:rect l="l" t="t" r="r" b="b"/>
              <a:pathLst>
                <a:path w="3888104" h="422910">
                  <a:moveTo>
                    <a:pt x="3888051" y="0"/>
                  </a:moveTo>
                  <a:lnTo>
                    <a:pt x="0" y="0"/>
                  </a:lnTo>
                  <a:lnTo>
                    <a:pt x="0" y="368410"/>
                  </a:lnTo>
                  <a:lnTo>
                    <a:pt x="4243" y="389430"/>
                  </a:lnTo>
                  <a:lnTo>
                    <a:pt x="15816" y="406595"/>
                  </a:lnTo>
                  <a:lnTo>
                    <a:pt x="32980" y="418167"/>
                  </a:lnTo>
                  <a:lnTo>
                    <a:pt x="54000" y="422411"/>
                  </a:lnTo>
                  <a:lnTo>
                    <a:pt x="3834050" y="422411"/>
                  </a:lnTo>
                  <a:lnTo>
                    <a:pt x="3855070" y="418167"/>
                  </a:lnTo>
                  <a:lnTo>
                    <a:pt x="3872235" y="406595"/>
                  </a:lnTo>
                  <a:lnTo>
                    <a:pt x="3883807" y="389430"/>
                  </a:lnTo>
                  <a:lnTo>
                    <a:pt x="3888051" y="368410"/>
                  </a:lnTo>
                  <a:lnTo>
                    <a:pt x="3888051" y="0"/>
                  </a:lnTo>
                  <a:close/>
                </a:path>
              </a:pathLst>
            </a:custGeom>
            <a:solidFill>
              <a:srgbClr val="F8EEE8"/>
            </a:solidFill>
          </p:spPr>
          <p:txBody>
            <a:bodyPr wrap="square" lIns="0" tIns="0" rIns="0" bIns="0" rtlCol="0"/>
            <a:lstStyle/>
            <a:p>
              <a:endParaRPr/>
            </a:p>
          </p:txBody>
        </p:sp>
      </p:grpSp>
      <p:sp>
        <p:nvSpPr>
          <p:cNvPr id="41" name="object 41"/>
          <p:cNvSpPr txBox="1"/>
          <p:nvPr/>
        </p:nvSpPr>
        <p:spPr>
          <a:xfrm>
            <a:off x="408597" y="1416279"/>
            <a:ext cx="3790950" cy="664210"/>
          </a:xfrm>
          <a:prstGeom prst="rect">
            <a:avLst/>
          </a:prstGeom>
        </p:spPr>
        <p:txBody>
          <a:bodyPr vert="horz" wrap="square" lIns="0" tIns="73660" rIns="0" bIns="0" rtlCol="0">
            <a:spAutoFit/>
          </a:bodyPr>
          <a:lstStyle/>
          <a:p>
            <a:pPr marL="12700">
              <a:lnSpc>
                <a:spcPct val="100000"/>
              </a:lnSpc>
              <a:spcBef>
                <a:spcPts val="580"/>
              </a:spcBef>
            </a:pPr>
            <a:r>
              <a:rPr sz="1200" spc="-30" dirty="0">
                <a:solidFill>
                  <a:srgbClr val="FFFFFF"/>
                </a:solidFill>
                <a:latin typeface="SimSun"/>
                <a:cs typeface="SimSun"/>
              </a:rPr>
              <a:t>演进逻辑</a:t>
            </a:r>
            <a:endParaRPr sz="1200">
              <a:latin typeface="SimSun"/>
              <a:cs typeface="SimSun"/>
            </a:endParaRPr>
          </a:p>
          <a:p>
            <a:pPr marL="12700" marR="5080">
              <a:lnSpc>
                <a:spcPct val="102699"/>
              </a:lnSpc>
              <a:spcBef>
                <a:spcPts val="395"/>
              </a:spcBef>
            </a:pPr>
            <a:r>
              <a:rPr sz="1100" spc="-90" dirty="0">
                <a:latin typeface="SimSun"/>
                <a:cs typeface="SimSun"/>
              </a:rPr>
              <a:t>线程解决“进程过重”；事件驱动解决“</a:t>
            </a:r>
            <a:r>
              <a:rPr sz="1100" dirty="0">
                <a:latin typeface="Times New Roman"/>
                <a:cs typeface="Times New Roman"/>
              </a:rPr>
              <a:t>I/O </a:t>
            </a:r>
            <a:r>
              <a:rPr sz="1100" spc="-105" dirty="0">
                <a:latin typeface="SimSun"/>
                <a:cs typeface="SimSun"/>
              </a:rPr>
              <a:t>阻塞浪费”；协程进</a:t>
            </a:r>
            <a:r>
              <a:rPr sz="1100" spc="-25" dirty="0">
                <a:latin typeface="SimSun"/>
                <a:cs typeface="SimSun"/>
              </a:rPr>
              <a:t>一步希望在高并发效率与同步式可读性之间取得平衡。</a:t>
            </a:r>
            <a:endParaRPr sz="1100">
              <a:latin typeface="SimSun"/>
              <a:cs typeface="SimSun"/>
            </a:endParaRPr>
          </a:p>
        </p:txBody>
      </p:sp>
      <p:grpSp>
        <p:nvGrpSpPr>
          <p:cNvPr id="42" name="object 42"/>
          <p:cNvGrpSpPr/>
          <p:nvPr/>
        </p:nvGrpSpPr>
        <p:grpSpPr>
          <a:xfrm>
            <a:off x="0" y="3309520"/>
            <a:ext cx="4608195" cy="146685"/>
            <a:chOff x="0" y="3309520"/>
            <a:chExt cx="4608195" cy="146685"/>
          </a:xfrm>
        </p:grpSpPr>
        <p:sp>
          <p:nvSpPr>
            <p:cNvPr id="43" name="object 43"/>
            <p:cNvSpPr/>
            <p:nvPr/>
          </p:nvSpPr>
          <p:spPr>
            <a:xfrm>
              <a:off x="0" y="3309520"/>
              <a:ext cx="1464945" cy="146685"/>
            </a:xfrm>
            <a:custGeom>
              <a:avLst/>
              <a:gdLst/>
              <a:ahLst/>
              <a:cxnLst/>
              <a:rect l="l" t="t" r="r" b="b"/>
              <a:pathLst>
                <a:path w="1464945" h="146685">
                  <a:moveTo>
                    <a:pt x="1464490" y="146530"/>
                  </a:moveTo>
                  <a:lnTo>
                    <a:pt x="1464490" y="0"/>
                  </a:lnTo>
                  <a:lnTo>
                    <a:pt x="0" y="0"/>
                  </a:lnTo>
                  <a:lnTo>
                    <a:pt x="0" y="146530"/>
                  </a:lnTo>
                  <a:lnTo>
                    <a:pt x="1464490" y="146530"/>
                  </a:lnTo>
                  <a:close/>
                </a:path>
              </a:pathLst>
            </a:custGeom>
            <a:solidFill>
              <a:srgbClr val="4681B4"/>
            </a:solidFill>
          </p:spPr>
          <p:txBody>
            <a:bodyPr wrap="square" lIns="0" tIns="0" rIns="0" bIns="0" rtlCol="0"/>
            <a:lstStyle/>
            <a:p>
              <a:endParaRPr/>
            </a:p>
          </p:txBody>
        </p:sp>
        <p:sp>
          <p:nvSpPr>
            <p:cNvPr id="44" name="object 44"/>
            <p:cNvSpPr/>
            <p:nvPr/>
          </p:nvSpPr>
          <p:spPr>
            <a:xfrm>
              <a:off x="1464490" y="3309520"/>
              <a:ext cx="2672715" cy="146685"/>
            </a:xfrm>
            <a:custGeom>
              <a:avLst/>
              <a:gdLst/>
              <a:ahLst/>
              <a:cxnLst/>
              <a:rect l="l" t="t" r="r" b="b"/>
              <a:pathLst>
                <a:path w="2672715" h="146685">
                  <a:moveTo>
                    <a:pt x="2672682" y="0"/>
                  </a:moveTo>
                  <a:lnTo>
                    <a:pt x="0" y="0"/>
                  </a:lnTo>
                  <a:lnTo>
                    <a:pt x="0" y="146530"/>
                  </a:lnTo>
                  <a:lnTo>
                    <a:pt x="2672682" y="146530"/>
                  </a:lnTo>
                  <a:lnTo>
                    <a:pt x="2672682" y="0"/>
                  </a:lnTo>
                  <a:close/>
                </a:path>
              </a:pathLst>
            </a:custGeom>
            <a:solidFill>
              <a:srgbClr val="1B4681"/>
            </a:solidFill>
          </p:spPr>
          <p:txBody>
            <a:bodyPr wrap="square" lIns="0" tIns="0" rIns="0" bIns="0" rtlCol="0"/>
            <a:lstStyle/>
            <a:p>
              <a:endParaRPr/>
            </a:p>
          </p:txBody>
        </p:sp>
        <p:sp>
          <p:nvSpPr>
            <p:cNvPr id="45" name="object 45"/>
            <p:cNvSpPr/>
            <p:nvPr/>
          </p:nvSpPr>
          <p:spPr>
            <a:xfrm>
              <a:off x="4137103" y="3309520"/>
              <a:ext cx="471170" cy="146685"/>
            </a:xfrm>
            <a:custGeom>
              <a:avLst/>
              <a:gdLst/>
              <a:ahLst/>
              <a:cxnLst/>
              <a:rect l="l" t="t" r="r" b="b"/>
              <a:pathLst>
                <a:path w="471170" h="146685">
                  <a:moveTo>
                    <a:pt x="470836" y="0"/>
                  </a:moveTo>
                  <a:lnTo>
                    <a:pt x="0" y="0"/>
                  </a:lnTo>
                  <a:lnTo>
                    <a:pt x="0" y="146530"/>
                  </a:lnTo>
                  <a:lnTo>
                    <a:pt x="470836" y="146530"/>
                  </a:lnTo>
                  <a:lnTo>
                    <a:pt x="470836" y="0"/>
                  </a:lnTo>
                  <a:close/>
                </a:path>
              </a:pathLst>
            </a:custGeom>
            <a:solidFill>
              <a:srgbClr val="0A2750"/>
            </a:solidFill>
          </p:spPr>
          <p:txBody>
            <a:bodyPr wrap="square" lIns="0" tIns="0" rIns="0" bIns="0" rtlCol="0"/>
            <a:lstStyle/>
            <a:p>
              <a:endParaRPr/>
            </a:p>
          </p:txBody>
        </p:sp>
      </p:grpSp>
      <p:sp>
        <p:nvSpPr>
          <p:cNvPr id="46" name="object 46"/>
          <p:cNvSpPr txBox="1">
            <a:spLocks noGrp="1"/>
          </p:cNvSpPr>
          <p:nvPr>
            <p:ph type="dt" sz="half" idx="6"/>
          </p:nvPr>
        </p:nvSpPr>
        <p:spPr>
          <a:prstGeom prst="rect">
            <a:avLst/>
          </a:prstGeom>
        </p:spPr>
        <p:txBody>
          <a:bodyPr vert="horz" wrap="square" lIns="0" tIns="1270" rIns="0" bIns="0" rtlCol="0">
            <a:spAutoFit/>
          </a:bodyPr>
          <a:lstStyle/>
          <a:p>
            <a:pPr marL="12700">
              <a:lnSpc>
                <a:spcPct val="100000"/>
              </a:lnSpc>
              <a:spcBef>
                <a:spcPts val="10"/>
              </a:spcBef>
            </a:pPr>
            <a:r>
              <a:rPr spc="35" dirty="0"/>
              <a:t>尚文轩 南开大学</a:t>
            </a:r>
          </a:p>
        </p:txBody>
      </p:sp>
      <p:sp>
        <p:nvSpPr>
          <p:cNvPr id="47" name="object 47"/>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spc="-30" dirty="0">
                <a:latin typeface="Times New Roman"/>
                <a:cs typeface="Times New Roman"/>
              </a:rPr>
              <a:t>OT-</a:t>
            </a:r>
            <a:r>
              <a:rPr spc="-20" dirty="0"/>
              <a:t>协程技术调研</a:t>
            </a:r>
          </a:p>
        </p:txBody>
      </p:sp>
      <p:sp>
        <p:nvSpPr>
          <p:cNvPr id="48" name="object 48"/>
          <p:cNvSpPr txBox="1">
            <a:spLocks noGrp="1"/>
          </p:cNvSpPr>
          <p:nvPr>
            <p:ph type="sldNum" sz="quarter" idx="7"/>
          </p:nvPr>
        </p:nvSpPr>
        <p:spPr>
          <a:prstGeom prst="rect">
            <a:avLst/>
          </a:prstGeom>
        </p:spPr>
        <p:txBody>
          <a:bodyPr vert="horz" wrap="square" lIns="0" tIns="3810" rIns="0" bIns="0" rtlCol="0">
            <a:spAutoFit/>
          </a:bodyPr>
          <a:lstStyle/>
          <a:p>
            <a:pPr marL="37465">
              <a:lnSpc>
                <a:spcPct val="100000"/>
              </a:lnSpc>
              <a:spcBef>
                <a:spcPts val="30"/>
              </a:spcBef>
            </a:pPr>
            <a:fld id="{81D60167-4931-47E6-BA6A-407CBD079E47}" type="slidenum">
              <a:rPr spc="-25" dirty="0"/>
              <a:t>4</a:t>
            </a:fld>
            <a:endParaRPr spc="-25" dirty="0"/>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3" name="图片 42">
            <a:extLst>
              <a:ext uri="{FF2B5EF4-FFF2-40B4-BE49-F238E27FC236}">
                <a16:creationId xmlns:a16="http://schemas.microsoft.com/office/drawing/2014/main" id="{4689FE28-2003-5DA2-7F49-73D7FF4399E3}"/>
              </a:ext>
            </a:extLst>
          </p:cNvPr>
          <p:cNvPicPr>
            <a:picLocks noChangeAspect="1"/>
          </p:cNvPicPr>
          <p:nvPr/>
        </p:nvPicPr>
        <p:blipFill>
          <a:blip r:embed="rId2"/>
          <a:stretch>
            <a:fillRect/>
          </a:stretch>
        </p:blipFill>
        <p:spPr>
          <a:xfrm>
            <a:off x="0" y="-6365"/>
            <a:ext cx="4610100" cy="257037"/>
          </a:xfrm>
          <a:prstGeom prst="rect">
            <a:avLst/>
          </a:prstGeom>
        </p:spPr>
      </p:pic>
      <p:sp>
        <p:nvSpPr>
          <p:cNvPr id="2" name="object 2" descr="$PPTXTitle"/>
          <p:cNvSpPr txBox="1">
            <a:spLocks noGrp="1"/>
          </p:cNvSpPr>
          <p:nvPr>
            <p:ph type="title"/>
          </p:nvPr>
        </p:nvSpPr>
        <p:spPr>
          <a:xfrm>
            <a:off x="105130" y="42594"/>
            <a:ext cx="2242185" cy="180819"/>
          </a:xfrm>
          <a:prstGeom prst="rect">
            <a:avLst/>
          </a:prstGeom>
        </p:spPr>
        <p:txBody>
          <a:bodyPr vert="horz" wrap="square" lIns="0" tIns="11430" rIns="0" bIns="0" rtlCol="0">
            <a:spAutoFit/>
          </a:bodyPr>
          <a:lstStyle/>
          <a:p>
            <a:pPr marL="12700">
              <a:lnSpc>
                <a:spcPct val="100000"/>
              </a:lnSpc>
              <a:spcBef>
                <a:spcPts val="90"/>
              </a:spcBef>
            </a:pPr>
            <a:r>
              <a:rPr spc="-25" dirty="0">
                <a:solidFill>
                  <a:schemeClr val="bg1"/>
                </a:solidFill>
              </a:rPr>
              <a:t>协程是什么：可暂停、可恢复的函数</a:t>
            </a:r>
          </a:p>
        </p:txBody>
      </p:sp>
      <p:sp>
        <p:nvSpPr>
          <p:cNvPr id="3" name="object 3"/>
          <p:cNvSpPr/>
          <p:nvPr/>
        </p:nvSpPr>
        <p:spPr>
          <a:xfrm>
            <a:off x="0" y="252052"/>
            <a:ext cx="4608195" cy="0"/>
          </a:xfrm>
          <a:custGeom>
            <a:avLst/>
            <a:gdLst/>
            <a:ahLst/>
            <a:cxnLst/>
            <a:rect l="l" t="t" r="r" b="b"/>
            <a:pathLst>
              <a:path w="4608195">
                <a:moveTo>
                  <a:pt x="0" y="0"/>
                </a:moveTo>
                <a:lnTo>
                  <a:pt x="4608060" y="0"/>
                </a:lnTo>
              </a:path>
            </a:pathLst>
          </a:custGeom>
          <a:ln w="12652">
            <a:solidFill>
              <a:srgbClr val="1B4681"/>
            </a:solidFill>
          </a:ln>
        </p:spPr>
        <p:txBody>
          <a:bodyPr wrap="square" lIns="0" tIns="0" rIns="0" bIns="0" rtlCol="0"/>
          <a:lstStyle/>
          <a:p>
            <a:endParaRPr/>
          </a:p>
        </p:txBody>
      </p:sp>
      <p:grpSp>
        <p:nvGrpSpPr>
          <p:cNvPr id="4" name="object 4"/>
          <p:cNvGrpSpPr/>
          <p:nvPr/>
        </p:nvGrpSpPr>
        <p:grpSpPr>
          <a:xfrm>
            <a:off x="417454" y="675912"/>
            <a:ext cx="30480" cy="30480"/>
            <a:chOff x="417454" y="675912"/>
            <a:chExt cx="30480" cy="30480"/>
          </a:xfrm>
        </p:grpSpPr>
        <p:sp>
          <p:nvSpPr>
            <p:cNvPr id="5" name="object 5"/>
            <p:cNvSpPr/>
            <p:nvPr/>
          </p:nvSpPr>
          <p:spPr>
            <a:xfrm>
              <a:off x="419985" y="678443"/>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6" name="object 6"/>
            <p:cNvSpPr/>
            <p:nvPr/>
          </p:nvSpPr>
          <p:spPr>
            <a:xfrm>
              <a:off x="419985" y="678443"/>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7" name="object 7"/>
          <p:cNvGrpSpPr/>
          <p:nvPr/>
        </p:nvGrpSpPr>
        <p:grpSpPr>
          <a:xfrm>
            <a:off x="417454" y="1058017"/>
            <a:ext cx="30480" cy="30480"/>
            <a:chOff x="417454" y="1058017"/>
            <a:chExt cx="30480" cy="30480"/>
          </a:xfrm>
        </p:grpSpPr>
        <p:sp>
          <p:nvSpPr>
            <p:cNvPr id="8" name="object 8"/>
            <p:cNvSpPr/>
            <p:nvPr/>
          </p:nvSpPr>
          <p:spPr>
            <a:xfrm>
              <a:off x="419985" y="1060548"/>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9" name="object 9"/>
            <p:cNvSpPr/>
            <p:nvPr/>
          </p:nvSpPr>
          <p:spPr>
            <a:xfrm>
              <a:off x="419985" y="1060548"/>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0" name="object 10"/>
          <p:cNvGrpSpPr/>
          <p:nvPr/>
        </p:nvGrpSpPr>
        <p:grpSpPr>
          <a:xfrm>
            <a:off x="417454" y="1591963"/>
            <a:ext cx="30480" cy="30480"/>
            <a:chOff x="417454" y="1591963"/>
            <a:chExt cx="30480" cy="30480"/>
          </a:xfrm>
        </p:grpSpPr>
        <p:sp>
          <p:nvSpPr>
            <p:cNvPr id="11" name="object 11"/>
            <p:cNvSpPr/>
            <p:nvPr/>
          </p:nvSpPr>
          <p:spPr>
            <a:xfrm>
              <a:off x="419985" y="1594494"/>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2" name="object 12"/>
            <p:cNvSpPr/>
            <p:nvPr/>
          </p:nvSpPr>
          <p:spPr>
            <a:xfrm>
              <a:off x="419985" y="1594494"/>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3" name="object 13"/>
          <p:cNvGrpSpPr/>
          <p:nvPr/>
        </p:nvGrpSpPr>
        <p:grpSpPr>
          <a:xfrm>
            <a:off x="694543" y="1770970"/>
            <a:ext cx="30480" cy="30480"/>
            <a:chOff x="694543" y="1770970"/>
            <a:chExt cx="30480" cy="30480"/>
          </a:xfrm>
        </p:grpSpPr>
        <p:sp>
          <p:nvSpPr>
            <p:cNvPr id="14" name="object 14"/>
            <p:cNvSpPr/>
            <p:nvPr/>
          </p:nvSpPr>
          <p:spPr>
            <a:xfrm>
              <a:off x="697074" y="1773500"/>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5" name="object 15"/>
            <p:cNvSpPr/>
            <p:nvPr/>
          </p:nvSpPr>
          <p:spPr>
            <a:xfrm>
              <a:off x="697074" y="1773500"/>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6" name="object 16"/>
          <p:cNvGrpSpPr/>
          <p:nvPr/>
        </p:nvGrpSpPr>
        <p:grpSpPr>
          <a:xfrm>
            <a:off x="694543" y="1922811"/>
            <a:ext cx="30480" cy="30480"/>
            <a:chOff x="694543" y="1922811"/>
            <a:chExt cx="30480" cy="30480"/>
          </a:xfrm>
        </p:grpSpPr>
        <p:sp>
          <p:nvSpPr>
            <p:cNvPr id="17" name="object 17"/>
            <p:cNvSpPr/>
            <p:nvPr/>
          </p:nvSpPr>
          <p:spPr>
            <a:xfrm>
              <a:off x="697074" y="1925341"/>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8" name="object 18"/>
            <p:cNvSpPr/>
            <p:nvPr/>
          </p:nvSpPr>
          <p:spPr>
            <a:xfrm>
              <a:off x="697074" y="1925341"/>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9" name="object 19"/>
          <p:cNvGrpSpPr/>
          <p:nvPr/>
        </p:nvGrpSpPr>
        <p:grpSpPr>
          <a:xfrm>
            <a:off x="694543" y="2074639"/>
            <a:ext cx="30480" cy="30480"/>
            <a:chOff x="694543" y="2074639"/>
            <a:chExt cx="30480" cy="30480"/>
          </a:xfrm>
        </p:grpSpPr>
        <p:sp>
          <p:nvSpPr>
            <p:cNvPr id="20" name="object 20"/>
            <p:cNvSpPr/>
            <p:nvPr/>
          </p:nvSpPr>
          <p:spPr>
            <a:xfrm>
              <a:off x="697074" y="2077170"/>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21" name="object 21"/>
            <p:cNvSpPr/>
            <p:nvPr/>
          </p:nvSpPr>
          <p:spPr>
            <a:xfrm>
              <a:off x="697074" y="2077170"/>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22" name="object 22"/>
          <p:cNvGrpSpPr/>
          <p:nvPr/>
        </p:nvGrpSpPr>
        <p:grpSpPr>
          <a:xfrm>
            <a:off x="694543" y="2226468"/>
            <a:ext cx="30480" cy="30480"/>
            <a:chOff x="694543" y="2226468"/>
            <a:chExt cx="30480" cy="30480"/>
          </a:xfrm>
        </p:grpSpPr>
        <p:sp>
          <p:nvSpPr>
            <p:cNvPr id="23" name="object 23"/>
            <p:cNvSpPr/>
            <p:nvPr/>
          </p:nvSpPr>
          <p:spPr>
            <a:xfrm>
              <a:off x="697074" y="2228998"/>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24" name="object 24"/>
            <p:cNvSpPr/>
            <p:nvPr/>
          </p:nvSpPr>
          <p:spPr>
            <a:xfrm>
              <a:off x="697074" y="2228998"/>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sp>
        <p:nvSpPr>
          <p:cNvPr id="25" name="object 25"/>
          <p:cNvSpPr txBox="1"/>
          <p:nvPr/>
        </p:nvSpPr>
        <p:spPr>
          <a:xfrm>
            <a:off x="504393" y="576718"/>
            <a:ext cx="1826895" cy="1737995"/>
          </a:xfrm>
          <a:prstGeom prst="rect">
            <a:avLst/>
          </a:prstGeom>
        </p:spPr>
        <p:txBody>
          <a:bodyPr vert="horz" wrap="square" lIns="0" tIns="6985" rIns="0" bIns="0" rtlCol="0">
            <a:spAutoFit/>
          </a:bodyPr>
          <a:lstStyle/>
          <a:p>
            <a:pPr marL="12700" marR="46355" algn="just">
              <a:lnSpc>
                <a:spcPct val="102600"/>
              </a:lnSpc>
              <a:spcBef>
                <a:spcPts val="55"/>
              </a:spcBef>
            </a:pPr>
            <a:r>
              <a:rPr sz="1100" spc="15" dirty="0">
                <a:latin typeface="SimSun"/>
                <a:cs typeface="SimSun"/>
              </a:rPr>
              <a:t>普通函数：调用</a:t>
            </a:r>
            <a:r>
              <a:rPr sz="1100" dirty="0">
                <a:latin typeface="Cambria"/>
                <a:cs typeface="Cambria"/>
              </a:rPr>
              <a:t>→ </a:t>
            </a:r>
            <a:r>
              <a:rPr sz="1100" spc="114" dirty="0">
                <a:latin typeface="SimSun"/>
                <a:cs typeface="SimSun"/>
              </a:rPr>
              <a:t>执行</a:t>
            </a:r>
            <a:r>
              <a:rPr sz="1100" dirty="0">
                <a:latin typeface="Cambria"/>
                <a:cs typeface="Cambria"/>
              </a:rPr>
              <a:t>→ </a:t>
            </a:r>
            <a:r>
              <a:rPr sz="1100" spc="-50" dirty="0">
                <a:latin typeface="SimSun"/>
                <a:cs typeface="SimSun"/>
              </a:rPr>
              <a:t>返</a:t>
            </a:r>
            <a:r>
              <a:rPr sz="1100" spc="-35" dirty="0">
                <a:latin typeface="SimSun"/>
                <a:cs typeface="SimSun"/>
              </a:rPr>
              <a:t>回。</a:t>
            </a:r>
            <a:endParaRPr sz="1100">
              <a:latin typeface="SimSun"/>
              <a:cs typeface="SimSun"/>
            </a:endParaRPr>
          </a:p>
          <a:p>
            <a:pPr marL="12700" marR="5080" algn="just">
              <a:lnSpc>
                <a:spcPct val="102600"/>
              </a:lnSpc>
              <a:spcBef>
                <a:spcPts val="300"/>
              </a:spcBef>
            </a:pPr>
            <a:r>
              <a:rPr sz="1100" spc="-25" dirty="0">
                <a:latin typeface="SimSun"/>
                <a:cs typeface="SimSun"/>
              </a:rPr>
              <a:t>协程：执行过程中可在挂起点主动让出控制权，之后从原位</a:t>
            </a:r>
            <a:r>
              <a:rPr sz="1100" spc="-30" dirty="0">
                <a:latin typeface="SimSun"/>
                <a:cs typeface="SimSun"/>
              </a:rPr>
              <a:t>置恢复。</a:t>
            </a:r>
            <a:endParaRPr sz="1100">
              <a:latin typeface="SimSun"/>
              <a:cs typeface="SimSun"/>
            </a:endParaRPr>
          </a:p>
          <a:p>
            <a:pPr marL="12700">
              <a:lnSpc>
                <a:spcPct val="100000"/>
              </a:lnSpc>
              <a:spcBef>
                <a:spcPts val="175"/>
              </a:spcBef>
            </a:pPr>
            <a:r>
              <a:rPr sz="1100" spc="-30" dirty="0">
                <a:latin typeface="SimSun"/>
                <a:cs typeface="SimSun"/>
              </a:rPr>
              <a:t>关键词：</a:t>
            </a:r>
            <a:endParaRPr sz="1100">
              <a:latin typeface="SimSun"/>
              <a:cs typeface="SimSun"/>
            </a:endParaRPr>
          </a:p>
          <a:p>
            <a:pPr marL="289560">
              <a:lnSpc>
                <a:spcPts val="1200"/>
              </a:lnSpc>
              <a:spcBef>
                <a:spcPts val="175"/>
              </a:spcBef>
            </a:pPr>
            <a:r>
              <a:rPr sz="1000" dirty="0">
                <a:latin typeface="Times New Roman"/>
                <a:cs typeface="Times New Roman"/>
              </a:rPr>
              <a:t>suspend</a:t>
            </a:r>
            <a:r>
              <a:rPr sz="1000" spc="-25" dirty="0">
                <a:latin typeface="Times New Roman"/>
                <a:cs typeface="Times New Roman"/>
              </a:rPr>
              <a:t> </a:t>
            </a:r>
            <a:r>
              <a:rPr sz="1000" dirty="0">
                <a:latin typeface="Times New Roman"/>
                <a:cs typeface="Times New Roman"/>
              </a:rPr>
              <a:t>/</a:t>
            </a:r>
            <a:r>
              <a:rPr sz="1000" spc="-20" dirty="0">
                <a:latin typeface="Times New Roman"/>
                <a:cs typeface="Times New Roman"/>
              </a:rPr>
              <a:t> </a:t>
            </a:r>
            <a:r>
              <a:rPr sz="1000" spc="-10" dirty="0">
                <a:latin typeface="Times New Roman"/>
                <a:cs typeface="Times New Roman"/>
              </a:rPr>
              <a:t>resume</a:t>
            </a:r>
            <a:endParaRPr sz="1000">
              <a:latin typeface="Times New Roman"/>
              <a:cs typeface="Times New Roman"/>
            </a:endParaRPr>
          </a:p>
          <a:p>
            <a:pPr marL="289560">
              <a:lnSpc>
                <a:spcPts val="1195"/>
              </a:lnSpc>
            </a:pPr>
            <a:r>
              <a:rPr sz="1000" dirty="0">
                <a:latin typeface="Times New Roman"/>
                <a:cs typeface="Times New Roman"/>
              </a:rPr>
              <a:t>await</a:t>
            </a:r>
            <a:r>
              <a:rPr sz="1000" spc="-20" dirty="0">
                <a:latin typeface="Times New Roman"/>
                <a:cs typeface="Times New Roman"/>
              </a:rPr>
              <a:t> </a:t>
            </a:r>
            <a:r>
              <a:rPr sz="1000" dirty="0">
                <a:latin typeface="Times New Roman"/>
                <a:cs typeface="Times New Roman"/>
              </a:rPr>
              <a:t>/</a:t>
            </a:r>
            <a:r>
              <a:rPr sz="1000" spc="-15" dirty="0">
                <a:latin typeface="Times New Roman"/>
                <a:cs typeface="Times New Roman"/>
              </a:rPr>
              <a:t> </a:t>
            </a:r>
            <a:r>
              <a:rPr sz="1000" dirty="0">
                <a:latin typeface="Times New Roman"/>
                <a:cs typeface="Times New Roman"/>
              </a:rPr>
              <a:t>Future</a:t>
            </a:r>
            <a:r>
              <a:rPr sz="1000" spc="-20" dirty="0">
                <a:latin typeface="Times New Roman"/>
                <a:cs typeface="Times New Roman"/>
              </a:rPr>
              <a:t> </a:t>
            </a:r>
            <a:r>
              <a:rPr sz="1000" dirty="0">
                <a:latin typeface="Times New Roman"/>
                <a:cs typeface="Times New Roman"/>
              </a:rPr>
              <a:t>/</a:t>
            </a:r>
            <a:r>
              <a:rPr sz="1000" spc="-15" dirty="0">
                <a:latin typeface="Times New Roman"/>
                <a:cs typeface="Times New Roman"/>
              </a:rPr>
              <a:t> </a:t>
            </a:r>
            <a:r>
              <a:rPr sz="1000" spc="-20" dirty="0">
                <a:latin typeface="Times New Roman"/>
                <a:cs typeface="Times New Roman"/>
              </a:rPr>
              <a:t>Task</a:t>
            </a:r>
            <a:endParaRPr sz="1000">
              <a:latin typeface="Times New Roman"/>
              <a:cs typeface="Times New Roman"/>
            </a:endParaRPr>
          </a:p>
          <a:p>
            <a:pPr marL="289560">
              <a:lnSpc>
                <a:spcPts val="1195"/>
              </a:lnSpc>
            </a:pPr>
            <a:r>
              <a:rPr sz="1000" spc="-20" dirty="0">
                <a:latin typeface="SimSun"/>
                <a:cs typeface="SimSun"/>
              </a:rPr>
              <a:t>协作式调度</a:t>
            </a:r>
            <a:endParaRPr sz="1000">
              <a:latin typeface="SimSun"/>
              <a:cs typeface="SimSun"/>
            </a:endParaRPr>
          </a:p>
          <a:p>
            <a:pPr marL="289560">
              <a:lnSpc>
                <a:spcPts val="1200"/>
              </a:lnSpc>
            </a:pPr>
            <a:r>
              <a:rPr sz="1000" spc="-20" dirty="0">
                <a:latin typeface="SimSun"/>
                <a:cs typeface="SimSun"/>
              </a:rPr>
              <a:t>用户态任务管理</a:t>
            </a:r>
            <a:endParaRPr sz="1000">
              <a:latin typeface="SimSun"/>
              <a:cs typeface="SimSun"/>
            </a:endParaRPr>
          </a:p>
        </p:txBody>
      </p:sp>
      <p:grpSp>
        <p:nvGrpSpPr>
          <p:cNvPr id="26" name="object 26"/>
          <p:cNvGrpSpPr/>
          <p:nvPr/>
        </p:nvGrpSpPr>
        <p:grpSpPr>
          <a:xfrm>
            <a:off x="2579497" y="714229"/>
            <a:ext cx="1788795" cy="807085"/>
            <a:chOff x="2579497" y="714229"/>
            <a:chExt cx="1788795" cy="807085"/>
          </a:xfrm>
        </p:grpSpPr>
        <p:sp>
          <p:nvSpPr>
            <p:cNvPr id="27" name="object 27"/>
            <p:cNvSpPr/>
            <p:nvPr/>
          </p:nvSpPr>
          <p:spPr>
            <a:xfrm>
              <a:off x="2633497" y="780883"/>
              <a:ext cx="1680845" cy="699135"/>
            </a:xfrm>
            <a:custGeom>
              <a:avLst/>
              <a:gdLst/>
              <a:ahLst/>
              <a:cxnLst/>
              <a:rect l="l" t="t" r="r" b="b"/>
              <a:pathLst>
                <a:path w="1680845" h="699135">
                  <a:moveTo>
                    <a:pt x="1680528" y="0"/>
                  </a:moveTo>
                  <a:lnTo>
                    <a:pt x="0" y="0"/>
                  </a:lnTo>
                  <a:lnTo>
                    <a:pt x="0" y="699051"/>
                  </a:lnTo>
                  <a:lnTo>
                    <a:pt x="1680528" y="699051"/>
                  </a:lnTo>
                  <a:lnTo>
                    <a:pt x="1680528" y="0"/>
                  </a:lnTo>
                  <a:close/>
                </a:path>
              </a:pathLst>
            </a:custGeom>
            <a:solidFill>
              <a:srgbClr val="B2B2B2"/>
            </a:solidFill>
          </p:spPr>
          <p:txBody>
            <a:bodyPr wrap="square" lIns="0" tIns="0" rIns="0" bIns="0" rtlCol="0"/>
            <a:lstStyle/>
            <a:p>
              <a:endParaRPr/>
            </a:p>
          </p:txBody>
        </p:sp>
        <p:sp>
          <p:nvSpPr>
            <p:cNvPr id="28" name="object 28"/>
            <p:cNvSpPr/>
            <p:nvPr/>
          </p:nvSpPr>
          <p:spPr>
            <a:xfrm>
              <a:off x="2579497" y="714229"/>
              <a:ext cx="1788795" cy="807085"/>
            </a:xfrm>
            <a:custGeom>
              <a:avLst/>
              <a:gdLst/>
              <a:ahLst/>
              <a:cxnLst/>
              <a:rect l="l" t="t" r="r" b="b"/>
              <a:pathLst>
                <a:path w="1788795" h="807085">
                  <a:moveTo>
                    <a:pt x="1734529" y="0"/>
                  </a:moveTo>
                  <a:lnTo>
                    <a:pt x="54000" y="0"/>
                  </a:lnTo>
                  <a:lnTo>
                    <a:pt x="32980" y="4243"/>
                  </a:lnTo>
                  <a:lnTo>
                    <a:pt x="15816" y="15816"/>
                  </a:lnTo>
                  <a:lnTo>
                    <a:pt x="4243" y="32980"/>
                  </a:lnTo>
                  <a:lnTo>
                    <a:pt x="0" y="54000"/>
                  </a:lnTo>
                  <a:lnTo>
                    <a:pt x="0" y="753052"/>
                  </a:lnTo>
                  <a:lnTo>
                    <a:pt x="4243" y="774071"/>
                  </a:lnTo>
                  <a:lnTo>
                    <a:pt x="15816" y="791236"/>
                  </a:lnTo>
                  <a:lnTo>
                    <a:pt x="32980" y="802808"/>
                  </a:lnTo>
                  <a:lnTo>
                    <a:pt x="54000" y="807052"/>
                  </a:lnTo>
                  <a:lnTo>
                    <a:pt x="1734529" y="807052"/>
                  </a:lnTo>
                  <a:lnTo>
                    <a:pt x="1755548" y="802808"/>
                  </a:lnTo>
                  <a:lnTo>
                    <a:pt x="1772713" y="791236"/>
                  </a:lnTo>
                  <a:lnTo>
                    <a:pt x="1784285" y="774071"/>
                  </a:lnTo>
                  <a:lnTo>
                    <a:pt x="1788529" y="753052"/>
                  </a:lnTo>
                  <a:lnTo>
                    <a:pt x="1788529" y="54000"/>
                  </a:lnTo>
                  <a:lnTo>
                    <a:pt x="1784285" y="32980"/>
                  </a:lnTo>
                  <a:lnTo>
                    <a:pt x="1772713" y="15816"/>
                  </a:lnTo>
                  <a:lnTo>
                    <a:pt x="1755548" y="4243"/>
                  </a:lnTo>
                  <a:lnTo>
                    <a:pt x="1734529" y="0"/>
                  </a:lnTo>
                  <a:close/>
                </a:path>
              </a:pathLst>
            </a:custGeom>
            <a:solidFill>
              <a:srgbClr val="1B4681"/>
            </a:solidFill>
          </p:spPr>
          <p:txBody>
            <a:bodyPr wrap="square" lIns="0" tIns="0" rIns="0" bIns="0" rtlCol="0"/>
            <a:lstStyle/>
            <a:p>
              <a:endParaRPr/>
            </a:p>
          </p:txBody>
        </p:sp>
        <p:sp>
          <p:nvSpPr>
            <p:cNvPr id="29" name="object 29"/>
            <p:cNvSpPr/>
            <p:nvPr/>
          </p:nvSpPr>
          <p:spPr>
            <a:xfrm>
              <a:off x="2579497" y="926793"/>
              <a:ext cx="1788795" cy="594995"/>
            </a:xfrm>
            <a:custGeom>
              <a:avLst/>
              <a:gdLst/>
              <a:ahLst/>
              <a:cxnLst/>
              <a:rect l="l" t="t" r="r" b="b"/>
              <a:pathLst>
                <a:path w="1788795" h="594994">
                  <a:moveTo>
                    <a:pt x="1788529" y="0"/>
                  </a:moveTo>
                  <a:lnTo>
                    <a:pt x="0" y="0"/>
                  </a:lnTo>
                  <a:lnTo>
                    <a:pt x="0" y="540487"/>
                  </a:lnTo>
                  <a:lnTo>
                    <a:pt x="4243" y="561507"/>
                  </a:lnTo>
                  <a:lnTo>
                    <a:pt x="15816" y="578672"/>
                  </a:lnTo>
                  <a:lnTo>
                    <a:pt x="32980" y="590244"/>
                  </a:lnTo>
                  <a:lnTo>
                    <a:pt x="54000" y="594488"/>
                  </a:lnTo>
                  <a:lnTo>
                    <a:pt x="1734529" y="594488"/>
                  </a:lnTo>
                  <a:lnTo>
                    <a:pt x="1755548" y="590244"/>
                  </a:lnTo>
                  <a:lnTo>
                    <a:pt x="1772713" y="578672"/>
                  </a:lnTo>
                  <a:lnTo>
                    <a:pt x="1784285" y="561507"/>
                  </a:lnTo>
                  <a:lnTo>
                    <a:pt x="1788529" y="540487"/>
                  </a:lnTo>
                  <a:lnTo>
                    <a:pt x="1788529" y="0"/>
                  </a:lnTo>
                  <a:close/>
                </a:path>
              </a:pathLst>
            </a:custGeom>
            <a:solidFill>
              <a:srgbClr val="E8ECF2"/>
            </a:solidFill>
          </p:spPr>
          <p:txBody>
            <a:bodyPr wrap="square" lIns="0" tIns="0" rIns="0" bIns="0" rtlCol="0"/>
            <a:lstStyle/>
            <a:p>
              <a:endParaRPr/>
            </a:p>
          </p:txBody>
        </p:sp>
      </p:grpSp>
      <p:sp>
        <p:nvSpPr>
          <p:cNvPr id="30" name="object 30"/>
          <p:cNvSpPr txBox="1"/>
          <p:nvPr/>
        </p:nvSpPr>
        <p:spPr>
          <a:xfrm>
            <a:off x="2628099" y="647851"/>
            <a:ext cx="1691639" cy="838835"/>
          </a:xfrm>
          <a:prstGeom prst="rect">
            <a:avLst/>
          </a:prstGeom>
        </p:spPr>
        <p:txBody>
          <a:bodyPr vert="horz" wrap="square" lIns="0" tIns="74930" rIns="0" bIns="0" rtlCol="0">
            <a:spAutoFit/>
          </a:bodyPr>
          <a:lstStyle/>
          <a:p>
            <a:pPr marL="12700">
              <a:lnSpc>
                <a:spcPct val="100000"/>
              </a:lnSpc>
              <a:spcBef>
                <a:spcPts val="590"/>
              </a:spcBef>
            </a:pPr>
            <a:r>
              <a:rPr sz="1200" spc="-30" dirty="0">
                <a:solidFill>
                  <a:srgbClr val="FFFFFF"/>
                </a:solidFill>
                <a:latin typeface="SimSun"/>
                <a:cs typeface="SimSun"/>
              </a:rPr>
              <a:t>概念界定</a:t>
            </a:r>
            <a:endParaRPr sz="1200">
              <a:latin typeface="SimSun"/>
              <a:cs typeface="SimSun"/>
            </a:endParaRPr>
          </a:p>
          <a:p>
            <a:pPr marL="12700" marR="5080" algn="just">
              <a:lnSpc>
                <a:spcPct val="102600"/>
              </a:lnSpc>
              <a:spcBef>
                <a:spcPts val="409"/>
              </a:spcBef>
            </a:pPr>
            <a:r>
              <a:rPr sz="1100" spc="-120" dirty="0">
                <a:latin typeface="SimSun"/>
                <a:cs typeface="SimSun"/>
              </a:rPr>
              <a:t>协程并非“更小的线程”，而</a:t>
            </a:r>
            <a:r>
              <a:rPr sz="1100" spc="-25" dirty="0">
                <a:latin typeface="SimSun"/>
                <a:cs typeface="SimSun"/>
              </a:rPr>
              <a:t>是针对等待型任务的一种更细粒度抽象。</a:t>
            </a:r>
            <a:endParaRPr sz="1100">
              <a:latin typeface="SimSun"/>
              <a:cs typeface="SimSun"/>
            </a:endParaRPr>
          </a:p>
        </p:txBody>
      </p:sp>
      <p:grpSp>
        <p:nvGrpSpPr>
          <p:cNvPr id="31" name="object 31"/>
          <p:cNvGrpSpPr/>
          <p:nvPr/>
        </p:nvGrpSpPr>
        <p:grpSpPr>
          <a:xfrm>
            <a:off x="2579497" y="1780205"/>
            <a:ext cx="1788795" cy="977900"/>
            <a:chOff x="2579497" y="1780205"/>
            <a:chExt cx="1788795" cy="977900"/>
          </a:xfrm>
        </p:grpSpPr>
        <p:sp>
          <p:nvSpPr>
            <p:cNvPr id="32" name="object 32"/>
            <p:cNvSpPr/>
            <p:nvPr/>
          </p:nvSpPr>
          <p:spPr>
            <a:xfrm>
              <a:off x="2633497" y="1846858"/>
              <a:ext cx="1680845" cy="869950"/>
            </a:xfrm>
            <a:custGeom>
              <a:avLst/>
              <a:gdLst/>
              <a:ahLst/>
              <a:cxnLst/>
              <a:rect l="l" t="t" r="r" b="b"/>
              <a:pathLst>
                <a:path w="1680845" h="869950">
                  <a:moveTo>
                    <a:pt x="1680528" y="0"/>
                  </a:moveTo>
                  <a:lnTo>
                    <a:pt x="0" y="0"/>
                  </a:lnTo>
                  <a:lnTo>
                    <a:pt x="0" y="869890"/>
                  </a:lnTo>
                  <a:lnTo>
                    <a:pt x="1680528" y="869890"/>
                  </a:lnTo>
                  <a:lnTo>
                    <a:pt x="1680528" y="0"/>
                  </a:lnTo>
                  <a:close/>
                </a:path>
              </a:pathLst>
            </a:custGeom>
            <a:solidFill>
              <a:srgbClr val="B2B2B2"/>
            </a:solidFill>
          </p:spPr>
          <p:txBody>
            <a:bodyPr wrap="square" lIns="0" tIns="0" rIns="0" bIns="0" rtlCol="0"/>
            <a:lstStyle/>
            <a:p>
              <a:endParaRPr/>
            </a:p>
          </p:txBody>
        </p:sp>
        <p:sp>
          <p:nvSpPr>
            <p:cNvPr id="33" name="object 33"/>
            <p:cNvSpPr/>
            <p:nvPr/>
          </p:nvSpPr>
          <p:spPr>
            <a:xfrm>
              <a:off x="2579497" y="1780205"/>
              <a:ext cx="1788795" cy="977900"/>
            </a:xfrm>
            <a:custGeom>
              <a:avLst/>
              <a:gdLst/>
              <a:ahLst/>
              <a:cxnLst/>
              <a:rect l="l" t="t" r="r" b="b"/>
              <a:pathLst>
                <a:path w="1788795" h="977900">
                  <a:moveTo>
                    <a:pt x="1734529" y="0"/>
                  </a:moveTo>
                  <a:lnTo>
                    <a:pt x="54000" y="0"/>
                  </a:lnTo>
                  <a:lnTo>
                    <a:pt x="32980" y="4243"/>
                  </a:lnTo>
                  <a:lnTo>
                    <a:pt x="15816" y="15816"/>
                  </a:lnTo>
                  <a:lnTo>
                    <a:pt x="4243" y="32980"/>
                  </a:lnTo>
                  <a:lnTo>
                    <a:pt x="0" y="54000"/>
                  </a:lnTo>
                  <a:lnTo>
                    <a:pt x="0" y="923890"/>
                  </a:lnTo>
                  <a:lnTo>
                    <a:pt x="4243" y="944910"/>
                  </a:lnTo>
                  <a:lnTo>
                    <a:pt x="15816" y="962075"/>
                  </a:lnTo>
                  <a:lnTo>
                    <a:pt x="32980" y="973647"/>
                  </a:lnTo>
                  <a:lnTo>
                    <a:pt x="54000" y="977891"/>
                  </a:lnTo>
                  <a:lnTo>
                    <a:pt x="1734529" y="977891"/>
                  </a:lnTo>
                  <a:lnTo>
                    <a:pt x="1755548" y="973647"/>
                  </a:lnTo>
                  <a:lnTo>
                    <a:pt x="1772713" y="962075"/>
                  </a:lnTo>
                  <a:lnTo>
                    <a:pt x="1784285" y="944910"/>
                  </a:lnTo>
                  <a:lnTo>
                    <a:pt x="1788529" y="923890"/>
                  </a:lnTo>
                  <a:lnTo>
                    <a:pt x="1788529" y="54000"/>
                  </a:lnTo>
                  <a:lnTo>
                    <a:pt x="1784285" y="32980"/>
                  </a:lnTo>
                  <a:lnTo>
                    <a:pt x="1772713" y="15816"/>
                  </a:lnTo>
                  <a:lnTo>
                    <a:pt x="1755548" y="4243"/>
                  </a:lnTo>
                  <a:lnTo>
                    <a:pt x="1734529" y="0"/>
                  </a:lnTo>
                  <a:close/>
                </a:path>
              </a:pathLst>
            </a:custGeom>
            <a:solidFill>
              <a:srgbClr val="96321E"/>
            </a:solidFill>
          </p:spPr>
          <p:txBody>
            <a:bodyPr wrap="square" lIns="0" tIns="0" rIns="0" bIns="0" rtlCol="0"/>
            <a:lstStyle/>
            <a:p>
              <a:endParaRPr/>
            </a:p>
          </p:txBody>
        </p:sp>
        <p:sp>
          <p:nvSpPr>
            <p:cNvPr id="34" name="object 34"/>
            <p:cNvSpPr/>
            <p:nvPr/>
          </p:nvSpPr>
          <p:spPr>
            <a:xfrm>
              <a:off x="2579497" y="1990990"/>
              <a:ext cx="1788795" cy="767715"/>
            </a:xfrm>
            <a:custGeom>
              <a:avLst/>
              <a:gdLst/>
              <a:ahLst/>
              <a:cxnLst/>
              <a:rect l="l" t="t" r="r" b="b"/>
              <a:pathLst>
                <a:path w="1788795" h="767714">
                  <a:moveTo>
                    <a:pt x="1788529" y="0"/>
                  </a:moveTo>
                  <a:lnTo>
                    <a:pt x="0" y="0"/>
                  </a:lnTo>
                  <a:lnTo>
                    <a:pt x="0" y="713106"/>
                  </a:lnTo>
                  <a:lnTo>
                    <a:pt x="4243" y="734125"/>
                  </a:lnTo>
                  <a:lnTo>
                    <a:pt x="15816" y="751290"/>
                  </a:lnTo>
                  <a:lnTo>
                    <a:pt x="32980" y="762862"/>
                  </a:lnTo>
                  <a:lnTo>
                    <a:pt x="54000" y="767106"/>
                  </a:lnTo>
                  <a:lnTo>
                    <a:pt x="1734529" y="767106"/>
                  </a:lnTo>
                  <a:lnTo>
                    <a:pt x="1755548" y="762862"/>
                  </a:lnTo>
                  <a:lnTo>
                    <a:pt x="1772713" y="751290"/>
                  </a:lnTo>
                  <a:lnTo>
                    <a:pt x="1784285" y="734125"/>
                  </a:lnTo>
                  <a:lnTo>
                    <a:pt x="1788529" y="713106"/>
                  </a:lnTo>
                  <a:lnTo>
                    <a:pt x="1788529" y="0"/>
                  </a:lnTo>
                  <a:close/>
                </a:path>
              </a:pathLst>
            </a:custGeom>
            <a:solidFill>
              <a:srgbClr val="F4EAE8"/>
            </a:solidFill>
          </p:spPr>
          <p:txBody>
            <a:bodyPr wrap="square" lIns="0" tIns="0" rIns="0" bIns="0" rtlCol="0"/>
            <a:lstStyle/>
            <a:p>
              <a:endParaRPr/>
            </a:p>
          </p:txBody>
        </p:sp>
      </p:grpSp>
      <p:sp>
        <p:nvSpPr>
          <p:cNvPr id="35" name="object 35"/>
          <p:cNvSpPr txBox="1"/>
          <p:nvPr/>
        </p:nvSpPr>
        <p:spPr>
          <a:xfrm>
            <a:off x="2628099" y="1713939"/>
            <a:ext cx="1691639" cy="1009650"/>
          </a:xfrm>
          <a:prstGeom prst="rect">
            <a:avLst/>
          </a:prstGeom>
        </p:spPr>
        <p:txBody>
          <a:bodyPr vert="horz" wrap="square" lIns="0" tIns="74295" rIns="0" bIns="0" rtlCol="0">
            <a:spAutoFit/>
          </a:bodyPr>
          <a:lstStyle/>
          <a:p>
            <a:pPr marL="12700">
              <a:lnSpc>
                <a:spcPct val="100000"/>
              </a:lnSpc>
              <a:spcBef>
                <a:spcPts val="585"/>
              </a:spcBef>
            </a:pPr>
            <a:r>
              <a:rPr sz="1200" spc="-30" dirty="0">
                <a:solidFill>
                  <a:srgbClr val="FFFFFF"/>
                </a:solidFill>
                <a:latin typeface="SimSun"/>
                <a:cs typeface="SimSun"/>
              </a:rPr>
              <a:t>适用边界</a:t>
            </a:r>
            <a:endParaRPr sz="1200">
              <a:latin typeface="SimSun"/>
              <a:cs typeface="SimSun"/>
            </a:endParaRPr>
          </a:p>
          <a:p>
            <a:pPr marL="12700" marR="5080" algn="just">
              <a:lnSpc>
                <a:spcPct val="102600"/>
              </a:lnSpc>
              <a:spcBef>
                <a:spcPts val="405"/>
              </a:spcBef>
            </a:pPr>
            <a:r>
              <a:rPr sz="1100" spc="80" dirty="0">
                <a:latin typeface="SimSun"/>
                <a:cs typeface="SimSun"/>
              </a:rPr>
              <a:t>协程主要用于管理等待过</a:t>
            </a:r>
            <a:r>
              <a:rPr sz="1100" spc="-25" dirty="0">
                <a:latin typeface="SimSun"/>
                <a:cs typeface="SimSun"/>
              </a:rPr>
              <a:t>程，并不意味着能够自动提升计算密集型任务的执行效</a:t>
            </a:r>
            <a:r>
              <a:rPr sz="1100" spc="-35" dirty="0">
                <a:latin typeface="SimSun"/>
                <a:cs typeface="SimSun"/>
              </a:rPr>
              <a:t>率。</a:t>
            </a:r>
            <a:endParaRPr sz="1100">
              <a:latin typeface="SimSun"/>
              <a:cs typeface="SimSun"/>
            </a:endParaRPr>
          </a:p>
        </p:txBody>
      </p:sp>
      <p:grpSp>
        <p:nvGrpSpPr>
          <p:cNvPr id="36" name="object 36"/>
          <p:cNvGrpSpPr/>
          <p:nvPr/>
        </p:nvGrpSpPr>
        <p:grpSpPr>
          <a:xfrm>
            <a:off x="0" y="3309520"/>
            <a:ext cx="4608195" cy="146685"/>
            <a:chOff x="0" y="3309520"/>
            <a:chExt cx="4608195" cy="146685"/>
          </a:xfrm>
        </p:grpSpPr>
        <p:sp>
          <p:nvSpPr>
            <p:cNvPr id="37" name="object 37"/>
            <p:cNvSpPr/>
            <p:nvPr/>
          </p:nvSpPr>
          <p:spPr>
            <a:xfrm>
              <a:off x="0" y="3309520"/>
              <a:ext cx="1464945" cy="146685"/>
            </a:xfrm>
            <a:custGeom>
              <a:avLst/>
              <a:gdLst/>
              <a:ahLst/>
              <a:cxnLst/>
              <a:rect l="l" t="t" r="r" b="b"/>
              <a:pathLst>
                <a:path w="1464945" h="146685">
                  <a:moveTo>
                    <a:pt x="1464490" y="146530"/>
                  </a:moveTo>
                  <a:lnTo>
                    <a:pt x="1464490" y="0"/>
                  </a:lnTo>
                  <a:lnTo>
                    <a:pt x="0" y="0"/>
                  </a:lnTo>
                  <a:lnTo>
                    <a:pt x="0" y="146530"/>
                  </a:lnTo>
                  <a:lnTo>
                    <a:pt x="1464490" y="146530"/>
                  </a:lnTo>
                  <a:close/>
                </a:path>
              </a:pathLst>
            </a:custGeom>
            <a:solidFill>
              <a:srgbClr val="4681B4"/>
            </a:solidFill>
          </p:spPr>
          <p:txBody>
            <a:bodyPr wrap="square" lIns="0" tIns="0" rIns="0" bIns="0" rtlCol="0"/>
            <a:lstStyle/>
            <a:p>
              <a:endParaRPr/>
            </a:p>
          </p:txBody>
        </p:sp>
        <p:sp>
          <p:nvSpPr>
            <p:cNvPr id="38" name="object 38"/>
            <p:cNvSpPr/>
            <p:nvPr/>
          </p:nvSpPr>
          <p:spPr>
            <a:xfrm>
              <a:off x="1464490" y="3309520"/>
              <a:ext cx="2672715" cy="146685"/>
            </a:xfrm>
            <a:custGeom>
              <a:avLst/>
              <a:gdLst/>
              <a:ahLst/>
              <a:cxnLst/>
              <a:rect l="l" t="t" r="r" b="b"/>
              <a:pathLst>
                <a:path w="2672715" h="146685">
                  <a:moveTo>
                    <a:pt x="2672682" y="0"/>
                  </a:moveTo>
                  <a:lnTo>
                    <a:pt x="0" y="0"/>
                  </a:lnTo>
                  <a:lnTo>
                    <a:pt x="0" y="146530"/>
                  </a:lnTo>
                  <a:lnTo>
                    <a:pt x="2672682" y="146530"/>
                  </a:lnTo>
                  <a:lnTo>
                    <a:pt x="2672682" y="0"/>
                  </a:lnTo>
                  <a:close/>
                </a:path>
              </a:pathLst>
            </a:custGeom>
            <a:solidFill>
              <a:srgbClr val="1B4681"/>
            </a:solidFill>
          </p:spPr>
          <p:txBody>
            <a:bodyPr wrap="square" lIns="0" tIns="0" rIns="0" bIns="0" rtlCol="0"/>
            <a:lstStyle/>
            <a:p>
              <a:endParaRPr/>
            </a:p>
          </p:txBody>
        </p:sp>
        <p:sp>
          <p:nvSpPr>
            <p:cNvPr id="39" name="object 39"/>
            <p:cNvSpPr/>
            <p:nvPr/>
          </p:nvSpPr>
          <p:spPr>
            <a:xfrm>
              <a:off x="4137103" y="3309520"/>
              <a:ext cx="471170" cy="146685"/>
            </a:xfrm>
            <a:custGeom>
              <a:avLst/>
              <a:gdLst/>
              <a:ahLst/>
              <a:cxnLst/>
              <a:rect l="l" t="t" r="r" b="b"/>
              <a:pathLst>
                <a:path w="471170" h="146685">
                  <a:moveTo>
                    <a:pt x="470836" y="0"/>
                  </a:moveTo>
                  <a:lnTo>
                    <a:pt x="0" y="0"/>
                  </a:lnTo>
                  <a:lnTo>
                    <a:pt x="0" y="146530"/>
                  </a:lnTo>
                  <a:lnTo>
                    <a:pt x="470836" y="146530"/>
                  </a:lnTo>
                  <a:lnTo>
                    <a:pt x="470836" y="0"/>
                  </a:lnTo>
                  <a:close/>
                </a:path>
              </a:pathLst>
            </a:custGeom>
            <a:solidFill>
              <a:srgbClr val="0A2750"/>
            </a:solidFill>
          </p:spPr>
          <p:txBody>
            <a:bodyPr wrap="square" lIns="0" tIns="0" rIns="0" bIns="0" rtlCol="0"/>
            <a:lstStyle/>
            <a:p>
              <a:endParaRPr/>
            </a:p>
          </p:txBody>
        </p:sp>
      </p:grpSp>
      <p:sp>
        <p:nvSpPr>
          <p:cNvPr id="40" name="object 40"/>
          <p:cNvSpPr txBox="1">
            <a:spLocks noGrp="1"/>
          </p:cNvSpPr>
          <p:nvPr>
            <p:ph type="dt" sz="half" idx="6"/>
          </p:nvPr>
        </p:nvSpPr>
        <p:spPr>
          <a:prstGeom prst="rect">
            <a:avLst/>
          </a:prstGeom>
        </p:spPr>
        <p:txBody>
          <a:bodyPr vert="horz" wrap="square" lIns="0" tIns="1270" rIns="0" bIns="0" rtlCol="0">
            <a:spAutoFit/>
          </a:bodyPr>
          <a:lstStyle/>
          <a:p>
            <a:pPr marL="12700">
              <a:lnSpc>
                <a:spcPct val="100000"/>
              </a:lnSpc>
              <a:spcBef>
                <a:spcPts val="10"/>
              </a:spcBef>
            </a:pPr>
            <a:r>
              <a:rPr spc="35" dirty="0"/>
              <a:t>尚文轩 南开大学</a:t>
            </a:r>
          </a:p>
        </p:txBody>
      </p:sp>
      <p:sp>
        <p:nvSpPr>
          <p:cNvPr id="41" name="object 41"/>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spc="-30" dirty="0">
                <a:latin typeface="Times New Roman"/>
                <a:cs typeface="Times New Roman"/>
              </a:rPr>
              <a:t>OT-</a:t>
            </a:r>
            <a:r>
              <a:rPr spc="-20" dirty="0"/>
              <a:t>协程技术调研</a:t>
            </a:r>
          </a:p>
        </p:txBody>
      </p:sp>
      <p:sp>
        <p:nvSpPr>
          <p:cNvPr id="42" name="object 42"/>
          <p:cNvSpPr txBox="1">
            <a:spLocks noGrp="1"/>
          </p:cNvSpPr>
          <p:nvPr>
            <p:ph type="sldNum" sz="quarter" idx="7"/>
          </p:nvPr>
        </p:nvSpPr>
        <p:spPr>
          <a:prstGeom prst="rect">
            <a:avLst/>
          </a:prstGeom>
        </p:spPr>
        <p:txBody>
          <a:bodyPr vert="horz" wrap="square" lIns="0" tIns="3810" rIns="0" bIns="0" rtlCol="0">
            <a:spAutoFit/>
          </a:bodyPr>
          <a:lstStyle/>
          <a:p>
            <a:pPr marL="37465">
              <a:lnSpc>
                <a:spcPct val="100000"/>
              </a:lnSpc>
              <a:spcBef>
                <a:spcPts val="30"/>
              </a:spcBef>
            </a:pPr>
            <a:fld id="{81D60167-4931-47E6-BA6A-407CBD079E47}" type="slidenum">
              <a:rPr spc="-25" dirty="0"/>
              <a:t>5</a:t>
            </a:fld>
            <a:endParaRPr spc="-25" dirty="0"/>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78EA00DA-FECA-5F17-8EE6-FA3F610CE911}"/>
              </a:ext>
            </a:extLst>
          </p:cNvPr>
          <p:cNvPicPr>
            <a:picLocks noChangeAspect="1"/>
          </p:cNvPicPr>
          <p:nvPr/>
        </p:nvPicPr>
        <p:blipFill>
          <a:blip r:embed="rId2"/>
          <a:stretch>
            <a:fillRect/>
          </a:stretch>
        </p:blipFill>
        <p:spPr>
          <a:xfrm>
            <a:off x="0" y="1"/>
            <a:ext cx="4610100" cy="250672"/>
          </a:xfrm>
          <a:prstGeom prst="rect">
            <a:avLst/>
          </a:prstGeom>
        </p:spPr>
      </p:pic>
      <p:sp>
        <p:nvSpPr>
          <p:cNvPr id="2" name="object 2"/>
          <p:cNvSpPr txBox="1"/>
          <p:nvPr/>
        </p:nvSpPr>
        <p:spPr>
          <a:xfrm>
            <a:off x="105130" y="42861"/>
            <a:ext cx="1134110" cy="180819"/>
          </a:xfrm>
          <a:prstGeom prst="rect">
            <a:avLst/>
          </a:prstGeom>
        </p:spPr>
        <p:txBody>
          <a:bodyPr vert="horz" wrap="square" lIns="0" tIns="11430" rIns="0" bIns="0" rtlCol="0">
            <a:spAutoFit/>
          </a:bodyPr>
          <a:lstStyle/>
          <a:p>
            <a:pPr marL="12700">
              <a:lnSpc>
                <a:spcPct val="100000"/>
              </a:lnSpc>
              <a:spcBef>
                <a:spcPts val="90"/>
              </a:spcBef>
            </a:pPr>
            <a:r>
              <a:rPr sz="1100" spc="-25" dirty="0">
                <a:solidFill>
                  <a:schemeClr val="bg1"/>
                </a:solidFill>
                <a:latin typeface="SimSun"/>
                <a:cs typeface="SimSun"/>
              </a:rPr>
              <a:t>线程与协程的区别</a:t>
            </a:r>
            <a:endParaRPr sz="1100" dirty="0">
              <a:solidFill>
                <a:schemeClr val="bg1"/>
              </a:solidFill>
              <a:latin typeface="SimSun"/>
              <a:cs typeface="SimSun"/>
            </a:endParaRPr>
          </a:p>
        </p:txBody>
      </p:sp>
      <p:sp>
        <p:nvSpPr>
          <p:cNvPr id="3" name="object 3"/>
          <p:cNvSpPr/>
          <p:nvPr/>
        </p:nvSpPr>
        <p:spPr>
          <a:xfrm>
            <a:off x="0" y="252052"/>
            <a:ext cx="4608195" cy="0"/>
          </a:xfrm>
          <a:custGeom>
            <a:avLst/>
            <a:gdLst/>
            <a:ahLst/>
            <a:cxnLst/>
            <a:rect l="l" t="t" r="r" b="b"/>
            <a:pathLst>
              <a:path w="4608195">
                <a:moveTo>
                  <a:pt x="0" y="0"/>
                </a:moveTo>
                <a:lnTo>
                  <a:pt x="4608060" y="0"/>
                </a:lnTo>
              </a:path>
            </a:pathLst>
          </a:custGeom>
          <a:ln w="12652">
            <a:solidFill>
              <a:srgbClr val="1B4681"/>
            </a:solidFill>
          </a:ln>
        </p:spPr>
        <p:txBody>
          <a:bodyPr wrap="square" lIns="0" tIns="0" rIns="0" bIns="0" rtlCol="0"/>
          <a:lstStyle/>
          <a:p>
            <a:endParaRPr/>
          </a:p>
        </p:txBody>
      </p:sp>
      <p:graphicFrame>
        <p:nvGraphicFramePr>
          <p:cNvPr id="4" name="object 4"/>
          <p:cNvGraphicFramePr>
            <a:graphicFrameLocks noGrp="1"/>
          </p:cNvGraphicFramePr>
          <p:nvPr/>
        </p:nvGraphicFramePr>
        <p:xfrm>
          <a:off x="359994" y="530136"/>
          <a:ext cx="4124324" cy="1259205"/>
        </p:xfrm>
        <a:graphic>
          <a:graphicData uri="http://schemas.openxmlformats.org/drawingml/2006/table">
            <a:tbl>
              <a:tblPr firstRow="1" bandRow="1">
                <a:tableStyleId>{2D5ABB26-0587-4C30-8999-92F81FD0307C}</a:tableStyleId>
              </a:tblPr>
              <a:tblGrid>
                <a:gridCol w="714375">
                  <a:extLst>
                    <a:ext uri="{9D8B030D-6E8A-4147-A177-3AD203B41FA5}">
                      <a16:colId xmlns:a16="http://schemas.microsoft.com/office/drawing/2014/main" val="20000"/>
                    </a:ext>
                  </a:extLst>
                </a:gridCol>
                <a:gridCol w="1634489">
                  <a:extLst>
                    <a:ext uri="{9D8B030D-6E8A-4147-A177-3AD203B41FA5}">
                      <a16:colId xmlns:a16="http://schemas.microsoft.com/office/drawing/2014/main" val="20001"/>
                    </a:ext>
                  </a:extLst>
                </a:gridCol>
                <a:gridCol w="1775460">
                  <a:extLst>
                    <a:ext uri="{9D8B030D-6E8A-4147-A177-3AD203B41FA5}">
                      <a16:colId xmlns:a16="http://schemas.microsoft.com/office/drawing/2014/main" val="20002"/>
                    </a:ext>
                  </a:extLst>
                </a:gridCol>
              </a:tblGrid>
              <a:tr h="212725">
                <a:tc>
                  <a:txBody>
                    <a:bodyPr/>
                    <a:lstStyle/>
                    <a:p>
                      <a:pPr marL="62865">
                        <a:lnSpc>
                          <a:spcPct val="100000"/>
                        </a:lnSpc>
                        <a:spcBef>
                          <a:spcPts val="225"/>
                        </a:spcBef>
                      </a:pPr>
                      <a:r>
                        <a:rPr sz="900" spc="-30" dirty="0">
                          <a:latin typeface="SimSun"/>
                          <a:cs typeface="SimSun"/>
                        </a:rPr>
                        <a:t>维度</a:t>
                      </a:r>
                      <a:endParaRPr sz="900">
                        <a:latin typeface="SimSun"/>
                        <a:cs typeface="SimSun"/>
                      </a:endParaRPr>
                    </a:p>
                  </a:txBody>
                  <a:tcPr marL="0" marR="0" marT="28575" marB="0">
                    <a:lnT w="12700">
                      <a:solidFill>
                        <a:srgbClr val="000000"/>
                      </a:solidFill>
                      <a:prstDash val="solid"/>
                    </a:lnT>
                    <a:lnB w="9525">
                      <a:solidFill>
                        <a:srgbClr val="000000"/>
                      </a:solidFill>
                      <a:prstDash val="solid"/>
                    </a:lnB>
                  </a:tcPr>
                </a:tc>
                <a:tc>
                  <a:txBody>
                    <a:bodyPr/>
                    <a:lstStyle/>
                    <a:p>
                      <a:pPr marL="194945">
                        <a:lnSpc>
                          <a:spcPct val="100000"/>
                        </a:lnSpc>
                        <a:spcBef>
                          <a:spcPts val="225"/>
                        </a:spcBef>
                      </a:pPr>
                      <a:r>
                        <a:rPr sz="900" spc="-30" dirty="0">
                          <a:latin typeface="SimSun"/>
                          <a:cs typeface="SimSun"/>
                        </a:rPr>
                        <a:t>线程</a:t>
                      </a:r>
                      <a:endParaRPr sz="900">
                        <a:latin typeface="SimSun"/>
                        <a:cs typeface="SimSun"/>
                      </a:endParaRPr>
                    </a:p>
                  </a:txBody>
                  <a:tcPr marL="0" marR="0" marT="28575" marB="0">
                    <a:lnT w="12700">
                      <a:solidFill>
                        <a:srgbClr val="000000"/>
                      </a:solidFill>
                      <a:prstDash val="solid"/>
                    </a:lnT>
                    <a:lnB w="9525">
                      <a:solidFill>
                        <a:srgbClr val="000000"/>
                      </a:solidFill>
                      <a:prstDash val="solid"/>
                    </a:lnB>
                  </a:tcPr>
                </a:tc>
                <a:tc>
                  <a:txBody>
                    <a:bodyPr/>
                    <a:lstStyle/>
                    <a:p>
                      <a:pPr marL="163830">
                        <a:lnSpc>
                          <a:spcPct val="100000"/>
                        </a:lnSpc>
                        <a:spcBef>
                          <a:spcPts val="225"/>
                        </a:spcBef>
                      </a:pPr>
                      <a:r>
                        <a:rPr sz="900" spc="-30" dirty="0">
                          <a:latin typeface="SimSun"/>
                          <a:cs typeface="SimSun"/>
                        </a:rPr>
                        <a:t>协程</a:t>
                      </a:r>
                      <a:endParaRPr sz="900">
                        <a:latin typeface="SimSun"/>
                        <a:cs typeface="SimSun"/>
                      </a:endParaRPr>
                    </a:p>
                  </a:txBody>
                  <a:tcPr marL="0" marR="0" marT="28575" marB="0">
                    <a:lnT w="12700">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r h="173355">
                <a:tc>
                  <a:txBody>
                    <a:bodyPr/>
                    <a:lstStyle/>
                    <a:p>
                      <a:pPr marL="62865">
                        <a:lnSpc>
                          <a:spcPts val="1060"/>
                        </a:lnSpc>
                        <a:spcBef>
                          <a:spcPts val="209"/>
                        </a:spcBef>
                      </a:pPr>
                      <a:r>
                        <a:rPr sz="900" spc="-20" dirty="0">
                          <a:latin typeface="SimSun"/>
                          <a:cs typeface="SimSun"/>
                        </a:rPr>
                        <a:t>调度主体</a:t>
                      </a:r>
                      <a:endParaRPr sz="900">
                        <a:latin typeface="SimSun"/>
                        <a:cs typeface="SimSun"/>
                      </a:endParaRPr>
                    </a:p>
                  </a:txBody>
                  <a:tcPr marL="0" marR="0" marT="26669" marB="0">
                    <a:lnT w="9525">
                      <a:solidFill>
                        <a:srgbClr val="000000"/>
                      </a:solidFill>
                      <a:prstDash val="solid"/>
                    </a:lnT>
                  </a:tcPr>
                </a:tc>
                <a:tc>
                  <a:txBody>
                    <a:bodyPr/>
                    <a:lstStyle/>
                    <a:p>
                      <a:pPr marL="194945">
                        <a:lnSpc>
                          <a:spcPts val="1060"/>
                        </a:lnSpc>
                        <a:spcBef>
                          <a:spcPts val="209"/>
                        </a:spcBef>
                      </a:pPr>
                      <a:r>
                        <a:rPr sz="900" spc="-20" dirty="0">
                          <a:latin typeface="SimSun"/>
                          <a:cs typeface="SimSun"/>
                        </a:rPr>
                        <a:t>操作系统内核</a:t>
                      </a:r>
                      <a:endParaRPr sz="900">
                        <a:latin typeface="SimSun"/>
                        <a:cs typeface="SimSun"/>
                      </a:endParaRPr>
                    </a:p>
                  </a:txBody>
                  <a:tcPr marL="0" marR="0" marT="26669" marB="0">
                    <a:lnT w="9525">
                      <a:solidFill>
                        <a:srgbClr val="000000"/>
                      </a:solidFill>
                      <a:prstDash val="solid"/>
                    </a:lnT>
                  </a:tcPr>
                </a:tc>
                <a:tc>
                  <a:txBody>
                    <a:bodyPr/>
                    <a:lstStyle/>
                    <a:p>
                      <a:pPr marL="163830">
                        <a:lnSpc>
                          <a:spcPts val="1060"/>
                        </a:lnSpc>
                        <a:spcBef>
                          <a:spcPts val="209"/>
                        </a:spcBef>
                      </a:pPr>
                      <a:r>
                        <a:rPr sz="900" spc="30" dirty="0">
                          <a:latin typeface="SimSun"/>
                          <a:cs typeface="SimSun"/>
                        </a:rPr>
                        <a:t>语言运行时</a:t>
                      </a:r>
                      <a:r>
                        <a:rPr sz="900" spc="-5" dirty="0">
                          <a:latin typeface="Times New Roman"/>
                          <a:cs typeface="Times New Roman"/>
                        </a:rPr>
                        <a:t>/ </a:t>
                      </a:r>
                      <a:r>
                        <a:rPr sz="900" spc="-55" dirty="0">
                          <a:latin typeface="SimSun"/>
                          <a:cs typeface="SimSun"/>
                        </a:rPr>
                        <a:t>事件循环 </a:t>
                      </a:r>
                      <a:r>
                        <a:rPr sz="900" dirty="0">
                          <a:latin typeface="Times New Roman"/>
                          <a:cs typeface="Times New Roman"/>
                        </a:rPr>
                        <a:t>/ </a:t>
                      </a:r>
                      <a:r>
                        <a:rPr sz="900" spc="-25" dirty="0">
                          <a:latin typeface="SimSun"/>
                          <a:cs typeface="SimSun"/>
                        </a:rPr>
                        <a:t>调度器</a:t>
                      </a:r>
                      <a:endParaRPr sz="900">
                        <a:latin typeface="SimSun"/>
                        <a:cs typeface="SimSun"/>
                      </a:endParaRPr>
                    </a:p>
                  </a:txBody>
                  <a:tcPr marL="0" marR="0" marT="26669" marB="0">
                    <a:lnT w="9525">
                      <a:solidFill>
                        <a:srgbClr val="000000"/>
                      </a:solidFill>
                      <a:prstDash val="solid"/>
                    </a:lnT>
                  </a:tcPr>
                </a:tc>
                <a:extLst>
                  <a:ext uri="{0D108BD9-81ED-4DB2-BD59-A6C34878D82A}">
                    <a16:rowId xmlns:a16="http://schemas.microsoft.com/office/drawing/2014/main" val="10001"/>
                  </a:ext>
                </a:extLst>
              </a:tr>
              <a:tr h="134620">
                <a:tc>
                  <a:txBody>
                    <a:bodyPr/>
                    <a:lstStyle/>
                    <a:p>
                      <a:pPr marL="62865">
                        <a:lnSpc>
                          <a:spcPts val="960"/>
                        </a:lnSpc>
                      </a:pPr>
                      <a:r>
                        <a:rPr sz="900" spc="-20" dirty="0">
                          <a:latin typeface="SimSun"/>
                          <a:cs typeface="SimSun"/>
                        </a:rPr>
                        <a:t>切换方式</a:t>
                      </a:r>
                      <a:endParaRPr sz="900">
                        <a:latin typeface="SimSun"/>
                        <a:cs typeface="SimSun"/>
                      </a:endParaRPr>
                    </a:p>
                  </a:txBody>
                  <a:tcPr marL="0" marR="0" marT="0" marB="0"/>
                </a:tc>
                <a:tc>
                  <a:txBody>
                    <a:bodyPr/>
                    <a:lstStyle/>
                    <a:p>
                      <a:pPr marL="194945">
                        <a:lnSpc>
                          <a:spcPts val="960"/>
                        </a:lnSpc>
                      </a:pPr>
                      <a:r>
                        <a:rPr sz="900" spc="-20" dirty="0">
                          <a:latin typeface="SimSun"/>
                          <a:cs typeface="SimSun"/>
                        </a:rPr>
                        <a:t>抢占式为主</a:t>
                      </a:r>
                      <a:endParaRPr sz="900">
                        <a:latin typeface="SimSun"/>
                        <a:cs typeface="SimSun"/>
                      </a:endParaRPr>
                    </a:p>
                  </a:txBody>
                  <a:tcPr marL="0" marR="0" marT="0" marB="0"/>
                </a:tc>
                <a:tc>
                  <a:txBody>
                    <a:bodyPr/>
                    <a:lstStyle/>
                    <a:p>
                      <a:pPr marL="163830">
                        <a:lnSpc>
                          <a:spcPts val="960"/>
                        </a:lnSpc>
                      </a:pPr>
                      <a:r>
                        <a:rPr sz="900" spc="-10" dirty="0">
                          <a:latin typeface="SimSun"/>
                          <a:cs typeface="SimSun"/>
                        </a:rPr>
                        <a:t>协作式为主，通常在用户态完</a:t>
                      </a:r>
                      <a:endParaRPr sz="900">
                        <a:latin typeface="SimSun"/>
                        <a:cs typeface="SimSun"/>
                      </a:endParaRPr>
                    </a:p>
                  </a:txBody>
                  <a:tcPr marL="0" marR="0" marT="0" marB="0"/>
                </a:tc>
                <a:extLst>
                  <a:ext uri="{0D108BD9-81ED-4DB2-BD59-A6C34878D82A}">
                    <a16:rowId xmlns:a16="http://schemas.microsoft.com/office/drawing/2014/main" val="10002"/>
                  </a:ext>
                </a:extLst>
              </a:tr>
              <a:tr h="139065">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tc>
                  <a:txBody>
                    <a:bodyPr/>
                    <a:lstStyle/>
                    <a:p>
                      <a:pPr marL="163830">
                        <a:lnSpc>
                          <a:spcPts val="994"/>
                        </a:lnSpc>
                      </a:pPr>
                      <a:r>
                        <a:rPr sz="900" spc="-50" dirty="0">
                          <a:latin typeface="SimSun"/>
                          <a:cs typeface="SimSun"/>
                        </a:rPr>
                        <a:t>成</a:t>
                      </a:r>
                      <a:endParaRPr sz="900">
                        <a:latin typeface="SimSun"/>
                        <a:cs typeface="SimSun"/>
                      </a:endParaRPr>
                    </a:p>
                  </a:txBody>
                  <a:tcPr marL="0" marR="0" marT="0" marB="0"/>
                </a:tc>
                <a:extLst>
                  <a:ext uri="{0D108BD9-81ED-4DB2-BD59-A6C34878D82A}">
                    <a16:rowId xmlns:a16="http://schemas.microsoft.com/office/drawing/2014/main" val="10003"/>
                  </a:ext>
                </a:extLst>
              </a:tr>
              <a:tr h="139065">
                <a:tc>
                  <a:txBody>
                    <a:bodyPr/>
                    <a:lstStyle/>
                    <a:p>
                      <a:pPr marL="62865">
                        <a:lnSpc>
                          <a:spcPts val="994"/>
                        </a:lnSpc>
                      </a:pPr>
                      <a:r>
                        <a:rPr sz="900" spc="-20" dirty="0">
                          <a:latin typeface="SimSun"/>
                          <a:cs typeface="SimSun"/>
                        </a:rPr>
                        <a:t>资源开销</a:t>
                      </a:r>
                      <a:endParaRPr sz="900">
                        <a:latin typeface="SimSun"/>
                        <a:cs typeface="SimSun"/>
                      </a:endParaRPr>
                    </a:p>
                  </a:txBody>
                  <a:tcPr marL="0" marR="0" marT="0" marB="0"/>
                </a:tc>
                <a:tc>
                  <a:txBody>
                    <a:bodyPr/>
                    <a:lstStyle/>
                    <a:p>
                      <a:pPr marL="194945">
                        <a:lnSpc>
                          <a:spcPts val="994"/>
                        </a:lnSpc>
                      </a:pPr>
                      <a:r>
                        <a:rPr sz="900" spc="-15" dirty="0">
                          <a:latin typeface="SimSun"/>
                          <a:cs typeface="SimSun"/>
                        </a:rPr>
                        <a:t>栈与切换成本相对较高</a:t>
                      </a:r>
                      <a:endParaRPr sz="900">
                        <a:latin typeface="SimSun"/>
                        <a:cs typeface="SimSun"/>
                      </a:endParaRPr>
                    </a:p>
                  </a:txBody>
                  <a:tcPr marL="0" marR="0" marT="0" marB="0"/>
                </a:tc>
                <a:tc>
                  <a:txBody>
                    <a:bodyPr/>
                    <a:lstStyle/>
                    <a:p>
                      <a:pPr marL="163830">
                        <a:lnSpc>
                          <a:spcPts val="994"/>
                        </a:lnSpc>
                      </a:pPr>
                      <a:r>
                        <a:rPr sz="900" spc="-10" dirty="0">
                          <a:latin typeface="SimSun"/>
                          <a:cs typeface="SimSun"/>
                        </a:rPr>
                        <a:t>只保存必要状态，调度成本更</a:t>
                      </a:r>
                      <a:endParaRPr sz="900">
                        <a:latin typeface="SimSun"/>
                        <a:cs typeface="SimSun"/>
                      </a:endParaRPr>
                    </a:p>
                  </a:txBody>
                  <a:tcPr marL="0" marR="0" marT="0" marB="0"/>
                </a:tc>
                <a:extLst>
                  <a:ext uri="{0D108BD9-81ED-4DB2-BD59-A6C34878D82A}">
                    <a16:rowId xmlns:a16="http://schemas.microsoft.com/office/drawing/2014/main" val="10004"/>
                  </a:ext>
                </a:extLst>
              </a:tr>
              <a:tr h="282575">
                <a:tc>
                  <a:txBody>
                    <a:bodyPr/>
                    <a:lstStyle/>
                    <a:p>
                      <a:pPr>
                        <a:lnSpc>
                          <a:spcPct val="100000"/>
                        </a:lnSpc>
                        <a:spcBef>
                          <a:spcPts val="30"/>
                        </a:spcBef>
                      </a:pPr>
                      <a:endParaRPr sz="900">
                        <a:latin typeface="Times New Roman"/>
                        <a:cs typeface="Times New Roman"/>
                      </a:endParaRPr>
                    </a:p>
                    <a:p>
                      <a:pPr marL="62865">
                        <a:lnSpc>
                          <a:spcPts val="1060"/>
                        </a:lnSpc>
                      </a:pPr>
                      <a:r>
                        <a:rPr sz="900" spc="-20" dirty="0">
                          <a:latin typeface="SimSun"/>
                          <a:cs typeface="SimSun"/>
                        </a:rPr>
                        <a:t>适合场景</a:t>
                      </a:r>
                      <a:endParaRPr sz="900">
                        <a:latin typeface="SimSun"/>
                        <a:cs typeface="SimSun"/>
                      </a:endParaRPr>
                    </a:p>
                  </a:txBody>
                  <a:tcPr marL="0" marR="0" marT="3810" marB="0"/>
                </a:tc>
                <a:tc>
                  <a:txBody>
                    <a:bodyPr/>
                    <a:lstStyle/>
                    <a:p>
                      <a:pPr>
                        <a:lnSpc>
                          <a:spcPct val="100000"/>
                        </a:lnSpc>
                        <a:spcBef>
                          <a:spcPts val="30"/>
                        </a:spcBef>
                      </a:pPr>
                      <a:endParaRPr sz="900">
                        <a:latin typeface="Times New Roman"/>
                        <a:cs typeface="Times New Roman"/>
                      </a:endParaRPr>
                    </a:p>
                    <a:p>
                      <a:pPr marL="194945">
                        <a:lnSpc>
                          <a:spcPts val="1060"/>
                        </a:lnSpc>
                      </a:pPr>
                      <a:r>
                        <a:rPr sz="900" dirty="0">
                          <a:latin typeface="Times New Roman"/>
                          <a:cs typeface="Times New Roman"/>
                        </a:rPr>
                        <a:t>CPU</a:t>
                      </a:r>
                      <a:r>
                        <a:rPr sz="900" spc="-25" dirty="0">
                          <a:latin typeface="Times New Roman"/>
                          <a:cs typeface="Times New Roman"/>
                        </a:rPr>
                        <a:t> </a:t>
                      </a:r>
                      <a:r>
                        <a:rPr sz="900" spc="-15" dirty="0">
                          <a:latin typeface="SimSun"/>
                          <a:cs typeface="SimSun"/>
                        </a:rPr>
                        <a:t>并行、底层执行资源</a:t>
                      </a:r>
                      <a:endParaRPr sz="900">
                        <a:latin typeface="SimSun"/>
                        <a:cs typeface="SimSun"/>
                      </a:endParaRPr>
                    </a:p>
                  </a:txBody>
                  <a:tcPr marL="0" marR="0" marT="3810" marB="0"/>
                </a:tc>
                <a:tc>
                  <a:txBody>
                    <a:bodyPr/>
                    <a:lstStyle/>
                    <a:p>
                      <a:pPr marL="163830">
                        <a:lnSpc>
                          <a:spcPts val="1050"/>
                        </a:lnSpc>
                      </a:pPr>
                      <a:r>
                        <a:rPr sz="900" spc="-50" dirty="0">
                          <a:latin typeface="SimSun"/>
                          <a:cs typeface="SimSun"/>
                        </a:rPr>
                        <a:t>低</a:t>
                      </a:r>
                      <a:endParaRPr sz="900">
                        <a:latin typeface="SimSun"/>
                        <a:cs typeface="SimSun"/>
                      </a:endParaRPr>
                    </a:p>
                    <a:p>
                      <a:pPr marL="163195">
                        <a:lnSpc>
                          <a:spcPts val="1060"/>
                        </a:lnSpc>
                        <a:spcBef>
                          <a:spcPts val="15"/>
                        </a:spcBef>
                      </a:pPr>
                      <a:r>
                        <a:rPr sz="900" spc="-85" dirty="0">
                          <a:latin typeface="SimSun"/>
                          <a:cs typeface="SimSun"/>
                        </a:rPr>
                        <a:t>大量 </a:t>
                      </a:r>
                      <a:r>
                        <a:rPr sz="900" dirty="0">
                          <a:latin typeface="Times New Roman"/>
                          <a:cs typeface="Times New Roman"/>
                        </a:rPr>
                        <a:t>I/O</a:t>
                      </a:r>
                      <a:r>
                        <a:rPr sz="900" spc="-20" dirty="0">
                          <a:latin typeface="Times New Roman"/>
                          <a:cs typeface="Times New Roman"/>
                        </a:rPr>
                        <a:t> </a:t>
                      </a:r>
                      <a:r>
                        <a:rPr sz="900" spc="-15" dirty="0">
                          <a:latin typeface="SimSun"/>
                          <a:cs typeface="SimSun"/>
                        </a:rPr>
                        <a:t>等待、高并发请求</a:t>
                      </a:r>
                      <a:endParaRPr sz="900">
                        <a:latin typeface="SimSun"/>
                        <a:cs typeface="SimSun"/>
                      </a:endParaRPr>
                    </a:p>
                  </a:txBody>
                  <a:tcPr marL="0" marR="0" marT="0" marB="0"/>
                </a:tc>
                <a:extLst>
                  <a:ext uri="{0D108BD9-81ED-4DB2-BD59-A6C34878D82A}">
                    <a16:rowId xmlns:a16="http://schemas.microsoft.com/office/drawing/2014/main" val="10005"/>
                  </a:ext>
                </a:extLst>
              </a:tr>
              <a:tr h="177800">
                <a:tc>
                  <a:txBody>
                    <a:bodyPr/>
                    <a:lstStyle/>
                    <a:p>
                      <a:pPr marL="62865">
                        <a:lnSpc>
                          <a:spcPts val="1015"/>
                        </a:lnSpc>
                      </a:pPr>
                      <a:r>
                        <a:rPr sz="900" spc="-20" dirty="0">
                          <a:latin typeface="SimSun"/>
                          <a:cs typeface="SimSun"/>
                        </a:rPr>
                        <a:t>本质作用</a:t>
                      </a:r>
                      <a:endParaRPr sz="900">
                        <a:latin typeface="SimSun"/>
                        <a:cs typeface="SimSun"/>
                      </a:endParaRPr>
                    </a:p>
                  </a:txBody>
                  <a:tcPr marL="0" marR="0" marT="0" marB="0">
                    <a:lnB w="12700">
                      <a:solidFill>
                        <a:srgbClr val="000000"/>
                      </a:solidFill>
                      <a:prstDash val="solid"/>
                    </a:lnB>
                  </a:tcPr>
                </a:tc>
                <a:tc>
                  <a:txBody>
                    <a:bodyPr/>
                    <a:lstStyle/>
                    <a:p>
                      <a:pPr marL="194945">
                        <a:lnSpc>
                          <a:spcPts val="1015"/>
                        </a:lnSpc>
                      </a:pPr>
                      <a:r>
                        <a:rPr sz="900" spc="-20" dirty="0">
                          <a:latin typeface="SimSun"/>
                          <a:cs typeface="SimSun"/>
                        </a:rPr>
                        <a:t>提供并行执行能力</a:t>
                      </a:r>
                      <a:endParaRPr sz="900">
                        <a:latin typeface="SimSun"/>
                        <a:cs typeface="SimSun"/>
                      </a:endParaRPr>
                    </a:p>
                  </a:txBody>
                  <a:tcPr marL="0" marR="0" marT="0" marB="0">
                    <a:lnB w="12700">
                      <a:solidFill>
                        <a:srgbClr val="000000"/>
                      </a:solidFill>
                      <a:prstDash val="solid"/>
                    </a:lnB>
                  </a:tcPr>
                </a:tc>
                <a:tc>
                  <a:txBody>
                    <a:bodyPr/>
                    <a:lstStyle/>
                    <a:p>
                      <a:pPr marL="163830">
                        <a:lnSpc>
                          <a:spcPts val="1015"/>
                        </a:lnSpc>
                      </a:pPr>
                      <a:r>
                        <a:rPr sz="900" spc="-15" dirty="0">
                          <a:latin typeface="SimSun"/>
                          <a:cs typeface="SimSun"/>
                        </a:rPr>
                        <a:t>更低成本组织等待型任务</a:t>
                      </a:r>
                      <a:endParaRPr sz="900">
                        <a:latin typeface="SimSun"/>
                        <a:cs typeface="SimSun"/>
                      </a:endParaRPr>
                    </a:p>
                  </a:txBody>
                  <a:tcPr marL="0" marR="0" marT="0" marB="0">
                    <a:lnB w="12700">
                      <a:solidFill>
                        <a:srgbClr val="000000"/>
                      </a:solidFill>
                      <a:prstDash val="solid"/>
                    </a:lnB>
                  </a:tcPr>
                </a:tc>
                <a:extLst>
                  <a:ext uri="{0D108BD9-81ED-4DB2-BD59-A6C34878D82A}">
                    <a16:rowId xmlns:a16="http://schemas.microsoft.com/office/drawing/2014/main" val="10006"/>
                  </a:ext>
                </a:extLst>
              </a:tr>
            </a:tbl>
          </a:graphicData>
        </a:graphic>
      </p:graphicFrame>
      <p:grpSp>
        <p:nvGrpSpPr>
          <p:cNvPr id="5" name="object 5"/>
          <p:cNvGrpSpPr/>
          <p:nvPr/>
        </p:nvGrpSpPr>
        <p:grpSpPr>
          <a:xfrm>
            <a:off x="359994" y="1969182"/>
            <a:ext cx="3888104" cy="634365"/>
            <a:chOff x="359994" y="1969182"/>
            <a:chExt cx="3888104" cy="634365"/>
          </a:xfrm>
        </p:grpSpPr>
        <p:sp>
          <p:nvSpPr>
            <p:cNvPr id="6" name="object 6"/>
            <p:cNvSpPr/>
            <p:nvPr/>
          </p:nvSpPr>
          <p:spPr>
            <a:xfrm>
              <a:off x="413994" y="2035835"/>
              <a:ext cx="3780154" cy="526415"/>
            </a:xfrm>
            <a:custGeom>
              <a:avLst/>
              <a:gdLst/>
              <a:ahLst/>
              <a:cxnLst/>
              <a:rect l="l" t="t" r="r" b="b"/>
              <a:pathLst>
                <a:path w="3780154" h="526414">
                  <a:moveTo>
                    <a:pt x="3780050" y="0"/>
                  </a:moveTo>
                  <a:lnTo>
                    <a:pt x="0" y="0"/>
                  </a:lnTo>
                  <a:lnTo>
                    <a:pt x="0" y="526329"/>
                  </a:lnTo>
                  <a:lnTo>
                    <a:pt x="3780050" y="526329"/>
                  </a:lnTo>
                  <a:lnTo>
                    <a:pt x="3780050" y="0"/>
                  </a:lnTo>
                  <a:close/>
                </a:path>
              </a:pathLst>
            </a:custGeom>
            <a:solidFill>
              <a:srgbClr val="B2B2B2"/>
            </a:solidFill>
          </p:spPr>
          <p:txBody>
            <a:bodyPr wrap="square" lIns="0" tIns="0" rIns="0" bIns="0" rtlCol="0"/>
            <a:lstStyle/>
            <a:p>
              <a:endParaRPr/>
            </a:p>
          </p:txBody>
        </p:sp>
        <p:sp>
          <p:nvSpPr>
            <p:cNvPr id="7" name="object 7"/>
            <p:cNvSpPr/>
            <p:nvPr/>
          </p:nvSpPr>
          <p:spPr>
            <a:xfrm>
              <a:off x="359994" y="1969182"/>
              <a:ext cx="3888104" cy="634365"/>
            </a:xfrm>
            <a:custGeom>
              <a:avLst/>
              <a:gdLst/>
              <a:ahLst/>
              <a:cxnLst/>
              <a:rect l="l" t="t" r="r" b="b"/>
              <a:pathLst>
                <a:path w="3888104" h="634364">
                  <a:moveTo>
                    <a:pt x="3834050" y="0"/>
                  </a:moveTo>
                  <a:lnTo>
                    <a:pt x="54000" y="0"/>
                  </a:lnTo>
                  <a:lnTo>
                    <a:pt x="32980" y="4243"/>
                  </a:lnTo>
                  <a:lnTo>
                    <a:pt x="15816" y="15816"/>
                  </a:lnTo>
                  <a:lnTo>
                    <a:pt x="4243" y="32980"/>
                  </a:lnTo>
                  <a:lnTo>
                    <a:pt x="0" y="54000"/>
                  </a:lnTo>
                  <a:lnTo>
                    <a:pt x="0" y="580330"/>
                  </a:lnTo>
                  <a:lnTo>
                    <a:pt x="4243" y="601349"/>
                  </a:lnTo>
                  <a:lnTo>
                    <a:pt x="15816" y="618514"/>
                  </a:lnTo>
                  <a:lnTo>
                    <a:pt x="32980" y="630086"/>
                  </a:lnTo>
                  <a:lnTo>
                    <a:pt x="54000" y="634330"/>
                  </a:lnTo>
                  <a:lnTo>
                    <a:pt x="3834050" y="634330"/>
                  </a:lnTo>
                  <a:lnTo>
                    <a:pt x="3855070" y="630086"/>
                  </a:lnTo>
                  <a:lnTo>
                    <a:pt x="3872235" y="618514"/>
                  </a:lnTo>
                  <a:lnTo>
                    <a:pt x="3883807" y="601349"/>
                  </a:lnTo>
                  <a:lnTo>
                    <a:pt x="3888051" y="580330"/>
                  </a:lnTo>
                  <a:lnTo>
                    <a:pt x="3888051" y="54000"/>
                  </a:lnTo>
                  <a:lnTo>
                    <a:pt x="3883807" y="32980"/>
                  </a:lnTo>
                  <a:lnTo>
                    <a:pt x="3872235" y="15816"/>
                  </a:lnTo>
                  <a:lnTo>
                    <a:pt x="3855070" y="4243"/>
                  </a:lnTo>
                  <a:lnTo>
                    <a:pt x="3834050" y="0"/>
                  </a:lnTo>
                  <a:close/>
                </a:path>
              </a:pathLst>
            </a:custGeom>
            <a:solidFill>
              <a:srgbClr val="BE581F"/>
            </a:solidFill>
          </p:spPr>
          <p:txBody>
            <a:bodyPr wrap="square" lIns="0" tIns="0" rIns="0" bIns="0" rtlCol="0"/>
            <a:lstStyle/>
            <a:p>
              <a:endParaRPr/>
            </a:p>
          </p:txBody>
        </p:sp>
        <p:sp>
          <p:nvSpPr>
            <p:cNvPr id="8" name="object 8"/>
            <p:cNvSpPr/>
            <p:nvPr/>
          </p:nvSpPr>
          <p:spPr>
            <a:xfrm>
              <a:off x="359994" y="2180560"/>
              <a:ext cx="3888104" cy="423545"/>
            </a:xfrm>
            <a:custGeom>
              <a:avLst/>
              <a:gdLst/>
              <a:ahLst/>
              <a:cxnLst/>
              <a:rect l="l" t="t" r="r" b="b"/>
              <a:pathLst>
                <a:path w="3888104" h="423544">
                  <a:moveTo>
                    <a:pt x="3888051" y="0"/>
                  </a:moveTo>
                  <a:lnTo>
                    <a:pt x="0" y="0"/>
                  </a:lnTo>
                  <a:lnTo>
                    <a:pt x="0" y="368952"/>
                  </a:lnTo>
                  <a:lnTo>
                    <a:pt x="4243" y="389971"/>
                  </a:lnTo>
                  <a:lnTo>
                    <a:pt x="15816" y="407136"/>
                  </a:lnTo>
                  <a:lnTo>
                    <a:pt x="32980" y="418708"/>
                  </a:lnTo>
                  <a:lnTo>
                    <a:pt x="54000" y="422952"/>
                  </a:lnTo>
                  <a:lnTo>
                    <a:pt x="3834050" y="422952"/>
                  </a:lnTo>
                  <a:lnTo>
                    <a:pt x="3855070" y="418708"/>
                  </a:lnTo>
                  <a:lnTo>
                    <a:pt x="3872235" y="407136"/>
                  </a:lnTo>
                  <a:lnTo>
                    <a:pt x="3883807" y="389971"/>
                  </a:lnTo>
                  <a:lnTo>
                    <a:pt x="3888051" y="368952"/>
                  </a:lnTo>
                  <a:lnTo>
                    <a:pt x="3888051" y="0"/>
                  </a:lnTo>
                  <a:close/>
                </a:path>
              </a:pathLst>
            </a:custGeom>
            <a:solidFill>
              <a:srgbClr val="F8EEE8"/>
            </a:solidFill>
          </p:spPr>
          <p:txBody>
            <a:bodyPr wrap="square" lIns="0" tIns="0" rIns="0" bIns="0" rtlCol="0"/>
            <a:lstStyle/>
            <a:p>
              <a:endParaRPr/>
            </a:p>
          </p:txBody>
        </p:sp>
      </p:grpSp>
      <p:sp>
        <p:nvSpPr>
          <p:cNvPr id="9" name="object 9"/>
          <p:cNvSpPr txBox="1"/>
          <p:nvPr/>
        </p:nvSpPr>
        <p:spPr>
          <a:xfrm>
            <a:off x="408597" y="1901036"/>
            <a:ext cx="3790950" cy="668020"/>
          </a:xfrm>
          <a:prstGeom prst="rect">
            <a:avLst/>
          </a:prstGeom>
        </p:spPr>
        <p:txBody>
          <a:bodyPr vert="horz" wrap="square" lIns="0" tIns="75565" rIns="0" bIns="0" rtlCol="0">
            <a:spAutoFit/>
          </a:bodyPr>
          <a:lstStyle/>
          <a:p>
            <a:pPr marL="12700">
              <a:lnSpc>
                <a:spcPct val="100000"/>
              </a:lnSpc>
              <a:spcBef>
                <a:spcPts val="595"/>
              </a:spcBef>
            </a:pPr>
            <a:r>
              <a:rPr sz="1200" spc="-30" dirty="0">
                <a:solidFill>
                  <a:srgbClr val="FFFFFF"/>
                </a:solidFill>
                <a:latin typeface="SimSun"/>
                <a:cs typeface="SimSun"/>
              </a:rPr>
              <a:t>关键判断</a:t>
            </a:r>
            <a:endParaRPr sz="1200">
              <a:latin typeface="SimSun"/>
              <a:cs typeface="SimSun"/>
            </a:endParaRPr>
          </a:p>
          <a:p>
            <a:pPr marL="12700" marR="5080">
              <a:lnSpc>
                <a:spcPct val="102600"/>
              </a:lnSpc>
              <a:spcBef>
                <a:spcPts val="409"/>
              </a:spcBef>
            </a:pPr>
            <a:r>
              <a:rPr sz="1100" spc="-25" dirty="0">
                <a:latin typeface="SimSun"/>
                <a:cs typeface="SimSun"/>
              </a:rPr>
              <a:t>协程通常建立在线程之上：任务交给协程抽象，真正并行仍依赖线程与操作系统。</a:t>
            </a:r>
            <a:endParaRPr sz="1100">
              <a:latin typeface="SimSun"/>
              <a:cs typeface="SimSun"/>
            </a:endParaRPr>
          </a:p>
        </p:txBody>
      </p:sp>
      <p:grpSp>
        <p:nvGrpSpPr>
          <p:cNvPr id="10" name="object 10"/>
          <p:cNvGrpSpPr/>
          <p:nvPr/>
        </p:nvGrpSpPr>
        <p:grpSpPr>
          <a:xfrm>
            <a:off x="0" y="3309520"/>
            <a:ext cx="4608195" cy="146685"/>
            <a:chOff x="0" y="3309520"/>
            <a:chExt cx="4608195" cy="146685"/>
          </a:xfrm>
        </p:grpSpPr>
        <p:sp>
          <p:nvSpPr>
            <p:cNvPr id="11" name="object 11"/>
            <p:cNvSpPr/>
            <p:nvPr/>
          </p:nvSpPr>
          <p:spPr>
            <a:xfrm>
              <a:off x="0" y="3309520"/>
              <a:ext cx="1464945" cy="146685"/>
            </a:xfrm>
            <a:custGeom>
              <a:avLst/>
              <a:gdLst/>
              <a:ahLst/>
              <a:cxnLst/>
              <a:rect l="l" t="t" r="r" b="b"/>
              <a:pathLst>
                <a:path w="1464945" h="146685">
                  <a:moveTo>
                    <a:pt x="1464490" y="146530"/>
                  </a:moveTo>
                  <a:lnTo>
                    <a:pt x="1464490" y="0"/>
                  </a:lnTo>
                  <a:lnTo>
                    <a:pt x="0" y="0"/>
                  </a:lnTo>
                  <a:lnTo>
                    <a:pt x="0" y="146530"/>
                  </a:lnTo>
                  <a:lnTo>
                    <a:pt x="1464490" y="146530"/>
                  </a:lnTo>
                  <a:close/>
                </a:path>
              </a:pathLst>
            </a:custGeom>
            <a:solidFill>
              <a:srgbClr val="4681B4"/>
            </a:solidFill>
          </p:spPr>
          <p:txBody>
            <a:bodyPr wrap="square" lIns="0" tIns="0" rIns="0" bIns="0" rtlCol="0"/>
            <a:lstStyle/>
            <a:p>
              <a:endParaRPr/>
            </a:p>
          </p:txBody>
        </p:sp>
        <p:sp>
          <p:nvSpPr>
            <p:cNvPr id="12" name="object 12"/>
            <p:cNvSpPr/>
            <p:nvPr/>
          </p:nvSpPr>
          <p:spPr>
            <a:xfrm>
              <a:off x="1464490" y="3309520"/>
              <a:ext cx="2672715" cy="146685"/>
            </a:xfrm>
            <a:custGeom>
              <a:avLst/>
              <a:gdLst/>
              <a:ahLst/>
              <a:cxnLst/>
              <a:rect l="l" t="t" r="r" b="b"/>
              <a:pathLst>
                <a:path w="2672715" h="146685">
                  <a:moveTo>
                    <a:pt x="2672682" y="0"/>
                  </a:moveTo>
                  <a:lnTo>
                    <a:pt x="0" y="0"/>
                  </a:lnTo>
                  <a:lnTo>
                    <a:pt x="0" y="146530"/>
                  </a:lnTo>
                  <a:lnTo>
                    <a:pt x="2672682" y="146530"/>
                  </a:lnTo>
                  <a:lnTo>
                    <a:pt x="2672682" y="0"/>
                  </a:lnTo>
                  <a:close/>
                </a:path>
              </a:pathLst>
            </a:custGeom>
            <a:solidFill>
              <a:srgbClr val="1B4681"/>
            </a:solidFill>
          </p:spPr>
          <p:txBody>
            <a:bodyPr wrap="square" lIns="0" tIns="0" rIns="0" bIns="0" rtlCol="0"/>
            <a:lstStyle/>
            <a:p>
              <a:endParaRPr/>
            </a:p>
          </p:txBody>
        </p:sp>
        <p:sp>
          <p:nvSpPr>
            <p:cNvPr id="13" name="object 13"/>
            <p:cNvSpPr/>
            <p:nvPr/>
          </p:nvSpPr>
          <p:spPr>
            <a:xfrm>
              <a:off x="4137103" y="3309520"/>
              <a:ext cx="471170" cy="146685"/>
            </a:xfrm>
            <a:custGeom>
              <a:avLst/>
              <a:gdLst/>
              <a:ahLst/>
              <a:cxnLst/>
              <a:rect l="l" t="t" r="r" b="b"/>
              <a:pathLst>
                <a:path w="471170" h="146685">
                  <a:moveTo>
                    <a:pt x="470836" y="0"/>
                  </a:moveTo>
                  <a:lnTo>
                    <a:pt x="0" y="0"/>
                  </a:lnTo>
                  <a:lnTo>
                    <a:pt x="0" y="146530"/>
                  </a:lnTo>
                  <a:lnTo>
                    <a:pt x="470836" y="146530"/>
                  </a:lnTo>
                  <a:lnTo>
                    <a:pt x="470836" y="0"/>
                  </a:lnTo>
                  <a:close/>
                </a:path>
              </a:pathLst>
            </a:custGeom>
            <a:solidFill>
              <a:srgbClr val="0A2750"/>
            </a:solidFill>
          </p:spPr>
          <p:txBody>
            <a:bodyPr wrap="square" lIns="0" tIns="0" rIns="0" bIns="0" rtlCol="0"/>
            <a:lstStyle/>
            <a:p>
              <a:endParaRPr/>
            </a:p>
          </p:txBody>
        </p:sp>
      </p:grpSp>
      <p:sp>
        <p:nvSpPr>
          <p:cNvPr id="14" name="object 14"/>
          <p:cNvSpPr txBox="1">
            <a:spLocks noGrp="1"/>
          </p:cNvSpPr>
          <p:nvPr>
            <p:ph type="dt" sz="half" idx="6"/>
          </p:nvPr>
        </p:nvSpPr>
        <p:spPr>
          <a:prstGeom prst="rect">
            <a:avLst/>
          </a:prstGeom>
        </p:spPr>
        <p:txBody>
          <a:bodyPr vert="horz" wrap="square" lIns="0" tIns="1270" rIns="0" bIns="0" rtlCol="0">
            <a:spAutoFit/>
          </a:bodyPr>
          <a:lstStyle/>
          <a:p>
            <a:pPr marL="12700">
              <a:lnSpc>
                <a:spcPct val="100000"/>
              </a:lnSpc>
              <a:spcBef>
                <a:spcPts val="10"/>
              </a:spcBef>
            </a:pPr>
            <a:r>
              <a:rPr spc="35" dirty="0"/>
              <a:t>尚文轩 南开大学</a:t>
            </a:r>
          </a:p>
        </p:txBody>
      </p:sp>
      <p:sp>
        <p:nvSpPr>
          <p:cNvPr id="15" name="object 15"/>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spc="-30" dirty="0">
                <a:latin typeface="Times New Roman"/>
                <a:cs typeface="Times New Roman"/>
              </a:rPr>
              <a:t>OT-</a:t>
            </a:r>
            <a:r>
              <a:rPr spc="-20" dirty="0"/>
              <a:t>协程技术调研</a:t>
            </a:r>
          </a:p>
        </p:txBody>
      </p:sp>
      <p:sp>
        <p:nvSpPr>
          <p:cNvPr id="16" name="object 16"/>
          <p:cNvSpPr txBox="1">
            <a:spLocks noGrp="1"/>
          </p:cNvSpPr>
          <p:nvPr>
            <p:ph type="sldNum" sz="quarter" idx="7"/>
          </p:nvPr>
        </p:nvSpPr>
        <p:spPr>
          <a:prstGeom prst="rect">
            <a:avLst/>
          </a:prstGeom>
        </p:spPr>
        <p:txBody>
          <a:bodyPr vert="horz" wrap="square" lIns="0" tIns="3810" rIns="0" bIns="0" rtlCol="0">
            <a:spAutoFit/>
          </a:bodyPr>
          <a:lstStyle/>
          <a:p>
            <a:pPr marL="37465">
              <a:lnSpc>
                <a:spcPct val="100000"/>
              </a:lnSpc>
              <a:spcBef>
                <a:spcPts val="30"/>
              </a:spcBef>
            </a:pPr>
            <a:fld id="{81D60167-4931-47E6-BA6A-407CBD079E47}" type="slidenum">
              <a:rPr spc="-25" dirty="0"/>
              <a:t>6</a:t>
            </a:fld>
            <a:endParaRPr spc="-25" dirty="0"/>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2" name="图片 21">
            <a:extLst>
              <a:ext uri="{FF2B5EF4-FFF2-40B4-BE49-F238E27FC236}">
                <a16:creationId xmlns:a16="http://schemas.microsoft.com/office/drawing/2014/main" id="{08641AB1-8083-F94B-1884-00CDD3733233}"/>
              </a:ext>
            </a:extLst>
          </p:cNvPr>
          <p:cNvPicPr>
            <a:picLocks noChangeAspect="1"/>
          </p:cNvPicPr>
          <p:nvPr/>
        </p:nvPicPr>
        <p:blipFill>
          <a:blip r:embed="rId2"/>
          <a:stretch>
            <a:fillRect/>
          </a:stretch>
        </p:blipFill>
        <p:spPr>
          <a:xfrm>
            <a:off x="0" y="1"/>
            <a:ext cx="4610100" cy="250672"/>
          </a:xfrm>
          <a:prstGeom prst="rect">
            <a:avLst/>
          </a:prstGeom>
        </p:spPr>
      </p:pic>
      <p:sp>
        <p:nvSpPr>
          <p:cNvPr id="2" name="object 2" descr="$PPTXTitle"/>
          <p:cNvSpPr txBox="1">
            <a:spLocks noGrp="1"/>
          </p:cNvSpPr>
          <p:nvPr>
            <p:ph type="title"/>
          </p:nvPr>
        </p:nvSpPr>
        <p:spPr>
          <a:xfrm>
            <a:off x="105130" y="42594"/>
            <a:ext cx="1688464" cy="180819"/>
          </a:xfrm>
          <a:prstGeom prst="rect">
            <a:avLst/>
          </a:prstGeom>
        </p:spPr>
        <p:txBody>
          <a:bodyPr vert="horz" wrap="square" lIns="0" tIns="11430" rIns="0" bIns="0" rtlCol="0">
            <a:spAutoFit/>
          </a:bodyPr>
          <a:lstStyle/>
          <a:p>
            <a:pPr marL="12700">
              <a:lnSpc>
                <a:spcPct val="100000"/>
              </a:lnSpc>
              <a:spcBef>
                <a:spcPts val="90"/>
              </a:spcBef>
            </a:pPr>
            <a:r>
              <a:rPr spc="-25" dirty="0">
                <a:solidFill>
                  <a:schemeClr val="bg1"/>
                </a:solidFill>
              </a:rPr>
              <a:t>协程一次挂起与恢复的流程</a:t>
            </a:r>
          </a:p>
        </p:txBody>
      </p:sp>
      <p:sp>
        <p:nvSpPr>
          <p:cNvPr id="3" name="object 3"/>
          <p:cNvSpPr/>
          <p:nvPr/>
        </p:nvSpPr>
        <p:spPr>
          <a:xfrm>
            <a:off x="0" y="252052"/>
            <a:ext cx="4608195" cy="0"/>
          </a:xfrm>
          <a:custGeom>
            <a:avLst/>
            <a:gdLst/>
            <a:ahLst/>
            <a:cxnLst/>
            <a:rect l="l" t="t" r="r" b="b"/>
            <a:pathLst>
              <a:path w="4608195">
                <a:moveTo>
                  <a:pt x="0" y="0"/>
                </a:moveTo>
                <a:lnTo>
                  <a:pt x="4608060" y="0"/>
                </a:lnTo>
              </a:path>
            </a:pathLst>
          </a:custGeom>
          <a:ln w="12652">
            <a:solidFill>
              <a:srgbClr val="1B4681"/>
            </a:solidFill>
          </a:ln>
        </p:spPr>
        <p:txBody>
          <a:bodyPr wrap="square" lIns="0" tIns="0" rIns="0" bIns="0" rtlCol="0"/>
          <a:lstStyle/>
          <a:p>
            <a:endParaRPr/>
          </a:p>
        </p:txBody>
      </p:sp>
      <p:pic>
        <p:nvPicPr>
          <p:cNvPr id="4" name="object 4"/>
          <p:cNvPicPr/>
          <p:nvPr/>
        </p:nvPicPr>
        <p:blipFill>
          <a:blip r:embed="rId3" cstate="print"/>
          <a:stretch>
            <a:fillRect/>
          </a:stretch>
        </p:blipFill>
        <p:spPr>
          <a:xfrm>
            <a:off x="306860" y="690688"/>
            <a:ext cx="2301750" cy="1957920"/>
          </a:xfrm>
          <a:prstGeom prst="rect">
            <a:avLst/>
          </a:prstGeom>
        </p:spPr>
      </p:pic>
      <p:grpSp>
        <p:nvGrpSpPr>
          <p:cNvPr id="5" name="object 5"/>
          <p:cNvGrpSpPr/>
          <p:nvPr/>
        </p:nvGrpSpPr>
        <p:grpSpPr>
          <a:xfrm>
            <a:off x="2912497" y="757014"/>
            <a:ext cx="30480" cy="30480"/>
            <a:chOff x="2912497" y="757014"/>
            <a:chExt cx="30480" cy="30480"/>
          </a:xfrm>
        </p:grpSpPr>
        <p:sp>
          <p:nvSpPr>
            <p:cNvPr id="6" name="object 6"/>
            <p:cNvSpPr/>
            <p:nvPr/>
          </p:nvSpPr>
          <p:spPr>
            <a:xfrm>
              <a:off x="2915027" y="759545"/>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7" name="object 7"/>
            <p:cNvSpPr/>
            <p:nvPr/>
          </p:nvSpPr>
          <p:spPr>
            <a:xfrm>
              <a:off x="2915027" y="759545"/>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sp>
        <p:nvSpPr>
          <p:cNvPr id="8" name="object 8"/>
          <p:cNvSpPr txBox="1"/>
          <p:nvPr/>
        </p:nvSpPr>
        <p:spPr>
          <a:xfrm>
            <a:off x="2999435" y="657820"/>
            <a:ext cx="1330325" cy="1644650"/>
          </a:xfrm>
          <a:prstGeom prst="rect">
            <a:avLst/>
          </a:prstGeom>
        </p:spPr>
        <p:txBody>
          <a:bodyPr vert="horz" wrap="square" lIns="0" tIns="6985" rIns="0" bIns="0" rtlCol="0">
            <a:spAutoFit/>
          </a:bodyPr>
          <a:lstStyle/>
          <a:p>
            <a:pPr marL="12700" marR="5080">
              <a:lnSpc>
                <a:spcPct val="102600"/>
              </a:lnSpc>
              <a:spcBef>
                <a:spcPts val="55"/>
              </a:spcBef>
            </a:pPr>
            <a:r>
              <a:rPr sz="1100" spc="114" dirty="0">
                <a:latin typeface="SimSun"/>
                <a:cs typeface="SimSun"/>
              </a:rPr>
              <a:t>遇到</a:t>
            </a:r>
            <a:r>
              <a:rPr sz="1100" dirty="0">
                <a:latin typeface="Times New Roman"/>
                <a:cs typeface="Times New Roman"/>
              </a:rPr>
              <a:t>await</a:t>
            </a:r>
            <a:r>
              <a:rPr sz="1100" spc="-50" dirty="0">
                <a:latin typeface="Times New Roman"/>
                <a:cs typeface="Times New Roman"/>
              </a:rPr>
              <a:t> / </a:t>
            </a:r>
            <a:r>
              <a:rPr sz="1100" spc="-10" dirty="0">
                <a:latin typeface="Times New Roman"/>
                <a:cs typeface="Times New Roman"/>
              </a:rPr>
              <a:t>suspend</a:t>
            </a:r>
            <a:r>
              <a:rPr sz="1100" spc="-10" dirty="0">
                <a:latin typeface="SimSun"/>
                <a:cs typeface="SimSun"/>
              </a:rPr>
              <a:t>：</a:t>
            </a:r>
            <a:r>
              <a:rPr sz="1100" spc="-25" dirty="0">
                <a:latin typeface="SimSun"/>
                <a:cs typeface="SimSun"/>
              </a:rPr>
              <a:t>保存局部状态与恢复</a:t>
            </a:r>
            <a:r>
              <a:rPr sz="1100" spc="-35" dirty="0">
                <a:latin typeface="SimSun"/>
                <a:cs typeface="SimSun"/>
              </a:rPr>
              <a:t>点。</a:t>
            </a:r>
            <a:endParaRPr sz="1100">
              <a:latin typeface="SimSun"/>
              <a:cs typeface="SimSun"/>
            </a:endParaRPr>
          </a:p>
          <a:p>
            <a:pPr marL="12700" marR="62865" algn="just">
              <a:lnSpc>
                <a:spcPct val="102600"/>
              </a:lnSpc>
              <a:spcBef>
                <a:spcPts val="300"/>
              </a:spcBef>
            </a:pPr>
            <a:r>
              <a:rPr sz="1100" spc="-25" dirty="0">
                <a:latin typeface="SimSun"/>
                <a:cs typeface="SimSun"/>
              </a:rPr>
              <a:t>控制权交还调度器，当前线程可推进其他</a:t>
            </a:r>
            <a:r>
              <a:rPr sz="1100" spc="-35" dirty="0">
                <a:latin typeface="SimSun"/>
                <a:cs typeface="SimSun"/>
              </a:rPr>
              <a:t>任务。</a:t>
            </a:r>
            <a:endParaRPr sz="1100">
              <a:latin typeface="SimSun"/>
              <a:cs typeface="SimSun"/>
            </a:endParaRPr>
          </a:p>
          <a:p>
            <a:pPr marL="12700" marR="62865">
              <a:lnSpc>
                <a:spcPct val="102600"/>
              </a:lnSpc>
              <a:spcBef>
                <a:spcPts val="300"/>
              </a:spcBef>
            </a:pPr>
            <a:r>
              <a:rPr sz="1100" dirty="0">
                <a:latin typeface="Times New Roman"/>
                <a:cs typeface="Times New Roman"/>
              </a:rPr>
              <a:t>I/O </a:t>
            </a:r>
            <a:r>
              <a:rPr sz="1100" spc="-25" dirty="0">
                <a:latin typeface="SimSun"/>
                <a:cs typeface="SimSun"/>
              </a:rPr>
              <a:t>完成或事件触发后，调度器恢复协程</a:t>
            </a:r>
            <a:r>
              <a:rPr sz="1100" spc="-30" dirty="0">
                <a:latin typeface="SimSun"/>
                <a:cs typeface="SimSun"/>
              </a:rPr>
              <a:t>继续执行。</a:t>
            </a:r>
            <a:endParaRPr sz="1100">
              <a:latin typeface="SimSun"/>
              <a:cs typeface="SimSun"/>
            </a:endParaRPr>
          </a:p>
        </p:txBody>
      </p:sp>
      <p:grpSp>
        <p:nvGrpSpPr>
          <p:cNvPr id="9" name="object 9"/>
          <p:cNvGrpSpPr/>
          <p:nvPr/>
        </p:nvGrpSpPr>
        <p:grpSpPr>
          <a:xfrm>
            <a:off x="2912497" y="1311192"/>
            <a:ext cx="30480" cy="30480"/>
            <a:chOff x="2912497" y="1311192"/>
            <a:chExt cx="30480" cy="30480"/>
          </a:xfrm>
        </p:grpSpPr>
        <p:sp>
          <p:nvSpPr>
            <p:cNvPr id="10" name="object 10"/>
            <p:cNvSpPr/>
            <p:nvPr/>
          </p:nvSpPr>
          <p:spPr>
            <a:xfrm>
              <a:off x="2915027" y="1313722"/>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1" name="object 11"/>
            <p:cNvSpPr/>
            <p:nvPr/>
          </p:nvSpPr>
          <p:spPr>
            <a:xfrm>
              <a:off x="2915027" y="1313722"/>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2" name="object 12"/>
          <p:cNvGrpSpPr/>
          <p:nvPr/>
        </p:nvGrpSpPr>
        <p:grpSpPr>
          <a:xfrm>
            <a:off x="2912497" y="1865369"/>
            <a:ext cx="30480" cy="30480"/>
            <a:chOff x="2912497" y="1865369"/>
            <a:chExt cx="30480" cy="30480"/>
          </a:xfrm>
        </p:grpSpPr>
        <p:sp>
          <p:nvSpPr>
            <p:cNvPr id="13" name="object 13"/>
            <p:cNvSpPr/>
            <p:nvPr/>
          </p:nvSpPr>
          <p:spPr>
            <a:xfrm>
              <a:off x="2915027" y="1867899"/>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4" name="object 14"/>
            <p:cNvSpPr/>
            <p:nvPr/>
          </p:nvSpPr>
          <p:spPr>
            <a:xfrm>
              <a:off x="2915027" y="1867899"/>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5" name="object 15"/>
          <p:cNvGrpSpPr/>
          <p:nvPr/>
        </p:nvGrpSpPr>
        <p:grpSpPr>
          <a:xfrm>
            <a:off x="0" y="3309520"/>
            <a:ext cx="4608195" cy="146685"/>
            <a:chOff x="0" y="3309520"/>
            <a:chExt cx="4608195" cy="146685"/>
          </a:xfrm>
        </p:grpSpPr>
        <p:sp>
          <p:nvSpPr>
            <p:cNvPr id="16" name="object 16"/>
            <p:cNvSpPr/>
            <p:nvPr/>
          </p:nvSpPr>
          <p:spPr>
            <a:xfrm>
              <a:off x="0" y="3309520"/>
              <a:ext cx="1464945" cy="146685"/>
            </a:xfrm>
            <a:custGeom>
              <a:avLst/>
              <a:gdLst/>
              <a:ahLst/>
              <a:cxnLst/>
              <a:rect l="l" t="t" r="r" b="b"/>
              <a:pathLst>
                <a:path w="1464945" h="146685">
                  <a:moveTo>
                    <a:pt x="1464490" y="146530"/>
                  </a:moveTo>
                  <a:lnTo>
                    <a:pt x="1464490" y="0"/>
                  </a:lnTo>
                  <a:lnTo>
                    <a:pt x="0" y="0"/>
                  </a:lnTo>
                  <a:lnTo>
                    <a:pt x="0" y="146530"/>
                  </a:lnTo>
                  <a:lnTo>
                    <a:pt x="1464490" y="146530"/>
                  </a:lnTo>
                  <a:close/>
                </a:path>
              </a:pathLst>
            </a:custGeom>
            <a:solidFill>
              <a:srgbClr val="4681B4"/>
            </a:solidFill>
          </p:spPr>
          <p:txBody>
            <a:bodyPr wrap="square" lIns="0" tIns="0" rIns="0" bIns="0" rtlCol="0"/>
            <a:lstStyle/>
            <a:p>
              <a:endParaRPr/>
            </a:p>
          </p:txBody>
        </p:sp>
        <p:sp>
          <p:nvSpPr>
            <p:cNvPr id="17" name="object 17"/>
            <p:cNvSpPr/>
            <p:nvPr/>
          </p:nvSpPr>
          <p:spPr>
            <a:xfrm>
              <a:off x="1464490" y="3309520"/>
              <a:ext cx="2672715" cy="146685"/>
            </a:xfrm>
            <a:custGeom>
              <a:avLst/>
              <a:gdLst/>
              <a:ahLst/>
              <a:cxnLst/>
              <a:rect l="l" t="t" r="r" b="b"/>
              <a:pathLst>
                <a:path w="2672715" h="146685">
                  <a:moveTo>
                    <a:pt x="2672682" y="0"/>
                  </a:moveTo>
                  <a:lnTo>
                    <a:pt x="0" y="0"/>
                  </a:lnTo>
                  <a:lnTo>
                    <a:pt x="0" y="146530"/>
                  </a:lnTo>
                  <a:lnTo>
                    <a:pt x="2672682" y="146530"/>
                  </a:lnTo>
                  <a:lnTo>
                    <a:pt x="2672682" y="0"/>
                  </a:lnTo>
                  <a:close/>
                </a:path>
              </a:pathLst>
            </a:custGeom>
            <a:solidFill>
              <a:srgbClr val="1B4681"/>
            </a:solidFill>
          </p:spPr>
          <p:txBody>
            <a:bodyPr wrap="square" lIns="0" tIns="0" rIns="0" bIns="0" rtlCol="0"/>
            <a:lstStyle/>
            <a:p>
              <a:endParaRPr/>
            </a:p>
          </p:txBody>
        </p:sp>
        <p:sp>
          <p:nvSpPr>
            <p:cNvPr id="18" name="object 18"/>
            <p:cNvSpPr/>
            <p:nvPr/>
          </p:nvSpPr>
          <p:spPr>
            <a:xfrm>
              <a:off x="4137103" y="3309520"/>
              <a:ext cx="471170" cy="146685"/>
            </a:xfrm>
            <a:custGeom>
              <a:avLst/>
              <a:gdLst/>
              <a:ahLst/>
              <a:cxnLst/>
              <a:rect l="l" t="t" r="r" b="b"/>
              <a:pathLst>
                <a:path w="471170" h="146685">
                  <a:moveTo>
                    <a:pt x="470836" y="0"/>
                  </a:moveTo>
                  <a:lnTo>
                    <a:pt x="0" y="0"/>
                  </a:lnTo>
                  <a:lnTo>
                    <a:pt x="0" y="146530"/>
                  </a:lnTo>
                  <a:lnTo>
                    <a:pt x="470836" y="146530"/>
                  </a:lnTo>
                  <a:lnTo>
                    <a:pt x="470836" y="0"/>
                  </a:lnTo>
                  <a:close/>
                </a:path>
              </a:pathLst>
            </a:custGeom>
            <a:solidFill>
              <a:srgbClr val="0A2750"/>
            </a:solidFill>
          </p:spPr>
          <p:txBody>
            <a:bodyPr wrap="square" lIns="0" tIns="0" rIns="0" bIns="0" rtlCol="0"/>
            <a:lstStyle/>
            <a:p>
              <a:endParaRPr/>
            </a:p>
          </p:txBody>
        </p:sp>
      </p:grpSp>
      <p:sp>
        <p:nvSpPr>
          <p:cNvPr id="19" name="object 19"/>
          <p:cNvSpPr txBox="1">
            <a:spLocks noGrp="1"/>
          </p:cNvSpPr>
          <p:nvPr>
            <p:ph type="dt" sz="half" idx="6"/>
          </p:nvPr>
        </p:nvSpPr>
        <p:spPr>
          <a:prstGeom prst="rect">
            <a:avLst/>
          </a:prstGeom>
        </p:spPr>
        <p:txBody>
          <a:bodyPr vert="horz" wrap="square" lIns="0" tIns="1270" rIns="0" bIns="0" rtlCol="0">
            <a:spAutoFit/>
          </a:bodyPr>
          <a:lstStyle/>
          <a:p>
            <a:pPr marL="12700">
              <a:lnSpc>
                <a:spcPct val="100000"/>
              </a:lnSpc>
              <a:spcBef>
                <a:spcPts val="10"/>
              </a:spcBef>
            </a:pPr>
            <a:r>
              <a:rPr spc="35" dirty="0"/>
              <a:t>尚文轩 南开大学</a:t>
            </a:r>
          </a:p>
        </p:txBody>
      </p:sp>
      <p:sp>
        <p:nvSpPr>
          <p:cNvPr id="20" name="object 20"/>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spc="-30" dirty="0">
                <a:latin typeface="Times New Roman"/>
                <a:cs typeface="Times New Roman"/>
              </a:rPr>
              <a:t>OT-</a:t>
            </a:r>
            <a:r>
              <a:rPr spc="-20" dirty="0"/>
              <a:t>协程技术调研</a:t>
            </a:r>
          </a:p>
        </p:txBody>
      </p:sp>
      <p:sp>
        <p:nvSpPr>
          <p:cNvPr id="21" name="object 21"/>
          <p:cNvSpPr txBox="1">
            <a:spLocks noGrp="1"/>
          </p:cNvSpPr>
          <p:nvPr>
            <p:ph type="sldNum" sz="quarter" idx="7"/>
          </p:nvPr>
        </p:nvSpPr>
        <p:spPr>
          <a:prstGeom prst="rect">
            <a:avLst/>
          </a:prstGeom>
        </p:spPr>
        <p:txBody>
          <a:bodyPr vert="horz" wrap="square" lIns="0" tIns="3810" rIns="0" bIns="0" rtlCol="0">
            <a:spAutoFit/>
          </a:bodyPr>
          <a:lstStyle/>
          <a:p>
            <a:pPr marL="37465">
              <a:lnSpc>
                <a:spcPct val="100000"/>
              </a:lnSpc>
              <a:spcBef>
                <a:spcPts val="30"/>
              </a:spcBef>
            </a:pPr>
            <a:fld id="{81D60167-4931-47E6-BA6A-407CBD079E47}" type="slidenum">
              <a:rPr spc="-25" dirty="0"/>
              <a:t>7</a:t>
            </a:fld>
            <a:endParaRPr spc="-25" dirty="0"/>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2" name="图片 21">
            <a:extLst>
              <a:ext uri="{FF2B5EF4-FFF2-40B4-BE49-F238E27FC236}">
                <a16:creationId xmlns:a16="http://schemas.microsoft.com/office/drawing/2014/main" id="{9B458E38-A4E9-1414-AB72-D2CF4F866A71}"/>
              </a:ext>
            </a:extLst>
          </p:cNvPr>
          <p:cNvPicPr>
            <a:picLocks noChangeAspect="1"/>
          </p:cNvPicPr>
          <p:nvPr/>
        </p:nvPicPr>
        <p:blipFill>
          <a:blip r:embed="rId2"/>
          <a:stretch>
            <a:fillRect/>
          </a:stretch>
        </p:blipFill>
        <p:spPr>
          <a:xfrm>
            <a:off x="0" y="-17647"/>
            <a:ext cx="4610100" cy="268320"/>
          </a:xfrm>
          <a:prstGeom prst="rect">
            <a:avLst/>
          </a:prstGeom>
        </p:spPr>
      </p:pic>
      <p:sp>
        <p:nvSpPr>
          <p:cNvPr id="2" name="object 2" descr="$PPTXTitle"/>
          <p:cNvSpPr txBox="1">
            <a:spLocks noGrp="1"/>
          </p:cNvSpPr>
          <p:nvPr>
            <p:ph type="title"/>
          </p:nvPr>
        </p:nvSpPr>
        <p:spPr>
          <a:xfrm>
            <a:off x="105130" y="42861"/>
            <a:ext cx="2658110" cy="180819"/>
          </a:xfrm>
          <a:prstGeom prst="rect">
            <a:avLst/>
          </a:prstGeom>
        </p:spPr>
        <p:txBody>
          <a:bodyPr vert="horz" wrap="square" lIns="0" tIns="11430" rIns="0" bIns="0" rtlCol="0">
            <a:spAutoFit/>
          </a:bodyPr>
          <a:lstStyle/>
          <a:p>
            <a:pPr marL="12700">
              <a:lnSpc>
                <a:spcPct val="100000"/>
              </a:lnSpc>
              <a:spcBef>
                <a:spcPts val="90"/>
              </a:spcBef>
            </a:pPr>
            <a:r>
              <a:rPr spc="-25" dirty="0">
                <a:solidFill>
                  <a:schemeClr val="bg1"/>
                </a:solidFill>
              </a:rPr>
              <a:t>底层实现：编译器、运行时与操作系统协同</a:t>
            </a:r>
          </a:p>
        </p:txBody>
      </p:sp>
      <p:sp>
        <p:nvSpPr>
          <p:cNvPr id="3" name="object 3"/>
          <p:cNvSpPr/>
          <p:nvPr/>
        </p:nvSpPr>
        <p:spPr>
          <a:xfrm>
            <a:off x="0" y="252052"/>
            <a:ext cx="4608195" cy="0"/>
          </a:xfrm>
          <a:custGeom>
            <a:avLst/>
            <a:gdLst/>
            <a:ahLst/>
            <a:cxnLst/>
            <a:rect l="l" t="t" r="r" b="b"/>
            <a:pathLst>
              <a:path w="4608195">
                <a:moveTo>
                  <a:pt x="0" y="0"/>
                </a:moveTo>
                <a:lnTo>
                  <a:pt x="4608060" y="0"/>
                </a:lnTo>
              </a:path>
            </a:pathLst>
          </a:custGeom>
          <a:ln w="12652">
            <a:solidFill>
              <a:srgbClr val="1B4681"/>
            </a:solidFill>
          </a:ln>
        </p:spPr>
        <p:txBody>
          <a:bodyPr wrap="square" lIns="0" tIns="0" rIns="0" bIns="0" rtlCol="0"/>
          <a:lstStyle/>
          <a:p>
            <a:endParaRPr/>
          </a:p>
        </p:txBody>
      </p:sp>
      <p:pic>
        <p:nvPicPr>
          <p:cNvPr id="4" name="object 4"/>
          <p:cNvPicPr/>
          <p:nvPr/>
        </p:nvPicPr>
        <p:blipFill>
          <a:blip r:embed="rId3" cstate="print"/>
          <a:stretch>
            <a:fillRect/>
          </a:stretch>
        </p:blipFill>
        <p:spPr>
          <a:xfrm>
            <a:off x="1059356" y="408417"/>
            <a:ext cx="2469131" cy="1787181"/>
          </a:xfrm>
          <a:prstGeom prst="rect">
            <a:avLst/>
          </a:prstGeom>
        </p:spPr>
      </p:pic>
      <p:grpSp>
        <p:nvGrpSpPr>
          <p:cNvPr id="5" name="object 5"/>
          <p:cNvGrpSpPr/>
          <p:nvPr/>
        </p:nvGrpSpPr>
        <p:grpSpPr>
          <a:xfrm>
            <a:off x="537457" y="2435459"/>
            <a:ext cx="30480" cy="30480"/>
            <a:chOff x="537457" y="2435459"/>
            <a:chExt cx="30480" cy="30480"/>
          </a:xfrm>
        </p:grpSpPr>
        <p:sp>
          <p:nvSpPr>
            <p:cNvPr id="6" name="object 6"/>
            <p:cNvSpPr/>
            <p:nvPr/>
          </p:nvSpPr>
          <p:spPr>
            <a:xfrm>
              <a:off x="539987" y="2437990"/>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7" name="object 7"/>
            <p:cNvSpPr/>
            <p:nvPr/>
          </p:nvSpPr>
          <p:spPr>
            <a:xfrm>
              <a:off x="539987" y="2437990"/>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sp>
        <p:nvSpPr>
          <p:cNvPr id="8" name="object 8"/>
          <p:cNvSpPr txBox="1"/>
          <p:nvPr/>
        </p:nvSpPr>
        <p:spPr>
          <a:xfrm>
            <a:off x="624395" y="2292487"/>
            <a:ext cx="3708400" cy="655955"/>
          </a:xfrm>
          <a:prstGeom prst="rect">
            <a:avLst/>
          </a:prstGeom>
        </p:spPr>
        <p:txBody>
          <a:bodyPr vert="horz" wrap="square" lIns="0" tIns="12700" rIns="0" bIns="0" rtlCol="0">
            <a:spAutoFit/>
          </a:bodyPr>
          <a:lstStyle/>
          <a:p>
            <a:pPr marL="12700" marR="778510">
              <a:lnSpc>
                <a:spcPct val="125299"/>
              </a:lnSpc>
              <a:spcBef>
                <a:spcPts val="100"/>
              </a:spcBef>
            </a:pPr>
            <a:r>
              <a:rPr sz="1100" spc="-25" dirty="0">
                <a:latin typeface="SimSun"/>
                <a:cs typeface="SimSun"/>
              </a:rPr>
              <a:t>编译器层：状态机转换、协程帧、恢复入口。</a:t>
            </a:r>
            <a:r>
              <a:rPr sz="1100" spc="-50" dirty="0">
                <a:latin typeface="SimSun"/>
                <a:cs typeface="SimSun"/>
              </a:rPr>
              <a:t> </a:t>
            </a:r>
            <a:r>
              <a:rPr sz="1100" spc="-25" dirty="0">
                <a:latin typeface="SimSun"/>
                <a:cs typeface="SimSun"/>
              </a:rPr>
              <a:t>运行时层：任务队列、事件循环、挂起与唤醒。</a:t>
            </a:r>
            <a:endParaRPr sz="1100">
              <a:latin typeface="SimSun"/>
              <a:cs typeface="SimSun"/>
            </a:endParaRPr>
          </a:p>
          <a:p>
            <a:pPr marL="12700">
              <a:lnSpc>
                <a:spcPct val="100000"/>
              </a:lnSpc>
              <a:spcBef>
                <a:spcPts val="335"/>
              </a:spcBef>
            </a:pPr>
            <a:r>
              <a:rPr sz="1100" spc="-25" dirty="0">
                <a:latin typeface="SimSun"/>
                <a:cs typeface="SimSun"/>
              </a:rPr>
              <a:t>操作系统层：线程调度、定时器、</a:t>
            </a:r>
            <a:r>
              <a:rPr sz="1100" dirty="0">
                <a:latin typeface="Times New Roman"/>
                <a:cs typeface="Times New Roman"/>
              </a:rPr>
              <a:t>I/O</a:t>
            </a:r>
            <a:r>
              <a:rPr sz="1100" spc="185" dirty="0">
                <a:latin typeface="Times New Roman"/>
                <a:cs typeface="Times New Roman"/>
              </a:rPr>
              <a:t> </a:t>
            </a:r>
            <a:r>
              <a:rPr sz="1100" spc="-25" dirty="0">
                <a:latin typeface="SimSun"/>
                <a:cs typeface="SimSun"/>
              </a:rPr>
              <a:t>就绪通知与多路复用。</a:t>
            </a:r>
            <a:endParaRPr sz="1100">
              <a:latin typeface="SimSun"/>
              <a:cs typeface="SimSun"/>
            </a:endParaRPr>
          </a:p>
        </p:txBody>
      </p:sp>
      <p:grpSp>
        <p:nvGrpSpPr>
          <p:cNvPr id="9" name="object 9"/>
          <p:cNvGrpSpPr/>
          <p:nvPr/>
        </p:nvGrpSpPr>
        <p:grpSpPr>
          <a:xfrm>
            <a:off x="537457" y="2645492"/>
            <a:ext cx="30480" cy="30480"/>
            <a:chOff x="537457" y="2645492"/>
            <a:chExt cx="30480" cy="30480"/>
          </a:xfrm>
        </p:grpSpPr>
        <p:sp>
          <p:nvSpPr>
            <p:cNvPr id="10" name="object 10"/>
            <p:cNvSpPr/>
            <p:nvPr/>
          </p:nvSpPr>
          <p:spPr>
            <a:xfrm>
              <a:off x="539987" y="2648022"/>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1" name="object 11"/>
            <p:cNvSpPr/>
            <p:nvPr/>
          </p:nvSpPr>
          <p:spPr>
            <a:xfrm>
              <a:off x="539987" y="2648022"/>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2" name="object 12"/>
          <p:cNvGrpSpPr/>
          <p:nvPr/>
        </p:nvGrpSpPr>
        <p:grpSpPr>
          <a:xfrm>
            <a:off x="537457" y="2855524"/>
            <a:ext cx="30480" cy="30480"/>
            <a:chOff x="537457" y="2855524"/>
            <a:chExt cx="30480" cy="30480"/>
          </a:xfrm>
        </p:grpSpPr>
        <p:sp>
          <p:nvSpPr>
            <p:cNvPr id="13" name="object 13"/>
            <p:cNvSpPr/>
            <p:nvPr/>
          </p:nvSpPr>
          <p:spPr>
            <a:xfrm>
              <a:off x="539987" y="2858055"/>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4" name="object 14"/>
            <p:cNvSpPr/>
            <p:nvPr/>
          </p:nvSpPr>
          <p:spPr>
            <a:xfrm>
              <a:off x="539987" y="2858055"/>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5" name="object 15"/>
          <p:cNvGrpSpPr/>
          <p:nvPr/>
        </p:nvGrpSpPr>
        <p:grpSpPr>
          <a:xfrm>
            <a:off x="0" y="3309520"/>
            <a:ext cx="4608195" cy="146685"/>
            <a:chOff x="0" y="3309520"/>
            <a:chExt cx="4608195" cy="146685"/>
          </a:xfrm>
        </p:grpSpPr>
        <p:sp>
          <p:nvSpPr>
            <p:cNvPr id="16" name="object 16"/>
            <p:cNvSpPr/>
            <p:nvPr/>
          </p:nvSpPr>
          <p:spPr>
            <a:xfrm>
              <a:off x="0" y="3309520"/>
              <a:ext cx="1464945" cy="146685"/>
            </a:xfrm>
            <a:custGeom>
              <a:avLst/>
              <a:gdLst/>
              <a:ahLst/>
              <a:cxnLst/>
              <a:rect l="l" t="t" r="r" b="b"/>
              <a:pathLst>
                <a:path w="1464945" h="146685">
                  <a:moveTo>
                    <a:pt x="1464490" y="146530"/>
                  </a:moveTo>
                  <a:lnTo>
                    <a:pt x="1464490" y="0"/>
                  </a:lnTo>
                  <a:lnTo>
                    <a:pt x="0" y="0"/>
                  </a:lnTo>
                  <a:lnTo>
                    <a:pt x="0" y="146530"/>
                  </a:lnTo>
                  <a:lnTo>
                    <a:pt x="1464490" y="146530"/>
                  </a:lnTo>
                  <a:close/>
                </a:path>
              </a:pathLst>
            </a:custGeom>
            <a:solidFill>
              <a:srgbClr val="4681B4"/>
            </a:solidFill>
          </p:spPr>
          <p:txBody>
            <a:bodyPr wrap="square" lIns="0" tIns="0" rIns="0" bIns="0" rtlCol="0"/>
            <a:lstStyle/>
            <a:p>
              <a:endParaRPr/>
            </a:p>
          </p:txBody>
        </p:sp>
        <p:sp>
          <p:nvSpPr>
            <p:cNvPr id="17" name="object 17"/>
            <p:cNvSpPr/>
            <p:nvPr/>
          </p:nvSpPr>
          <p:spPr>
            <a:xfrm>
              <a:off x="1464490" y="3309520"/>
              <a:ext cx="2672715" cy="146685"/>
            </a:xfrm>
            <a:custGeom>
              <a:avLst/>
              <a:gdLst/>
              <a:ahLst/>
              <a:cxnLst/>
              <a:rect l="l" t="t" r="r" b="b"/>
              <a:pathLst>
                <a:path w="2672715" h="146685">
                  <a:moveTo>
                    <a:pt x="2672682" y="0"/>
                  </a:moveTo>
                  <a:lnTo>
                    <a:pt x="0" y="0"/>
                  </a:lnTo>
                  <a:lnTo>
                    <a:pt x="0" y="146530"/>
                  </a:lnTo>
                  <a:lnTo>
                    <a:pt x="2672682" y="146530"/>
                  </a:lnTo>
                  <a:lnTo>
                    <a:pt x="2672682" y="0"/>
                  </a:lnTo>
                  <a:close/>
                </a:path>
              </a:pathLst>
            </a:custGeom>
            <a:solidFill>
              <a:srgbClr val="1B4681"/>
            </a:solidFill>
          </p:spPr>
          <p:txBody>
            <a:bodyPr wrap="square" lIns="0" tIns="0" rIns="0" bIns="0" rtlCol="0"/>
            <a:lstStyle/>
            <a:p>
              <a:endParaRPr/>
            </a:p>
          </p:txBody>
        </p:sp>
        <p:sp>
          <p:nvSpPr>
            <p:cNvPr id="18" name="object 18"/>
            <p:cNvSpPr/>
            <p:nvPr/>
          </p:nvSpPr>
          <p:spPr>
            <a:xfrm>
              <a:off x="4137103" y="3309520"/>
              <a:ext cx="471170" cy="146685"/>
            </a:xfrm>
            <a:custGeom>
              <a:avLst/>
              <a:gdLst/>
              <a:ahLst/>
              <a:cxnLst/>
              <a:rect l="l" t="t" r="r" b="b"/>
              <a:pathLst>
                <a:path w="471170" h="146685">
                  <a:moveTo>
                    <a:pt x="470836" y="0"/>
                  </a:moveTo>
                  <a:lnTo>
                    <a:pt x="0" y="0"/>
                  </a:lnTo>
                  <a:lnTo>
                    <a:pt x="0" y="146530"/>
                  </a:lnTo>
                  <a:lnTo>
                    <a:pt x="470836" y="146530"/>
                  </a:lnTo>
                  <a:lnTo>
                    <a:pt x="470836" y="0"/>
                  </a:lnTo>
                  <a:close/>
                </a:path>
              </a:pathLst>
            </a:custGeom>
            <a:solidFill>
              <a:srgbClr val="0A2750"/>
            </a:solidFill>
          </p:spPr>
          <p:txBody>
            <a:bodyPr wrap="square" lIns="0" tIns="0" rIns="0" bIns="0" rtlCol="0"/>
            <a:lstStyle/>
            <a:p>
              <a:endParaRPr/>
            </a:p>
          </p:txBody>
        </p:sp>
      </p:grpSp>
      <p:sp>
        <p:nvSpPr>
          <p:cNvPr id="19" name="object 19"/>
          <p:cNvSpPr txBox="1">
            <a:spLocks noGrp="1"/>
          </p:cNvSpPr>
          <p:nvPr>
            <p:ph type="dt" sz="half" idx="6"/>
          </p:nvPr>
        </p:nvSpPr>
        <p:spPr>
          <a:prstGeom prst="rect">
            <a:avLst/>
          </a:prstGeom>
        </p:spPr>
        <p:txBody>
          <a:bodyPr vert="horz" wrap="square" lIns="0" tIns="1270" rIns="0" bIns="0" rtlCol="0">
            <a:spAutoFit/>
          </a:bodyPr>
          <a:lstStyle/>
          <a:p>
            <a:pPr marL="12700">
              <a:lnSpc>
                <a:spcPct val="100000"/>
              </a:lnSpc>
              <a:spcBef>
                <a:spcPts val="10"/>
              </a:spcBef>
            </a:pPr>
            <a:r>
              <a:rPr spc="35" dirty="0"/>
              <a:t>尚文轩 南开大学</a:t>
            </a:r>
          </a:p>
        </p:txBody>
      </p:sp>
      <p:sp>
        <p:nvSpPr>
          <p:cNvPr id="20" name="object 20"/>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spc="-30" dirty="0">
                <a:latin typeface="Times New Roman"/>
                <a:cs typeface="Times New Roman"/>
              </a:rPr>
              <a:t>OT-</a:t>
            </a:r>
            <a:r>
              <a:rPr spc="-20" dirty="0"/>
              <a:t>协程技术调研</a:t>
            </a:r>
          </a:p>
        </p:txBody>
      </p:sp>
      <p:sp>
        <p:nvSpPr>
          <p:cNvPr id="21" name="object 21"/>
          <p:cNvSpPr txBox="1">
            <a:spLocks noGrp="1"/>
          </p:cNvSpPr>
          <p:nvPr>
            <p:ph type="sldNum" sz="quarter" idx="7"/>
          </p:nvPr>
        </p:nvSpPr>
        <p:spPr>
          <a:prstGeom prst="rect">
            <a:avLst/>
          </a:prstGeom>
        </p:spPr>
        <p:txBody>
          <a:bodyPr vert="horz" wrap="square" lIns="0" tIns="3810" rIns="0" bIns="0" rtlCol="0">
            <a:spAutoFit/>
          </a:bodyPr>
          <a:lstStyle/>
          <a:p>
            <a:pPr marL="37465">
              <a:lnSpc>
                <a:spcPct val="100000"/>
              </a:lnSpc>
              <a:spcBef>
                <a:spcPts val="30"/>
              </a:spcBef>
            </a:pPr>
            <a:fld id="{81D60167-4931-47E6-BA6A-407CBD079E47}" type="slidenum">
              <a:rPr spc="-25" dirty="0"/>
              <a:t>8</a:t>
            </a:fld>
            <a:endParaRPr spc="-25" dirty="0"/>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6" name="图片 35">
            <a:extLst>
              <a:ext uri="{FF2B5EF4-FFF2-40B4-BE49-F238E27FC236}">
                <a16:creationId xmlns:a16="http://schemas.microsoft.com/office/drawing/2014/main" id="{895398E5-053D-E910-989A-3AD1402D63C2}"/>
              </a:ext>
            </a:extLst>
          </p:cNvPr>
          <p:cNvPicPr>
            <a:picLocks noChangeAspect="1"/>
          </p:cNvPicPr>
          <p:nvPr/>
        </p:nvPicPr>
        <p:blipFill>
          <a:blip r:embed="rId2"/>
          <a:stretch>
            <a:fillRect/>
          </a:stretch>
        </p:blipFill>
        <p:spPr>
          <a:xfrm>
            <a:off x="0" y="1"/>
            <a:ext cx="4610100" cy="250672"/>
          </a:xfrm>
          <a:prstGeom prst="rect">
            <a:avLst/>
          </a:prstGeom>
        </p:spPr>
      </p:pic>
      <p:sp>
        <p:nvSpPr>
          <p:cNvPr id="2" name="object 2" descr="$PPTXTitle"/>
          <p:cNvSpPr txBox="1">
            <a:spLocks noGrp="1"/>
          </p:cNvSpPr>
          <p:nvPr>
            <p:ph type="title"/>
          </p:nvPr>
        </p:nvSpPr>
        <p:spPr>
          <a:xfrm>
            <a:off x="105130" y="42594"/>
            <a:ext cx="2103755" cy="180819"/>
          </a:xfrm>
          <a:prstGeom prst="rect">
            <a:avLst/>
          </a:prstGeom>
        </p:spPr>
        <p:txBody>
          <a:bodyPr vert="horz" wrap="square" lIns="0" tIns="11430" rIns="0" bIns="0" rtlCol="0">
            <a:spAutoFit/>
          </a:bodyPr>
          <a:lstStyle/>
          <a:p>
            <a:pPr marL="12700">
              <a:lnSpc>
                <a:spcPct val="100000"/>
              </a:lnSpc>
              <a:spcBef>
                <a:spcPts val="90"/>
              </a:spcBef>
            </a:pPr>
            <a:r>
              <a:rPr spc="-25" dirty="0">
                <a:solidFill>
                  <a:schemeClr val="bg1"/>
                </a:solidFill>
              </a:rPr>
              <a:t>主流语言中的协程式并发支持比较</a:t>
            </a:r>
          </a:p>
        </p:txBody>
      </p:sp>
      <p:sp>
        <p:nvSpPr>
          <p:cNvPr id="3" name="object 3"/>
          <p:cNvSpPr/>
          <p:nvPr/>
        </p:nvSpPr>
        <p:spPr>
          <a:xfrm>
            <a:off x="0" y="252052"/>
            <a:ext cx="4608195" cy="0"/>
          </a:xfrm>
          <a:custGeom>
            <a:avLst/>
            <a:gdLst/>
            <a:ahLst/>
            <a:cxnLst/>
            <a:rect l="l" t="t" r="r" b="b"/>
            <a:pathLst>
              <a:path w="4608195">
                <a:moveTo>
                  <a:pt x="0" y="0"/>
                </a:moveTo>
                <a:lnTo>
                  <a:pt x="4608060" y="0"/>
                </a:lnTo>
              </a:path>
            </a:pathLst>
          </a:custGeom>
          <a:ln w="12652">
            <a:solidFill>
              <a:srgbClr val="1B4681"/>
            </a:solidFill>
          </a:ln>
        </p:spPr>
        <p:txBody>
          <a:bodyPr wrap="square" lIns="0" tIns="0" rIns="0" bIns="0" rtlCol="0"/>
          <a:lstStyle/>
          <a:p>
            <a:endParaRPr/>
          </a:p>
        </p:txBody>
      </p:sp>
      <p:grpSp>
        <p:nvGrpSpPr>
          <p:cNvPr id="4" name="object 4"/>
          <p:cNvGrpSpPr/>
          <p:nvPr/>
        </p:nvGrpSpPr>
        <p:grpSpPr>
          <a:xfrm>
            <a:off x="240004" y="337996"/>
            <a:ext cx="1944370" cy="944244"/>
            <a:chOff x="240004" y="337996"/>
            <a:chExt cx="1944370" cy="944244"/>
          </a:xfrm>
        </p:grpSpPr>
        <p:sp>
          <p:nvSpPr>
            <p:cNvPr id="5" name="object 5"/>
            <p:cNvSpPr/>
            <p:nvPr/>
          </p:nvSpPr>
          <p:spPr>
            <a:xfrm>
              <a:off x="294005" y="404650"/>
              <a:ext cx="1836420" cy="836294"/>
            </a:xfrm>
            <a:custGeom>
              <a:avLst/>
              <a:gdLst/>
              <a:ahLst/>
              <a:cxnLst/>
              <a:rect l="l" t="t" r="r" b="b"/>
              <a:pathLst>
                <a:path w="1836420" h="836294">
                  <a:moveTo>
                    <a:pt x="1836024" y="0"/>
                  </a:moveTo>
                  <a:lnTo>
                    <a:pt x="0" y="0"/>
                  </a:lnTo>
                  <a:lnTo>
                    <a:pt x="0" y="836232"/>
                  </a:lnTo>
                  <a:lnTo>
                    <a:pt x="1836024" y="836232"/>
                  </a:lnTo>
                  <a:lnTo>
                    <a:pt x="1836024" y="0"/>
                  </a:lnTo>
                  <a:close/>
                </a:path>
              </a:pathLst>
            </a:custGeom>
            <a:solidFill>
              <a:srgbClr val="B2B2B2"/>
            </a:solidFill>
          </p:spPr>
          <p:txBody>
            <a:bodyPr wrap="square" lIns="0" tIns="0" rIns="0" bIns="0" rtlCol="0"/>
            <a:lstStyle/>
            <a:p>
              <a:endParaRPr/>
            </a:p>
          </p:txBody>
        </p:sp>
        <p:sp>
          <p:nvSpPr>
            <p:cNvPr id="6" name="object 6"/>
            <p:cNvSpPr/>
            <p:nvPr/>
          </p:nvSpPr>
          <p:spPr>
            <a:xfrm>
              <a:off x="240004" y="337996"/>
              <a:ext cx="1944370" cy="944244"/>
            </a:xfrm>
            <a:custGeom>
              <a:avLst/>
              <a:gdLst/>
              <a:ahLst/>
              <a:cxnLst/>
              <a:rect l="l" t="t" r="r" b="b"/>
              <a:pathLst>
                <a:path w="1944370" h="944244">
                  <a:moveTo>
                    <a:pt x="1890025" y="0"/>
                  </a:moveTo>
                  <a:lnTo>
                    <a:pt x="54000" y="0"/>
                  </a:lnTo>
                  <a:lnTo>
                    <a:pt x="32980" y="4243"/>
                  </a:lnTo>
                  <a:lnTo>
                    <a:pt x="15816" y="15816"/>
                  </a:lnTo>
                  <a:lnTo>
                    <a:pt x="4243" y="32981"/>
                  </a:lnTo>
                  <a:lnTo>
                    <a:pt x="0" y="54000"/>
                  </a:lnTo>
                  <a:lnTo>
                    <a:pt x="0" y="890232"/>
                  </a:lnTo>
                  <a:lnTo>
                    <a:pt x="4243" y="911252"/>
                  </a:lnTo>
                  <a:lnTo>
                    <a:pt x="15816" y="928417"/>
                  </a:lnTo>
                  <a:lnTo>
                    <a:pt x="32980" y="939989"/>
                  </a:lnTo>
                  <a:lnTo>
                    <a:pt x="54000" y="944233"/>
                  </a:lnTo>
                  <a:lnTo>
                    <a:pt x="1890025" y="944233"/>
                  </a:lnTo>
                  <a:lnTo>
                    <a:pt x="1911044" y="939989"/>
                  </a:lnTo>
                  <a:lnTo>
                    <a:pt x="1928209" y="928417"/>
                  </a:lnTo>
                  <a:lnTo>
                    <a:pt x="1939781" y="911252"/>
                  </a:lnTo>
                  <a:lnTo>
                    <a:pt x="1944025" y="890232"/>
                  </a:lnTo>
                  <a:lnTo>
                    <a:pt x="1944025" y="54000"/>
                  </a:lnTo>
                  <a:lnTo>
                    <a:pt x="1939781" y="32981"/>
                  </a:lnTo>
                  <a:lnTo>
                    <a:pt x="1928209" y="15816"/>
                  </a:lnTo>
                  <a:lnTo>
                    <a:pt x="1911044" y="4243"/>
                  </a:lnTo>
                  <a:lnTo>
                    <a:pt x="1890025" y="0"/>
                  </a:lnTo>
                  <a:close/>
                </a:path>
              </a:pathLst>
            </a:custGeom>
            <a:solidFill>
              <a:srgbClr val="1B4681"/>
            </a:solidFill>
          </p:spPr>
          <p:txBody>
            <a:bodyPr wrap="square" lIns="0" tIns="0" rIns="0" bIns="0" rtlCol="0"/>
            <a:lstStyle/>
            <a:p>
              <a:endParaRPr/>
            </a:p>
          </p:txBody>
        </p:sp>
        <p:sp>
          <p:nvSpPr>
            <p:cNvPr id="7" name="object 7"/>
            <p:cNvSpPr/>
            <p:nvPr/>
          </p:nvSpPr>
          <p:spPr>
            <a:xfrm>
              <a:off x="240004" y="515123"/>
              <a:ext cx="1944370" cy="767715"/>
            </a:xfrm>
            <a:custGeom>
              <a:avLst/>
              <a:gdLst/>
              <a:ahLst/>
              <a:cxnLst/>
              <a:rect l="l" t="t" r="r" b="b"/>
              <a:pathLst>
                <a:path w="1944370" h="767715">
                  <a:moveTo>
                    <a:pt x="1944025" y="0"/>
                  </a:moveTo>
                  <a:lnTo>
                    <a:pt x="0" y="0"/>
                  </a:lnTo>
                  <a:lnTo>
                    <a:pt x="0" y="713106"/>
                  </a:lnTo>
                  <a:lnTo>
                    <a:pt x="4243" y="734125"/>
                  </a:lnTo>
                  <a:lnTo>
                    <a:pt x="15816" y="751290"/>
                  </a:lnTo>
                  <a:lnTo>
                    <a:pt x="32980" y="762862"/>
                  </a:lnTo>
                  <a:lnTo>
                    <a:pt x="54000" y="767106"/>
                  </a:lnTo>
                  <a:lnTo>
                    <a:pt x="1890025" y="767106"/>
                  </a:lnTo>
                  <a:lnTo>
                    <a:pt x="1911044" y="762862"/>
                  </a:lnTo>
                  <a:lnTo>
                    <a:pt x="1928209" y="751290"/>
                  </a:lnTo>
                  <a:lnTo>
                    <a:pt x="1939781" y="734125"/>
                  </a:lnTo>
                  <a:lnTo>
                    <a:pt x="1944025" y="713106"/>
                  </a:lnTo>
                  <a:lnTo>
                    <a:pt x="1944025" y="0"/>
                  </a:lnTo>
                  <a:close/>
                </a:path>
              </a:pathLst>
            </a:custGeom>
            <a:solidFill>
              <a:srgbClr val="E8ECF2"/>
            </a:solidFill>
          </p:spPr>
          <p:txBody>
            <a:bodyPr wrap="square" lIns="0" tIns="0" rIns="0" bIns="0" rtlCol="0"/>
            <a:lstStyle/>
            <a:p>
              <a:endParaRPr/>
            </a:p>
          </p:txBody>
        </p:sp>
      </p:grpSp>
      <p:sp>
        <p:nvSpPr>
          <p:cNvPr id="8" name="object 8"/>
          <p:cNvSpPr txBox="1"/>
          <p:nvPr/>
        </p:nvSpPr>
        <p:spPr>
          <a:xfrm>
            <a:off x="288607" y="263078"/>
            <a:ext cx="1847214" cy="984250"/>
          </a:xfrm>
          <a:prstGeom prst="rect">
            <a:avLst/>
          </a:prstGeom>
        </p:spPr>
        <p:txBody>
          <a:bodyPr vert="horz" wrap="square" lIns="0" tIns="60960" rIns="0" bIns="0" rtlCol="0">
            <a:spAutoFit/>
          </a:bodyPr>
          <a:lstStyle/>
          <a:p>
            <a:pPr marL="12700">
              <a:lnSpc>
                <a:spcPct val="100000"/>
              </a:lnSpc>
              <a:spcBef>
                <a:spcPts val="480"/>
              </a:spcBef>
            </a:pPr>
            <a:r>
              <a:rPr sz="1200" spc="-10" dirty="0">
                <a:solidFill>
                  <a:srgbClr val="FFFFFF"/>
                </a:solidFill>
                <a:latin typeface="Times New Roman"/>
                <a:cs typeface="Times New Roman"/>
              </a:rPr>
              <a:t>C++20</a:t>
            </a:r>
            <a:endParaRPr sz="1200">
              <a:latin typeface="Times New Roman"/>
              <a:cs typeface="Times New Roman"/>
            </a:endParaRPr>
          </a:p>
          <a:p>
            <a:pPr marL="12700">
              <a:lnSpc>
                <a:spcPct val="100000"/>
              </a:lnSpc>
              <a:spcBef>
                <a:spcPts val="345"/>
              </a:spcBef>
            </a:pPr>
            <a:r>
              <a:rPr sz="1100" spc="-30" dirty="0">
                <a:latin typeface="SimSun"/>
                <a:cs typeface="SimSun"/>
              </a:rPr>
              <a:t>偏底层机制</a:t>
            </a:r>
            <a:endParaRPr sz="1100">
              <a:latin typeface="SimSun"/>
              <a:cs typeface="SimSun"/>
            </a:endParaRPr>
          </a:p>
          <a:p>
            <a:pPr marL="12700" marR="5080" algn="just">
              <a:lnSpc>
                <a:spcPct val="102600"/>
              </a:lnSpc>
            </a:pPr>
            <a:r>
              <a:rPr sz="1100" spc="30" dirty="0">
                <a:latin typeface="SimSun"/>
                <a:cs typeface="SimSun"/>
              </a:rPr>
              <a:t>标准提供</a:t>
            </a:r>
            <a:r>
              <a:rPr sz="1100" spc="-35" dirty="0">
                <a:latin typeface="Times New Roman"/>
                <a:cs typeface="Times New Roman"/>
              </a:rPr>
              <a:t>co_await/co_yield</a:t>
            </a:r>
            <a:r>
              <a:rPr sz="1100" spc="-45" dirty="0">
                <a:latin typeface="SimSun"/>
                <a:cs typeface="SimSun"/>
              </a:rPr>
              <a:t>，灵</a:t>
            </a:r>
            <a:r>
              <a:rPr sz="1100" spc="-25" dirty="0">
                <a:latin typeface="SimSun"/>
                <a:cs typeface="SimSun"/>
              </a:rPr>
              <a:t>活，但通常需要库与调度器进</a:t>
            </a:r>
            <a:r>
              <a:rPr sz="1100" spc="-30" dirty="0">
                <a:latin typeface="SimSun"/>
                <a:cs typeface="SimSun"/>
              </a:rPr>
              <a:t>一步封装。</a:t>
            </a:r>
            <a:endParaRPr sz="1100">
              <a:latin typeface="SimSun"/>
              <a:cs typeface="SimSun"/>
            </a:endParaRPr>
          </a:p>
        </p:txBody>
      </p:sp>
      <p:grpSp>
        <p:nvGrpSpPr>
          <p:cNvPr id="9" name="object 9"/>
          <p:cNvGrpSpPr/>
          <p:nvPr/>
        </p:nvGrpSpPr>
        <p:grpSpPr>
          <a:xfrm>
            <a:off x="240004" y="1506516"/>
            <a:ext cx="1944370" cy="942340"/>
            <a:chOff x="240004" y="1506516"/>
            <a:chExt cx="1944370" cy="942340"/>
          </a:xfrm>
        </p:grpSpPr>
        <p:sp>
          <p:nvSpPr>
            <p:cNvPr id="10" name="object 10"/>
            <p:cNvSpPr/>
            <p:nvPr/>
          </p:nvSpPr>
          <p:spPr>
            <a:xfrm>
              <a:off x="294005" y="1573170"/>
              <a:ext cx="1836420" cy="834390"/>
            </a:xfrm>
            <a:custGeom>
              <a:avLst/>
              <a:gdLst/>
              <a:ahLst/>
              <a:cxnLst/>
              <a:rect l="l" t="t" r="r" b="b"/>
              <a:pathLst>
                <a:path w="1836420" h="834389">
                  <a:moveTo>
                    <a:pt x="1836024" y="0"/>
                  </a:moveTo>
                  <a:lnTo>
                    <a:pt x="0" y="0"/>
                  </a:lnTo>
                  <a:lnTo>
                    <a:pt x="0" y="834067"/>
                  </a:lnTo>
                  <a:lnTo>
                    <a:pt x="1836024" y="834067"/>
                  </a:lnTo>
                  <a:lnTo>
                    <a:pt x="1836024" y="0"/>
                  </a:lnTo>
                  <a:close/>
                </a:path>
              </a:pathLst>
            </a:custGeom>
            <a:solidFill>
              <a:srgbClr val="B2B2B2"/>
            </a:solidFill>
          </p:spPr>
          <p:txBody>
            <a:bodyPr wrap="square" lIns="0" tIns="0" rIns="0" bIns="0" rtlCol="0"/>
            <a:lstStyle/>
            <a:p>
              <a:endParaRPr/>
            </a:p>
          </p:txBody>
        </p:sp>
        <p:sp>
          <p:nvSpPr>
            <p:cNvPr id="11" name="object 11"/>
            <p:cNvSpPr/>
            <p:nvPr/>
          </p:nvSpPr>
          <p:spPr>
            <a:xfrm>
              <a:off x="240004" y="1506516"/>
              <a:ext cx="1944370" cy="942340"/>
            </a:xfrm>
            <a:custGeom>
              <a:avLst/>
              <a:gdLst/>
              <a:ahLst/>
              <a:cxnLst/>
              <a:rect l="l" t="t" r="r" b="b"/>
              <a:pathLst>
                <a:path w="1944370" h="942339">
                  <a:moveTo>
                    <a:pt x="1890025" y="0"/>
                  </a:moveTo>
                  <a:lnTo>
                    <a:pt x="54000" y="0"/>
                  </a:lnTo>
                  <a:lnTo>
                    <a:pt x="32980" y="4243"/>
                  </a:lnTo>
                  <a:lnTo>
                    <a:pt x="15816" y="15816"/>
                  </a:lnTo>
                  <a:lnTo>
                    <a:pt x="4243" y="32980"/>
                  </a:lnTo>
                  <a:lnTo>
                    <a:pt x="0" y="54000"/>
                  </a:lnTo>
                  <a:lnTo>
                    <a:pt x="0" y="888068"/>
                  </a:lnTo>
                  <a:lnTo>
                    <a:pt x="4243" y="909087"/>
                  </a:lnTo>
                  <a:lnTo>
                    <a:pt x="15816" y="926252"/>
                  </a:lnTo>
                  <a:lnTo>
                    <a:pt x="32980" y="937824"/>
                  </a:lnTo>
                  <a:lnTo>
                    <a:pt x="54000" y="942068"/>
                  </a:lnTo>
                  <a:lnTo>
                    <a:pt x="1890025" y="942068"/>
                  </a:lnTo>
                  <a:lnTo>
                    <a:pt x="1911044" y="937824"/>
                  </a:lnTo>
                  <a:lnTo>
                    <a:pt x="1928209" y="926252"/>
                  </a:lnTo>
                  <a:lnTo>
                    <a:pt x="1939781" y="909087"/>
                  </a:lnTo>
                  <a:lnTo>
                    <a:pt x="1944025" y="888068"/>
                  </a:lnTo>
                  <a:lnTo>
                    <a:pt x="1944025" y="54000"/>
                  </a:lnTo>
                  <a:lnTo>
                    <a:pt x="1939781" y="32980"/>
                  </a:lnTo>
                  <a:lnTo>
                    <a:pt x="1928209" y="15816"/>
                  </a:lnTo>
                  <a:lnTo>
                    <a:pt x="1911044" y="4243"/>
                  </a:lnTo>
                  <a:lnTo>
                    <a:pt x="1890025" y="0"/>
                  </a:lnTo>
                  <a:close/>
                </a:path>
              </a:pathLst>
            </a:custGeom>
            <a:solidFill>
              <a:srgbClr val="1B4681"/>
            </a:solidFill>
          </p:spPr>
          <p:txBody>
            <a:bodyPr wrap="square" lIns="0" tIns="0" rIns="0" bIns="0" rtlCol="0"/>
            <a:lstStyle/>
            <a:p>
              <a:endParaRPr/>
            </a:p>
          </p:txBody>
        </p:sp>
        <p:sp>
          <p:nvSpPr>
            <p:cNvPr id="12" name="object 12"/>
            <p:cNvSpPr/>
            <p:nvPr/>
          </p:nvSpPr>
          <p:spPr>
            <a:xfrm>
              <a:off x="240004" y="1683643"/>
              <a:ext cx="1944370" cy="765175"/>
            </a:xfrm>
            <a:custGeom>
              <a:avLst/>
              <a:gdLst/>
              <a:ahLst/>
              <a:cxnLst/>
              <a:rect l="l" t="t" r="r" b="b"/>
              <a:pathLst>
                <a:path w="1944370" h="765175">
                  <a:moveTo>
                    <a:pt x="1944025" y="0"/>
                  </a:moveTo>
                  <a:lnTo>
                    <a:pt x="0" y="0"/>
                  </a:lnTo>
                  <a:lnTo>
                    <a:pt x="0" y="710941"/>
                  </a:lnTo>
                  <a:lnTo>
                    <a:pt x="4243" y="731960"/>
                  </a:lnTo>
                  <a:lnTo>
                    <a:pt x="15816" y="749125"/>
                  </a:lnTo>
                  <a:lnTo>
                    <a:pt x="32980" y="760698"/>
                  </a:lnTo>
                  <a:lnTo>
                    <a:pt x="54000" y="764941"/>
                  </a:lnTo>
                  <a:lnTo>
                    <a:pt x="1890025" y="764941"/>
                  </a:lnTo>
                  <a:lnTo>
                    <a:pt x="1911044" y="760698"/>
                  </a:lnTo>
                  <a:lnTo>
                    <a:pt x="1928209" y="749125"/>
                  </a:lnTo>
                  <a:lnTo>
                    <a:pt x="1939781" y="731960"/>
                  </a:lnTo>
                  <a:lnTo>
                    <a:pt x="1944025" y="710941"/>
                  </a:lnTo>
                  <a:lnTo>
                    <a:pt x="1944025" y="0"/>
                  </a:lnTo>
                  <a:close/>
                </a:path>
              </a:pathLst>
            </a:custGeom>
            <a:solidFill>
              <a:srgbClr val="E8ECF2"/>
            </a:solidFill>
          </p:spPr>
          <p:txBody>
            <a:bodyPr wrap="square" lIns="0" tIns="0" rIns="0" bIns="0" rtlCol="0"/>
            <a:lstStyle/>
            <a:p>
              <a:endParaRPr/>
            </a:p>
          </p:txBody>
        </p:sp>
      </p:grpSp>
      <p:sp>
        <p:nvSpPr>
          <p:cNvPr id="13" name="object 13"/>
          <p:cNvSpPr txBox="1"/>
          <p:nvPr/>
        </p:nvSpPr>
        <p:spPr>
          <a:xfrm>
            <a:off x="288607" y="1432816"/>
            <a:ext cx="1847214" cy="982344"/>
          </a:xfrm>
          <a:prstGeom prst="rect">
            <a:avLst/>
          </a:prstGeom>
        </p:spPr>
        <p:txBody>
          <a:bodyPr vert="horz" wrap="square" lIns="0" tIns="59690" rIns="0" bIns="0" rtlCol="0">
            <a:spAutoFit/>
          </a:bodyPr>
          <a:lstStyle/>
          <a:p>
            <a:pPr marL="12700">
              <a:lnSpc>
                <a:spcPct val="100000"/>
              </a:lnSpc>
              <a:spcBef>
                <a:spcPts val="470"/>
              </a:spcBef>
            </a:pPr>
            <a:r>
              <a:rPr sz="1200" spc="-25" dirty="0">
                <a:solidFill>
                  <a:srgbClr val="FFFFFF"/>
                </a:solidFill>
                <a:latin typeface="Times New Roman"/>
                <a:cs typeface="Times New Roman"/>
              </a:rPr>
              <a:t>Go</a:t>
            </a:r>
            <a:endParaRPr sz="1200">
              <a:latin typeface="Times New Roman"/>
              <a:cs typeface="Times New Roman"/>
            </a:endParaRPr>
          </a:p>
          <a:p>
            <a:pPr marL="12700">
              <a:lnSpc>
                <a:spcPct val="100000"/>
              </a:lnSpc>
              <a:spcBef>
                <a:spcPts val="335"/>
              </a:spcBef>
            </a:pPr>
            <a:r>
              <a:rPr sz="1100" spc="-25" dirty="0">
                <a:latin typeface="SimSun"/>
                <a:cs typeface="SimSun"/>
              </a:rPr>
              <a:t>语言与运行时一体化</a:t>
            </a:r>
            <a:endParaRPr sz="1100">
              <a:latin typeface="SimSun"/>
              <a:cs typeface="SimSun"/>
            </a:endParaRPr>
          </a:p>
          <a:p>
            <a:pPr marL="12700" marR="5080" algn="just">
              <a:lnSpc>
                <a:spcPct val="102600"/>
              </a:lnSpc>
              <a:spcBef>
                <a:spcPts val="5"/>
              </a:spcBef>
            </a:pPr>
            <a:r>
              <a:rPr sz="1100" dirty="0">
                <a:latin typeface="Times New Roman"/>
                <a:cs typeface="Times New Roman"/>
              </a:rPr>
              <a:t>goroutine</a:t>
            </a:r>
            <a:r>
              <a:rPr sz="1100" spc="-5" dirty="0">
                <a:latin typeface="Times New Roman"/>
                <a:cs typeface="Times New Roman"/>
              </a:rPr>
              <a:t> + </a:t>
            </a:r>
            <a:r>
              <a:rPr sz="1100" spc="-10" dirty="0">
                <a:latin typeface="Times New Roman"/>
                <a:cs typeface="Times New Roman"/>
              </a:rPr>
              <a:t>channel</a:t>
            </a:r>
            <a:r>
              <a:rPr sz="1100" spc="-15" dirty="0">
                <a:latin typeface="SimSun"/>
                <a:cs typeface="SimSun"/>
              </a:rPr>
              <a:t>，把轻量并发抽象和运行时调度一起交给</a:t>
            </a:r>
            <a:r>
              <a:rPr sz="1100" spc="-30" dirty="0">
                <a:latin typeface="SimSun"/>
                <a:cs typeface="SimSun"/>
              </a:rPr>
              <a:t>语言生态。</a:t>
            </a:r>
            <a:endParaRPr sz="1100">
              <a:latin typeface="SimSun"/>
              <a:cs typeface="SimSun"/>
            </a:endParaRPr>
          </a:p>
        </p:txBody>
      </p:sp>
      <p:grpSp>
        <p:nvGrpSpPr>
          <p:cNvPr id="14" name="object 14"/>
          <p:cNvGrpSpPr/>
          <p:nvPr/>
        </p:nvGrpSpPr>
        <p:grpSpPr>
          <a:xfrm>
            <a:off x="2423998" y="338002"/>
            <a:ext cx="1944370" cy="805180"/>
            <a:chOff x="2423998" y="338002"/>
            <a:chExt cx="1944370" cy="805180"/>
          </a:xfrm>
        </p:grpSpPr>
        <p:sp>
          <p:nvSpPr>
            <p:cNvPr id="15" name="object 15"/>
            <p:cNvSpPr/>
            <p:nvPr/>
          </p:nvSpPr>
          <p:spPr>
            <a:xfrm>
              <a:off x="2477998" y="404655"/>
              <a:ext cx="1836420" cy="697230"/>
            </a:xfrm>
            <a:custGeom>
              <a:avLst/>
              <a:gdLst/>
              <a:ahLst/>
              <a:cxnLst/>
              <a:rect l="l" t="t" r="r" b="b"/>
              <a:pathLst>
                <a:path w="1836420" h="697230">
                  <a:moveTo>
                    <a:pt x="1836024" y="0"/>
                  </a:moveTo>
                  <a:lnTo>
                    <a:pt x="0" y="0"/>
                  </a:lnTo>
                  <a:lnTo>
                    <a:pt x="0" y="696679"/>
                  </a:lnTo>
                  <a:lnTo>
                    <a:pt x="1836024" y="696679"/>
                  </a:lnTo>
                  <a:lnTo>
                    <a:pt x="1836024" y="0"/>
                  </a:lnTo>
                  <a:close/>
                </a:path>
              </a:pathLst>
            </a:custGeom>
            <a:solidFill>
              <a:srgbClr val="B2B2B2"/>
            </a:solidFill>
          </p:spPr>
          <p:txBody>
            <a:bodyPr wrap="square" lIns="0" tIns="0" rIns="0" bIns="0" rtlCol="0"/>
            <a:lstStyle/>
            <a:p>
              <a:endParaRPr/>
            </a:p>
          </p:txBody>
        </p:sp>
        <p:sp>
          <p:nvSpPr>
            <p:cNvPr id="16" name="object 16"/>
            <p:cNvSpPr/>
            <p:nvPr/>
          </p:nvSpPr>
          <p:spPr>
            <a:xfrm>
              <a:off x="2423998" y="338002"/>
              <a:ext cx="1944370" cy="805180"/>
            </a:xfrm>
            <a:custGeom>
              <a:avLst/>
              <a:gdLst/>
              <a:ahLst/>
              <a:cxnLst/>
              <a:rect l="l" t="t" r="r" b="b"/>
              <a:pathLst>
                <a:path w="1944370" h="805180">
                  <a:moveTo>
                    <a:pt x="1890025" y="0"/>
                  </a:moveTo>
                  <a:lnTo>
                    <a:pt x="54000" y="0"/>
                  </a:lnTo>
                  <a:lnTo>
                    <a:pt x="32980" y="4243"/>
                  </a:lnTo>
                  <a:lnTo>
                    <a:pt x="15816" y="15816"/>
                  </a:lnTo>
                  <a:lnTo>
                    <a:pt x="4243" y="32980"/>
                  </a:lnTo>
                  <a:lnTo>
                    <a:pt x="0" y="54000"/>
                  </a:lnTo>
                  <a:lnTo>
                    <a:pt x="0" y="750679"/>
                  </a:lnTo>
                  <a:lnTo>
                    <a:pt x="4243" y="771699"/>
                  </a:lnTo>
                  <a:lnTo>
                    <a:pt x="15816" y="788863"/>
                  </a:lnTo>
                  <a:lnTo>
                    <a:pt x="32980" y="800436"/>
                  </a:lnTo>
                  <a:lnTo>
                    <a:pt x="54000" y="804680"/>
                  </a:lnTo>
                  <a:lnTo>
                    <a:pt x="1890025" y="804680"/>
                  </a:lnTo>
                  <a:lnTo>
                    <a:pt x="1911044" y="800436"/>
                  </a:lnTo>
                  <a:lnTo>
                    <a:pt x="1928209" y="788863"/>
                  </a:lnTo>
                  <a:lnTo>
                    <a:pt x="1939781" y="771699"/>
                  </a:lnTo>
                  <a:lnTo>
                    <a:pt x="1944025" y="750679"/>
                  </a:lnTo>
                  <a:lnTo>
                    <a:pt x="1944025" y="54000"/>
                  </a:lnTo>
                  <a:lnTo>
                    <a:pt x="1939781" y="32980"/>
                  </a:lnTo>
                  <a:lnTo>
                    <a:pt x="1928209" y="15816"/>
                  </a:lnTo>
                  <a:lnTo>
                    <a:pt x="1911044" y="4243"/>
                  </a:lnTo>
                  <a:lnTo>
                    <a:pt x="1890025" y="0"/>
                  </a:lnTo>
                  <a:close/>
                </a:path>
              </a:pathLst>
            </a:custGeom>
            <a:solidFill>
              <a:srgbClr val="1B4681"/>
            </a:solidFill>
          </p:spPr>
          <p:txBody>
            <a:bodyPr wrap="square" lIns="0" tIns="0" rIns="0" bIns="0" rtlCol="0"/>
            <a:lstStyle/>
            <a:p>
              <a:endParaRPr/>
            </a:p>
          </p:txBody>
        </p:sp>
        <p:sp>
          <p:nvSpPr>
            <p:cNvPr id="17" name="object 17"/>
            <p:cNvSpPr/>
            <p:nvPr/>
          </p:nvSpPr>
          <p:spPr>
            <a:xfrm>
              <a:off x="2423998" y="548194"/>
              <a:ext cx="1944370" cy="594995"/>
            </a:xfrm>
            <a:custGeom>
              <a:avLst/>
              <a:gdLst/>
              <a:ahLst/>
              <a:cxnLst/>
              <a:rect l="l" t="t" r="r" b="b"/>
              <a:pathLst>
                <a:path w="1944370" h="594994">
                  <a:moveTo>
                    <a:pt x="1944025" y="0"/>
                  </a:moveTo>
                  <a:lnTo>
                    <a:pt x="0" y="0"/>
                  </a:lnTo>
                  <a:lnTo>
                    <a:pt x="0" y="540487"/>
                  </a:lnTo>
                  <a:lnTo>
                    <a:pt x="4243" y="561507"/>
                  </a:lnTo>
                  <a:lnTo>
                    <a:pt x="15816" y="578672"/>
                  </a:lnTo>
                  <a:lnTo>
                    <a:pt x="32980" y="590244"/>
                  </a:lnTo>
                  <a:lnTo>
                    <a:pt x="54000" y="594488"/>
                  </a:lnTo>
                  <a:lnTo>
                    <a:pt x="1890025" y="594488"/>
                  </a:lnTo>
                  <a:lnTo>
                    <a:pt x="1911044" y="590244"/>
                  </a:lnTo>
                  <a:lnTo>
                    <a:pt x="1928209" y="578672"/>
                  </a:lnTo>
                  <a:lnTo>
                    <a:pt x="1939781" y="561507"/>
                  </a:lnTo>
                  <a:lnTo>
                    <a:pt x="1944025" y="540487"/>
                  </a:lnTo>
                  <a:lnTo>
                    <a:pt x="1944025" y="0"/>
                  </a:lnTo>
                  <a:close/>
                </a:path>
              </a:pathLst>
            </a:custGeom>
            <a:solidFill>
              <a:srgbClr val="E8ECF2"/>
            </a:solidFill>
          </p:spPr>
          <p:txBody>
            <a:bodyPr wrap="square" lIns="0" tIns="0" rIns="0" bIns="0" rtlCol="0"/>
            <a:lstStyle/>
            <a:p>
              <a:endParaRPr/>
            </a:p>
          </p:txBody>
        </p:sp>
      </p:grpSp>
      <p:sp>
        <p:nvSpPr>
          <p:cNvPr id="18" name="object 18"/>
          <p:cNvSpPr txBox="1"/>
          <p:nvPr/>
        </p:nvSpPr>
        <p:spPr>
          <a:xfrm>
            <a:off x="2472601" y="232321"/>
            <a:ext cx="1847214" cy="876300"/>
          </a:xfrm>
          <a:prstGeom prst="rect">
            <a:avLst/>
          </a:prstGeom>
        </p:spPr>
        <p:txBody>
          <a:bodyPr vert="horz" wrap="square" lIns="0" tIns="94615" rIns="0" bIns="0" rtlCol="0">
            <a:spAutoFit/>
          </a:bodyPr>
          <a:lstStyle/>
          <a:p>
            <a:pPr marL="12700">
              <a:lnSpc>
                <a:spcPct val="100000"/>
              </a:lnSpc>
              <a:spcBef>
                <a:spcPts val="745"/>
              </a:spcBef>
            </a:pPr>
            <a:r>
              <a:rPr sz="1200" dirty="0">
                <a:solidFill>
                  <a:srgbClr val="FFFFFF"/>
                </a:solidFill>
                <a:latin typeface="Times New Roman"/>
                <a:cs typeface="Times New Roman"/>
              </a:rPr>
              <a:t>Python</a:t>
            </a:r>
            <a:r>
              <a:rPr sz="1200" spc="-30" dirty="0">
                <a:solidFill>
                  <a:srgbClr val="FFFFFF"/>
                </a:solidFill>
                <a:latin typeface="Times New Roman"/>
                <a:cs typeface="Times New Roman"/>
              </a:rPr>
              <a:t> </a:t>
            </a:r>
            <a:r>
              <a:rPr sz="1200" dirty="0">
                <a:solidFill>
                  <a:srgbClr val="FFFFFF"/>
                </a:solidFill>
                <a:latin typeface="Times New Roman"/>
                <a:cs typeface="Times New Roman"/>
              </a:rPr>
              <a:t>/</a:t>
            </a:r>
            <a:r>
              <a:rPr sz="1200" spc="-25" dirty="0">
                <a:solidFill>
                  <a:srgbClr val="FFFFFF"/>
                </a:solidFill>
                <a:latin typeface="Times New Roman"/>
                <a:cs typeface="Times New Roman"/>
              </a:rPr>
              <a:t> C#</a:t>
            </a:r>
            <a:endParaRPr sz="1200">
              <a:latin typeface="Times New Roman"/>
              <a:cs typeface="Times New Roman"/>
            </a:endParaRPr>
          </a:p>
          <a:p>
            <a:pPr marL="12700">
              <a:lnSpc>
                <a:spcPct val="100000"/>
              </a:lnSpc>
              <a:spcBef>
                <a:spcPts val="580"/>
              </a:spcBef>
            </a:pPr>
            <a:r>
              <a:rPr sz="1100" spc="-110" dirty="0">
                <a:latin typeface="SimSun"/>
                <a:cs typeface="SimSun"/>
              </a:rPr>
              <a:t>高层 </a:t>
            </a:r>
            <a:r>
              <a:rPr sz="1100" b="1" dirty="0">
                <a:latin typeface="Times New Roman"/>
                <a:cs typeface="Times New Roman"/>
              </a:rPr>
              <a:t>async/await</a:t>
            </a:r>
            <a:r>
              <a:rPr sz="1100" b="1" spc="-35" dirty="0">
                <a:latin typeface="Times New Roman"/>
                <a:cs typeface="Times New Roman"/>
              </a:rPr>
              <a:t> </a:t>
            </a:r>
            <a:r>
              <a:rPr sz="1100" spc="-35" dirty="0">
                <a:latin typeface="SimSun"/>
                <a:cs typeface="SimSun"/>
              </a:rPr>
              <a:t>体验</a:t>
            </a:r>
            <a:endParaRPr sz="1100">
              <a:latin typeface="SimSun"/>
              <a:cs typeface="SimSun"/>
            </a:endParaRPr>
          </a:p>
          <a:p>
            <a:pPr marL="12700" marR="5080">
              <a:lnSpc>
                <a:spcPct val="102600"/>
              </a:lnSpc>
              <a:spcBef>
                <a:spcPts val="5"/>
              </a:spcBef>
            </a:pPr>
            <a:r>
              <a:rPr sz="1100" spc="-20" dirty="0">
                <a:latin typeface="SimSun"/>
                <a:cs typeface="SimSun"/>
              </a:rPr>
              <a:t>强调顺序式书写异步逻辑，适</a:t>
            </a:r>
            <a:r>
              <a:rPr sz="1100" spc="30" dirty="0">
                <a:latin typeface="SimSun"/>
                <a:cs typeface="SimSun"/>
              </a:rPr>
              <a:t>合快速组织</a:t>
            </a:r>
            <a:r>
              <a:rPr sz="1100" spc="-10" dirty="0">
                <a:latin typeface="Times New Roman"/>
                <a:cs typeface="Times New Roman"/>
              </a:rPr>
              <a:t>I/O-</a:t>
            </a:r>
            <a:r>
              <a:rPr sz="1100" dirty="0">
                <a:latin typeface="Times New Roman"/>
                <a:cs typeface="Times New Roman"/>
              </a:rPr>
              <a:t>bound</a:t>
            </a:r>
            <a:r>
              <a:rPr sz="1100" spc="45" dirty="0">
                <a:latin typeface="Times New Roman"/>
                <a:cs typeface="Times New Roman"/>
              </a:rPr>
              <a:t> </a:t>
            </a:r>
            <a:r>
              <a:rPr sz="1100" spc="-35" dirty="0">
                <a:latin typeface="SimSun"/>
                <a:cs typeface="SimSun"/>
              </a:rPr>
              <a:t>程序。</a:t>
            </a:r>
            <a:endParaRPr sz="1100">
              <a:latin typeface="SimSun"/>
              <a:cs typeface="SimSun"/>
            </a:endParaRPr>
          </a:p>
        </p:txBody>
      </p:sp>
      <p:grpSp>
        <p:nvGrpSpPr>
          <p:cNvPr id="19" name="object 19"/>
          <p:cNvGrpSpPr/>
          <p:nvPr/>
        </p:nvGrpSpPr>
        <p:grpSpPr>
          <a:xfrm>
            <a:off x="2423998" y="1366970"/>
            <a:ext cx="1944370" cy="944244"/>
            <a:chOff x="2423998" y="1366970"/>
            <a:chExt cx="1944370" cy="944244"/>
          </a:xfrm>
        </p:grpSpPr>
        <p:sp>
          <p:nvSpPr>
            <p:cNvPr id="20" name="object 20"/>
            <p:cNvSpPr/>
            <p:nvPr/>
          </p:nvSpPr>
          <p:spPr>
            <a:xfrm>
              <a:off x="2477998" y="1433623"/>
              <a:ext cx="1836420" cy="836294"/>
            </a:xfrm>
            <a:custGeom>
              <a:avLst/>
              <a:gdLst/>
              <a:ahLst/>
              <a:cxnLst/>
              <a:rect l="l" t="t" r="r" b="b"/>
              <a:pathLst>
                <a:path w="1836420" h="836294">
                  <a:moveTo>
                    <a:pt x="1836024" y="0"/>
                  </a:moveTo>
                  <a:lnTo>
                    <a:pt x="0" y="0"/>
                  </a:lnTo>
                  <a:lnTo>
                    <a:pt x="0" y="836009"/>
                  </a:lnTo>
                  <a:lnTo>
                    <a:pt x="1836024" y="836009"/>
                  </a:lnTo>
                  <a:lnTo>
                    <a:pt x="1836024" y="0"/>
                  </a:lnTo>
                  <a:close/>
                </a:path>
              </a:pathLst>
            </a:custGeom>
            <a:solidFill>
              <a:srgbClr val="B2B2B2"/>
            </a:solidFill>
          </p:spPr>
          <p:txBody>
            <a:bodyPr wrap="square" lIns="0" tIns="0" rIns="0" bIns="0" rtlCol="0"/>
            <a:lstStyle/>
            <a:p>
              <a:endParaRPr/>
            </a:p>
          </p:txBody>
        </p:sp>
        <p:sp>
          <p:nvSpPr>
            <p:cNvPr id="21" name="object 21"/>
            <p:cNvSpPr/>
            <p:nvPr/>
          </p:nvSpPr>
          <p:spPr>
            <a:xfrm>
              <a:off x="2423998" y="1366970"/>
              <a:ext cx="1944370" cy="944244"/>
            </a:xfrm>
            <a:custGeom>
              <a:avLst/>
              <a:gdLst/>
              <a:ahLst/>
              <a:cxnLst/>
              <a:rect l="l" t="t" r="r" b="b"/>
              <a:pathLst>
                <a:path w="1944370" h="944244">
                  <a:moveTo>
                    <a:pt x="1890025" y="0"/>
                  </a:moveTo>
                  <a:lnTo>
                    <a:pt x="54000" y="0"/>
                  </a:lnTo>
                  <a:lnTo>
                    <a:pt x="32980" y="4243"/>
                  </a:lnTo>
                  <a:lnTo>
                    <a:pt x="15816" y="15816"/>
                  </a:lnTo>
                  <a:lnTo>
                    <a:pt x="4243" y="32981"/>
                  </a:lnTo>
                  <a:lnTo>
                    <a:pt x="0" y="54000"/>
                  </a:lnTo>
                  <a:lnTo>
                    <a:pt x="0" y="890010"/>
                  </a:lnTo>
                  <a:lnTo>
                    <a:pt x="4243" y="911029"/>
                  </a:lnTo>
                  <a:lnTo>
                    <a:pt x="15816" y="928194"/>
                  </a:lnTo>
                  <a:lnTo>
                    <a:pt x="32980" y="939767"/>
                  </a:lnTo>
                  <a:lnTo>
                    <a:pt x="54000" y="944010"/>
                  </a:lnTo>
                  <a:lnTo>
                    <a:pt x="1890025" y="944010"/>
                  </a:lnTo>
                  <a:lnTo>
                    <a:pt x="1911044" y="939767"/>
                  </a:lnTo>
                  <a:lnTo>
                    <a:pt x="1928209" y="928194"/>
                  </a:lnTo>
                  <a:lnTo>
                    <a:pt x="1939781" y="911029"/>
                  </a:lnTo>
                  <a:lnTo>
                    <a:pt x="1944025" y="890010"/>
                  </a:lnTo>
                  <a:lnTo>
                    <a:pt x="1944025" y="54000"/>
                  </a:lnTo>
                  <a:lnTo>
                    <a:pt x="1939781" y="32981"/>
                  </a:lnTo>
                  <a:lnTo>
                    <a:pt x="1928209" y="15816"/>
                  </a:lnTo>
                  <a:lnTo>
                    <a:pt x="1911044" y="4243"/>
                  </a:lnTo>
                  <a:lnTo>
                    <a:pt x="1890025" y="0"/>
                  </a:lnTo>
                  <a:close/>
                </a:path>
              </a:pathLst>
            </a:custGeom>
            <a:solidFill>
              <a:srgbClr val="1B4681"/>
            </a:solidFill>
          </p:spPr>
          <p:txBody>
            <a:bodyPr wrap="square" lIns="0" tIns="0" rIns="0" bIns="0" rtlCol="0"/>
            <a:lstStyle/>
            <a:p>
              <a:endParaRPr/>
            </a:p>
          </p:txBody>
        </p:sp>
        <p:sp>
          <p:nvSpPr>
            <p:cNvPr id="22" name="object 22"/>
            <p:cNvSpPr/>
            <p:nvPr/>
          </p:nvSpPr>
          <p:spPr>
            <a:xfrm>
              <a:off x="2423998" y="1543874"/>
              <a:ext cx="1944370" cy="767715"/>
            </a:xfrm>
            <a:custGeom>
              <a:avLst/>
              <a:gdLst/>
              <a:ahLst/>
              <a:cxnLst/>
              <a:rect l="l" t="t" r="r" b="b"/>
              <a:pathLst>
                <a:path w="1944370" h="767714">
                  <a:moveTo>
                    <a:pt x="1944025" y="0"/>
                  </a:moveTo>
                  <a:lnTo>
                    <a:pt x="0" y="0"/>
                  </a:lnTo>
                  <a:lnTo>
                    <a:pt x="0" y="713106"/>
                  </a:lnTo>
                  <a:lnTo>
                    <a:pt x="4243" y="734125"/>
                  </a:lnTo>
                  <a:lnTo>
                    <a:pt x="15816" y="751290"/>
                  </a:lnTo>
                  <a:lnTo>
                    <a:pt x="32980" y="762862"/>
                  </a:lnTo>
                  <a:lnTo>
                    <a:pt x="54000" y="767106"/>
                  </a:lnTo>
                  <a:lnTo>
                    <a:pt x="1890025" y="767106"/>
                  </a:lnTo>
                  <a:lnTo>
                    <a:pt x="1911044" y="762862"/>
                  </a:lnTo>
                  <a:lnTo>
                    <a:pt x="1928209" y="751290"/>
                  </a:lnTo>
                  <a:lnTo>
                    <a:pt x="1939781" y="734125"/>
                  </a:lnTo>
                  <a:lnTo>
                    <a:pt x="1944025" y="713106"/>
                  </a:lnTo>
                  <a:lnTo>
                    <a:pt x="1944025" y="0"/>
                  </a:lnTo>
                  <a:close/>
                </a:path>
              </a:pathLst>
            </a:custGeom>
            <a:solidFill>
              <a:srgbClr val="E8ECF2"/>
            </a:solidFill>
          </p:spPr>
          <p:txBody>
            <a:bodyPr wrap="square" lIns="0" tIns="0" rIns="0" bIns="0" rtlCol="0"/>
            <a:lstStyle/>
            <a:p>
              <a:endParaRPr/>
            </a:p>
          </p:txBody>
        </p:sp>
      </p:grpSp>
      <p:sp>
        <p:nvSpPr>
          <p:cNvPr id="23" name="object 23"/>
          <p:cNvSpPr txBox="1"/>
          <p:nvPr/>
        </p:nvSpPr>
        <p:spPr>
          <a:xfrm>
            <a:off x="2472601" y="1292442"/>
            <a:ext cx="1946910" cy="983615"/>
          </a:xfrm>
          <a:prstGeom prst="rect">
            <a:avLst/>
          </a:prstGeom>
        </p:spPr>
        <p:txBody>
          <a:bodyPr vert="horz" wrap="square" lIns="0" tIns="60325" rIns="0" bIns="0" rtlCol="0">
            <a:spAutoFit/>
          </a:bodyPr>
          <a:lstStyle/>
          <a:p>
            <a:pPr marL="12700">
              <a:lnSpc>
                <a:spcPct val="100000"/>
              </a:lnSpc>
              <a:spcBef>
                <a:spcPts val="475"/>
              </a:spcBef>
            </a:pPr>
            <a:r>
              <a:rPr sz="1200" dirty="0">
                <a:solidFill>
                  <a:srgbClr val="FFFFFF"/>
                </a:solidFill>
                <a:latin typeface="Times New Roman"/>
                <a:cs typeface="Times New Roman"/>
              </a:rPr>
              <a:t>Java</a:t>
            </a:r>
            <a:r>
              <a:rPr sz="1200" spc="-30" dirty="0">
                <a:solidFill>
                  <a:srgbClr val="FFFFFF"/>
                </a:solidFill>
                <a:latin typeface="Times New Roman"/>
                <a:cs typeface="Times New Roman"/>
              </a:rPr>
              <a:t> </a:t>
            </a:r>
            <a:r>
              <a:rPr sz="1200" spc="-25" dirty="0">
                <a:solidFill>
                  <a:srgbClr val="FFFFFF"/>
                </a:solidFill>
                <a:latin typeface="Times New Roman"/>
                <a:cs typeface="Times New Roman"/>
              </a:rPr>
              <a:t>21</a:t>
            </a:r>
            <a:endParaRPr sz="1200">
              <a:latin typeface="Times New Roman"/>
              <a:cs typeface="Times New Roman"/>
            </a:endParaRPr>
          </a:p>
          <a:p>
            <a:pPr marL="12700">
              <a:lnSpc>
                <a:spcPct val="100000"/>
              </a:lnSpc>
              <a:spcBef>
                <a:spcPts val="340"/>
              </a:spcBef>
            </a:pPr>
            <a:r>
              <a:rPr sz="1100" spc="-25" dirty="0">
                <a:latin typeface="SimSun"/>
                <a:cs typeface="SimSun"/>
              </a:rPr>
              <a:t>轻量线程路线</a:t>
            </a:r>
            <a:endParaRPr sz="1100">
              <a:latin typeface="SimSun"/>
              <a:cs typeface="SimSun"/>
            </a:endParaRPr>
          </a:p>
          <a:p>
            <a:pPr marL="12700" marR="5080">
              <a:lnSpc>
                <a:spcPct val="102600"/>
              </a:lnSpc>
            </a:pPr>
            <a:r>
              <a:rPr sz="1100" dirty="0">
                <a:latin typeface="Times New Roman"/>
                <a:cs typeface="Times New Roman"/>
              </a:rPr>
              <a:t>virtual thread </a:t>
            </a:r>
            <a:r>
              <a:rPr sz="1100" spc="-15" dirty="0">
                <a:latin typeface="SimSun"/>
                <a:cs typeface="SimSun"/>
              </a:rPr>
              <a:t>保留线程式写法，在高并发等待型负载下提升伸</a:t>
            </a:r>
            <a:r>
              <a:rPr sz="1100" spc="-35" dirty="0">
                <a:latin typeface="SimSun"/>
                <a:cs typeface="SimSun"/>
              </a:rPr>
              <a:t>缩性。</a:t>
            </a:r>
            <a:endParaRPr sz="1100">
              <a:latin typeface="SimSun"/>
              <a:cs typeface="SimSun"/>
            </a:endParaRPr>
          </a:p>
        </p:txBody>
      </p:sp>
      <p:grpSp>
        <p:nvGrpSpPr>
          <p:cNvPr id="24" name="object 24"/>
          <p:cNvGrpSpPr/>
          <p:nvPr/>
        </p:nvGrpSpPr>
        <p:grpSpPr>
          <a:xfrm>
            <a:off x="359994" y="2586837"/>
            <a:ext cx="3888104" cy="649605"/>
            <a:chOff x="359994" y="2586837"/>
            <a:chExt cx="3888104" cy="649605"/>
          </a:xfrm>
        </p:grpSpPr>
        <p:sp>
          <p:nvSpPr>
            <p:cNvPr id="25" name="object 25"/>
            <p:cNvSpPr/>
            <p:nvPr/>
          </p:nvSpPr>
          <p:spPr>
            <a:xfrm>
              <a:off x="413994" y="2653490"/>
              <a:ext cx="3780154" cy="541655"/>
            </a:xfrm>
            <a:custGeom>
              <a:avLst/>
              <a:gdLst/>
              <a:ahLst/>
              <a:cxnLst/>
              <a:rect l="l" t="t" r="r" b="b"/>
              <a:pathLst>
                <a:path w="3780154" h="541655">
                  <a:moveTo>
                    <a:pt x="3780050" y="0"/>
                  </a:moveTo>
                  <a:lnTo>
                    <a:pt x="0" y="0"/>
                  </a:lnTo>
                  <a:lnTo>
                    <a:pt x="0" y="541566"/>
                  </a:lnTo>
                  <a:lnTo>
                    <a:pt x="3780050" y="541566"/>
                  </a:lnTo>
                  <a:lnTo>
                    <a:pt x="3780050" y="0"/>
                  </a:lnTo>
                  <a:close/>
                </a:path>
              </a:pathLst>
            </a:custGeom>
            <a:solidFill>
              <a:srgbClr val="B2B2B2"/>
            </a:solidFill>
          </p:spPr>
          <p:txBody>
            <a:bodyPr wrap="square" lIns="0" tIns="0" rIns="0" bIns="0" rtlCol="0"/>
            <a:lstStyle/>
            <a:p>
              <a:endParaRPr/>
            </a:p>
          </p:txBody>
        </p:sp>
        <p:sp>
          <p:nvSpPr>
            <p:cNvPr id="26" name="object 26"/>
            <p:cNvSpPr/>
            <p:nvPr/>
          </p:nvSpPr>
          <p:spPr>
            <a:xfrm>
              <a:off x="359994" y="2586837"/>
              <a:ext cx="3888104" cy="649605"/>
            </a:xfrm>
            <a:custGeom>
              <a:avLst/>
              <a:gdLst/>
              <a:ahLst/>
              <a:cxnLst/>
              <a:rect l="l" t="t" r="r" b="b"/>
              <a:pathLst>
                <a:path w="3888104" h="649605">
                  <a:moveTo>
                    <a:pt x="3834050" y="0"/>
                  </a:moveTo>
                  <a:lnTo>
                    <a:pt x="54000" y="0"/>
                  </a:lnTo>
                  <a:lnTo>
                    <a:pt x="32980" y="4243"/>
                  </a:lnTo>
                  <a:lnTo>
                    <a:pt x="15816" y="15816"/>
                  </a:lnTo>
                  <a:lnTo>
                    <a:pt x="4243" y="32981"/>
                  </a:lnTo>
                  <a:lnTo>
                    <a:pt x="0" y="54000"/>
                  </a:lnTo>
                  <a:lnTo>
                    <a:pt x="0" y="595567"/>
                  </a:lnTo>
                  <a:lnTo>
                    <a:pt x="4243" y="616586"/>
                  </a:lnTo>
                  <a:lnTo>
                    <a:pt x="15816" y="633751"/>
                  </a:lnTo>
                  <a:lnTo>
                    <a:pt x="32980" y="645323"/>
                  </a:lnTo>
                  <a:lnTo>
                    <a:pt x="54000" y="649567"/>
                  </a:lnTo>
                  <a:lnTo>
                    <a:pt x="3834050" y="649567"/>
                  </a:lnTo>
                  <a:lnTo>
                    <a:pt x="3855070" y="645323"/>
                  </a:lnTo>
                  <a:lnTo>
                    <a:pt x="3872235" y="633751"/>
                  </a:lnTo>
                  <a:lnTo>
                    <a:pt x="3883807" y="616586"/>
                  </a:lnTo>
                  <a:lnTo>
                    <a:pt x="3888051" y="595567"/>
                  </a:lnTo>
                  <a:lnTo>
                    <a:pt x="3888051" y="54000"/>
                  </a:lnTo>
                  <a:lnTo>
                    <a:pt x="3883807" y="32981"/>
                  </a:lnTo>
                  <a:lnTo>
                    <a:pt x="3872235" y="15816"/>
                  </a:lnTo>
                  <a:lnTo>
                    <a:pt x="3855070" y="4243"/>
                  </a:lnTo>
                  <a:lnTo>
                    <a:pt x="3834050" y="0"/>
                  </a:lnTo>
                  <a:close/>
                </a:path>
              </a:pathLst>
            </a:custGeom>
            <a:solidFill>
              <a:srgbClr val="BE581F"/>
            </a:solidFill>
          </p:spPr>
          <p:txBody>
            <a:bodyPr wrap="square" lIns="0" tIns="0" rIns="0" bIns="0" rtlCol="0"/>
            <a:lstStyle/>
            <a:p>
              <a:endParaRPr/>
            </a:p>
          </p:txBody>
        </p:sp>
        <p:sp>
          <p:nvSpPr>
            <p:cNvPr id="27" name="object 27"/>
            <p:cNvSpPr/>
            <p:nvPr/>
          </p:nvSpPr>
          <p:spPr>
            <a:xfrm>
              <a:off x="359994" y="2797621"/>
              <a:ext cx="3888104" cy="438784"/>
            </a:xfrm>
            <a:custGeom>
              <a:avLst/>
              <a:gdLst/>
              <a:ahLst/>
              <a:cxnLst/>
              <a:rect l="l" t="t" r="r" b="b"/>
              <a:pathLst>
                <a:path w="3888104" h="438785">
                  <a:moveTo>
                    <a:pt x="3888051" y="0"/>
                  </a:moveTo>
                  <a:lnTo>
                    <a:pt x="0" y="0"/>
                  </a:lnTo>
                  <a:lnTo>
                    <a:pt x="0" y="384782"/>
                  </a:lnTo>
                  <a:lnTo>
                    <a:pt x="4243" y="405801"/>
                  </a:lnTo>
                  <a:lnTo>
                    <a:pt x="15816" y="422966"/>
                  </a:lnTo>
                  <a:lnTo>
                    <a:pt x="32980" y="434539"/>
                  </a:lnTo>
                  <a:lnTo>
                    <a:pt x="54000" y="438782"/>
                  </a:lnTo>
                  <a:lnTo>
                    <a:pt x="3834050" y="438782"/>
                  </a:lnTo>
                  <a:lnTo>
                    <a:pt x="3855070" y="434539"/>
                  </a:lnTo>
                  <a:lnTo>
                    <a:pt x="3872235" y="422966"/>
                  </a:lnTo>
                  <a:lnTo>
                    <a:pt x="3883807" y="405801"/>
                  </a:lnTo>
                  <a:lnTo>
                    <a:pt x="3888051" y="384782"/>
                  </a:lnTo>
                  <a:lnTo>
                    <a:pt x="3888051" y="0"/>
                  </a:lnTo>
                  <a:close/>
                </a:path>
              </a:pathLst>
            </a:custGeom>
            <a:solidFill>
              <a:srgbClr val="F8EEE8"/>
            </a:solidFill>
          </p:spPr>
          <p:txBody>
            <a:bodyPr wrap="square" lIns="0" tIns="0" rIns="0" bIns="0" rtlCol="0"/>
            <a:lstStyle/>
            <a:p>
              <a:endParaRPr/>
            </a:p>
          </p:txBody>
        </p:sp>
      </p:grpSp>
      <p:sp>
        <p:nvSpPr>
          <p:cNvPr id="28" name="object 28"/>
          <p:cNvSpPr txBox="1"/>
          <p:nvPr/>
        </p:nvSpPr>
        <p:spPr>
          <a:xfrm>
            <a:off x="408597" y="2520593"/>
            <a:ext cx="3790950" cy="665480"/>
          </a:xfrm>
          <a:prstGeom prst="rect">
            <a:avLst/>
          </a:prstGeom>
        </p:spPr>
        <p:txBody>
          <a:bodyPr vert="horz" wrap="square" lIns="0" tIns="74295" rIns="0" bIns="0" rtlCol="0">
            <a:spAutoFit/>
          </a:bodyPr>
          <a:lstStyle/>
          <a:p>
            <a:pPr marL="12700">
              <a:lnSpc>
                <a:spcPct val="100000"/>
              </a:lnSpc>
              <a:spcBef>
                <a:spcPts val="585"/>
              </a:spcBef>
            </a:pPr>
            <a:r>
              <a:rPr sz="1200" spc="-30" dirty="0">
                <a:solidFill>
                  <a:srgbClr val="FFFFFF"/>
                </a:solidFill>
                <a:latin typeface="SimSun"/>
                <a:cs typeface="SimSun"/>
              </a:rPr>
              <a:t>比较结论</a:t>
            </a:r>
            <a:endParaRPr sz="1200">
              <a:latin typeface="SimSun"/>
              <a:cs typeface="SimSun"/>
            </a:endParaRPr>
          </a:p>
          <a:p>
            <a:pPr marL="12700" marR="5080">
              <a:lnSpc>
                <a:spcPct val="102600"/>
              </a:lnSpc>
              <a:spcBef>
                <a:spcPts val="400"/>
              </a:spcBef>
            </a:pPr>
            <a:r>
              <a:rPr sz="1100" dirty="0">
                <a:latin typeface="Times New Roman"/>
                <a:cs typeface="Times New Roman"/>
              </a:rPr>
              <a:t>C++ </a:t>
            </a:r>
            <a:r>
              <a:rPr sz="1100" spc="-5" dirty="0">
                <a:latin typeface="SimSun"/>
                <a:cs typeface="SimSun"/>
              </a:rPr>
              <a:t>更接近底层机制接口，</a:t>
            </a:r>
            <a:r>
              <a:rPr sz="1100" dirty="0">
                <a:latin typeface="Times New Roman"/>
                <a:cs typeface="Times New Roman"/>
              </a:rPr>
              <a:t>Go </a:t>
            </a:r>
            <a:r>
              <a:rPr sz="1100" spc="-140" dirty="0">
                <a:latin typeface="SimSun"/>
                <a:cs typeface="SimSun"/>
              </a:rPr>
              <a:t>与 </a:t>
            </a:r>
            <a:r>
              <a:rPr sz="1100" dirty="0">
                <a:latin typeface="Times New Roman"/>
                <a:cs typeface="Times New Roman"/>
              </a:rPr>
              <a:t>Java </a:t>
            </a:r>
            <a:r>
              <a:rPr sz="1100" spc="-5" dirty="0">
                <a:latin typeface="SimSun"/>
                <a:cs typeface="SimSun"/>
              </a:rPr>
              <a:t>更接近运行时级并发方</a:t>
            </a:r>
            <a:r>
              <a:rPr sz="1100" spc="-10" dirty="0">
                <a:latin typeface="SimSun"/>
                <a:cs typeface="SimSun"/>
              </a:rPr>
              <a:t>案，</a:t>
            </a:r>
            <a:r>
              <a:rPr sz="1100" dirty="0">
                <a:latin typeface="Times New Roman"/>
                <a:cs typeface="Times New Roman"/>
              </a:rPr>
              <a:t>Python</a:t>
            </a:r>
            <a:r>
              <a:rPr sz="1100" spc="15" dirty="0">
                <a:latin typeface="Times New Roman"/>
                <a:cs typeface="Times New Roman"/>
              </a:rPr>
              <a:t> </a:t>
            </a:r>
            <a:r>
              <a:rPr sz="1100" spc="254" dirty="0">
                <a:latin typeface="SimSun"/>
                <a:cs typeface="SimSun"/>
              </a:rPr>
              <a:t>与</a:t>
            </a:r>
            <a:r>
              <a:rPr sz="1100" dirty="0">
                <a:latin typeface="Times New Roman"/>
                <a:cs typeface="Times New Roman"/>
              </a:rPr>
              <a:t>C#</a:t>
            </a:r>
            <a:r>
              <a:rPr sz="1100" spc="15" dirty="0">
                <a:latin typeface="Times New Roman"/>
                <a:cs typeface="Times New Roman"/>
              </a:rPr>
              <a:t> </a:t>
            </a:r>
            <a:r>
              <a:rPr sz="1100" spc="-25" dirty="0">
                <a:latin typeface="SimSun"/>
                <a:cs typeface="SimSun"/>
              </a:rPr>
              <a:t>更侧重高层异步编程抽象。</a:t>
            </a:r>
            <a:endParaRPr sz="1100">
              <a:latin typeface="SimSun"/>
              <a:cs typeface="SimSun"/>
            </a:endParaRPr>
          </a:p>
        </p:txBody>
      </p:sp>
      <p:grpSp>
        <p:nvGrpSpPr>
          <p:cNvPr id="29" name="object 29"/>
          <p:cNvGrpSpPr/>
          <p:nvPr/>
        </p:nvGrpSpPr>
        <p:grpSpPr>
          <a:xfrm>
            <a:off x="0" y="3309520"/>
            <a:ext cx="4608195" cy="146685"/>
            <a:chOff x="0" y="3309520"/>
            <a:chExt cx="4608195" cy="146685"/>
          </a:xfrm>
        </p:grpSpPr>
        <p:sp>
          <p:nvSpPr>
            <p:cNvPr id="30" name="object 30"/>
            <p:cNvSpPr/>
            <p:nvPr/>
          </p:nvSpPr>
          <p:spPr>
            <a:xfrm>
              <a:off x="0" y="3309520"/>
              <a:ext cx="1464945" cy="146685"/>
            </a:xfrm>
            <a:custGeom>
              <a:avLst/>
              <a:gdLst/>
              <a:ahLst/>
              <a:cxnLst/>
              <a:rect l="l" t="t" r="r" b="b"/>
              <a:pathLst>
                <a:path w="1464945" h="146685">
                  <a:moveTo>
                    <a:pt x="1464490" y="146530"/>
                  </a:moveTo>
                  <a:lnTo>
                    <a:pt x="1464490" y="0"/>
                  </a:lnTo>
                  <a:lnTo>
                    <a:pt x="0" y="0"/>
                  </a:lnTo>
                  <a:lnTo>
                    <a:pt x="0" y="146530"/>
                  </a:lnTo>
                  <a:lnTo>
                    <a:pt x="1464490" y="146530"/>
                  </a:lnTo>
                  <a:close/>
                </a:path>
              </a:pathLst>
            </a:custGeom>
            <a:solidFill>
              <a:srgbClr val="4681B4"/>
            </a:solidFill>
          </p:spPr>
          <p:txBody>
            <a:bodyPr wrap="square" lIns="0" tIns="0" rIns="0" bIns="0" rtlCol="0"/>
            <a:lstStyle/>
            <a:p>
              <a:endParaRPr/>
            </a:p>
          </p:txBody>
        </p:sp>
        <p:sp>
          <p:nvSpPr>
            <p:cNvPr id="31" name="object 31"/>
            <p:cNvSpPr/>
            <p:nvPr/>
          </p:nvSpPr>
          <p:spPr>
            <a:xfrm>
              <a:off x="1464490" y="3309520"/>
              <a:ext cx="2672715" cy="146685"/>
            </a:xfrm>
            <a:custGeom>
              <a:avLst/>
              <a:gdLst/>
              <a:ahLst/>
              <a:cxnLst/>
              <a:rect l="l" t="t" r="r" b="b"/>
              <a:pathLst>
                <a:path w="2672715" h="146685">
                  <a:moveTo>
                    <a:pt x="2672682" y="0"/>
                  </a:moveTo>
                  <a:lnTo>
                    <a:pt x="0" y="0"/>
                  </a:lnTo>
                  <a:lnTo>
                    <a:pt x="0" y="146530"/>
                  </a:lnTo>
                  <a:lnTo>
                    <a:pt x="2672682" y="146530"/>
                  </a:lnTo>
                  <a:lnTo>
                    <a:pt x="2672682" y="0"/>
                  </a:lnTo>
                  <a:close/>
                </a:path>
              </a:pathLst>
            </a:custGeom>
            <a:solidFill>
              <a:srgbClr val="1B4681"/>
            </a:solidFill>
          </p:spPr>
          <p:txBody>
            <a:bodyPr wrap="square" lIns="0" tIns="0" rIns="0" bIns="0" rtlCol="0"/>
            <a:lstStyle/>
            <a:p>
              <a:endParaRPr/>
            </a:p>
          </p:txBody>
        </p:sp>
        <p:sp>
          <p:nvSpPr>
            <p:cNvPr id="32" name="object 32"/>
            <p:cNvSpPr/>
            <p:nvPr/>
          </p:nvSpPr>
          <p:spPr>
            <a:xfrm>
              <a:off x="4137103" y="3309520"/>
              <a:ext cx="471170" cy="146685"/>
            </a:xfrm>
            <a:custGeom>
              <a:avLst/>
              <a:gdLst/>
              <a:ahLst/>
              <a:cxnLst/>
              <a:rect l="l" t="t" r="r" b="b"/>
              <a:pathLst>
                <a:path w="471170" h="146685">
                  <a:moveTo>
                    <a:pt x="470836" y="0"/>
                  </a:moveTo>
                  <a:lnTo>
                    <a:pt x="0" y="0"/>
                  </a:lnTo>
                  <a:lnTo>
                    <a:pt x="0" y="146530"/>
                  </a:lnTo>
                  <a:lnTo>
                    <a:pt x="470836" y="146530"/>
                  </a:lnTo>
                  <a:lnTo>
                    <a:pt x="470836" y="0"/>
                  </a:lnTo>
                  <a:close/>
                </a:path>
              </a:pathLst>
            </a:custGeom>
            <a:solidFill>
              <a:srgbClr val="0A2750"/>
            </a:solidFill>
          </p:spPr>
          <p:txBody>
            <a:bodyPr wrap="square" lIns="0" tIns="0" rIns="0" bIns="0" rtlCol="0"/>
            <a:lstStyle/>
            <a:p>
              <a:endParaRPr/>
            </a:p>
          </p:txBody>
        </p:sp>
      </p:grpSp>
      <p:sp>
        <p:nvSpPr>
          <p:cNvPr id="33" name="object 33"/>
          <p:cNvSpPr txBox="1">
            <a:spLocks noGrp="1"/>
          </p:cNvSpPr>
          <p:nvPr>
            <p:ph type="dt" sz="half" idx="6"/>
          </p:nvPr>
        </p:nvSpPr>
        <p:spPr>
          <a:prstGeom prst="rect">
            <a:avLst/>
          </a:prstGeom>
        </p:spPr>
        <p:txBody>
          <a:bodyPr vert="horz" wrap="square" lIns="0" tIns="1270" rIns="0" bIns="0" rtlCol="0">
            <a:spAutoFit/>
          </a:bodyPr>
          <a:lstStyle/>
          <a:p>
            <a:pPr marL="12700">
              <a:lnSpc>
                <a:spcPct val="100000"/>
              </a:lnSpc>
              <a:spcBef>
                <a:spcPts val="10"/>
              </a:spcBef>
            </a:pPr>
            <a:r>
              <a:rPr spc="35" dirty="0"/>
              <a:t>尚文轩 南开大学</a:t>
            </a:r>
          </a:p>
        </p:txBody>
      </p:sp>
      <p:sp>
        <p:nvSpPr>
          <p:cNvPr id="34" name="object 34"/>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spc="-30" dirty="0">
                <a:latin typeface="Times New Roman"/>
                <a:cs typeface="Times New Roman"/>
              </a:rPr>
              <a:t>OT-</a:t>
            </a:r>
            <a:r>
              <a:rPr spc="-20" dirty="0"/>
              <a:t>协程技术调研</a:t>
            </a:r>
          </a:p>
        </p:txBody>
      </p:sp>
      <p:sp>
        <p:nvSpPr>
          <p:cNvPr id="35" name="object 35"/>
          <p:cNvSpPr txBox="1">
            <a:spLocks noGrp="1"/>
          </p:cNvSpPr>
          <p:nvPr>
            <p:ph type="sldNum" sz="quarter" idx="7"/>
          </p:nvPr>
        </p:nvSpPr>
        <p:spPr>
          <a:prstGeom prst="rect">
            <a:avLst/>
          </a:prstGeom>
        </p:spPr>
        <p:txBody>
          <a:bodyPr vert="horz" wrap="square" lIns="0" tIns="3810" rIns="0" bIns="0" rtlCol="0">
            <a:spAutoFit/>
          </a:bodyPr>
          <a:lstStyle/>
          <a:p>
            <a:pPr marL="37465">
              <a:lnSpc>
                <a:spcPct val="100000"/>
              </a:lnSpc>
              <a:spcBef>
                <a:spcPts val="30"/>
              </a:spcBef>
            </a:pPr>
            <a:fld id="{81D60167-4931-47E6-BA6A-407CBD079E47}" type="slidenum">
              <a:rPr spc="-25" dirty="0"/>
              <a:t>9</a:t>
            </a:fld>
            <a:endParaRPr spc="-25" dirty="0"/>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3" name="图片 32">
            <a:extLst>
              <a:ext uri="{FF2B5EF4-FFF2-40B4-BE49-F238E27FC236}">
                <a16:creationId xmlns:a16="http://schemas.microsoft.com/office/drawing/2014/main" id="{E77960FA-AD88-3A49-B5E4-C1E17683329F}"/>
              </a:ext>
            </a:extLst>
          </p:cNvPr>
          <p:cNvPicPr>
            <a:picLocks noChangeAspect="1"/>
          </p:cNvPicPr>
          <p:nvPr/>
        </p:nvPicPr>
        <p:blipFill>
          <a:blip r:embed="rId2"/>
          <a:stretch>
            <a:fillRect/>
          </a:stretch>
        </p:blipFill>
        <p:spPr>
          <a:xfrm>
            <a:off x="0" y="-35433"/>
            <a:ext cx="4610100" cy="286106"/>
          </a:xfrm>
          <a:prstGeom prst="rect">
            <a:avLst/>
          </a:prstGeom>
        </p:spPr>
      </p:pic>
      <p:sp>
        <p:nvSpPr>
          <p:cNvPr id="2" name="object 2" descr="$PPTXTitle"/>
          <p:cNvSpPr txBox="1">
            <a:spLocks noGrp="1"/>
          </p:cNvSpPr>
          <p:nvPr>
            <p:ph type="title"/>
          </p:nvPr>
        </p:nvSpPr>
        <p:spPr>
          <a:xfrm>
            <a:off x="105130" y="42861"/>
            <a:ext cx="1272540" cy="180819"/>
          </a:xfrm>
          <a:prstGeom prst="rect">
            <a:avLst/>
          </a:prstGeom>
        </p:spPr>
        <p:txBody>
          <a:bodyPr vert="horz" wrap="square" lIns="0" tIns="11430" rIns="0" bIns="0" rtlCol="0">
            <a:spAutoFit/>
          </a:bodyPr>
          <a:lstStyle/>
          <a:p>
            <a:pPr marL="12700">
              <a:lnSpc>
                <a:spcPct val="100000"/>
              </a:lnSpc>
              <a:spcBef>
                <a:spcPts val="90"/>
              </a:spcBef>
            </a:pPr>
            <a:r>
              <a:rPr spc="-25" dirty="0">
                <a:solidFill>
                  <a:schemeClr val="bg1"/>
                </a:solidFill>
              </a:rPr>
              <a:t>应用范式与工程边界</a:t>
            </a:r>
          </a:p>
        </p:txBody>
      </p:sp>
      <p:sp>
        <p:nvSpPr>
          <p:cNvPr id="3" name="object 3"/>
          <p:cNvSpPr/>
          <p:nvPr/>
        </p:nvSpPr>
        <p:spPr>
          <a:xfrm>
            <a:off x="0" y="252052"/>
            <a:ext cx="4608195" cy="0"/>
          </a:xfrm>
          <a:custGeom>
            <a:avLst/>
            <a:gdLst/>
            <a:ahLst/>
            <a:cxnLst/>
            <a:rect l="l" t="t" r="r" b="b"/>
            <a:pathLst>
              <a:path w="4608195">
                <a:moveTo>
                  <a:pt x="0" y="0"/>
                </a:moveTo>
                <a:lnTo>
                  <a:pt x="4608060" y="0"/>
                </a:lnTo>
              </a:path>
            </a:pathLst>
          </a:custGeom>
          <a:ln w="12652">
            <a:solidFill>
              <a:srgbClr val="1B4681"/>
            </a:solidFill>
          </a:ln>
        </p:spPr>
        <p:txBody>
          <a:bodyPr wrap="square" lIns="0" tIns="0" rIns="0" bIns="0" rtlCol="0"/>
          <a:lstStyle/>
          <a:p>
            <a:endParaRPr/>
          </a:p>
        </p:txBody>
      </p:sp>
      <p:grpSp>
        <p:nvGrpSpPr>
          <p:cNvPr id="4" name="object 4"/>
          <p:cNvGrpSpPr/>
          <p:nvPr/>
        </p:nvGrpSpPr>
        <p:grpSpPr>
          <a:xfrm>
            <a:off x="240004" y="972582"/>
            <a:ext cx="1944370" cy="1398270"/>
            <a:chOff x="240004" y="972582"/>
            <a:chExt cx="1944370" cy="1398270"/>
          </a:xfrm>
        </p:grpSpPr>
        <p:sp>
          <p:nvSpPr>
            <p:cNvPr id="5" name="object 5"/>
            <p:cNvSpPr/>
            <p:nvPr/>
          </p:nvSpPr>
          <p:spPr>
            <a:xfrm>
              <a:off x="294005" y="1039235"/>
              <a:ext cx="1836420" cy="1290320"/>
            </a:xfrm>
            <a:custGeom>
              <a:avLst/>
              <a:gdLst/>
              <a:ahLst/>
              <a:cxnLst/>
              <a:rect l="l" t="t" r="r" b="b"/>
              <a:pathLst>
                <a:path w="1836420" h="1290320">
                  <a:moveTo>
                    <a:pt x="1836024" y="0"/>
                  </a:moveTo>
                  <a:lnTo>
                    <a:pt x="0" y="0"/>
                  </a:lnTo>
                  <a:lnTo>
                    <a:pt x="0" y="1289960"/>
                  </a:lnTo>
                  <a:lnTo>
                    <a:pt x="1836024" y="1289960"/>
                  </a:lnTo>
                  <a:lnTo>
                    <a:pt x="1836024" y="0"/>
                  </a:lnTo>
                  <a:close/>
                </a:path>
              </a:pathLst>
            </a:custGeom>
            <a:solidFill>
              <a:srgbClr val="B2B2B2"/>
            </a:solidFill>
          </p:spPr>
          <p:txBody>
            <a:bodyPr wrap="square" lIns="0" tIns="0" rIns="0" bIns="0" rtlCol="0"/>
            <a:lstStyle/>
            <a:p>
              <a:endParaRPr/>
            </a:p>
          </p:txBody>
        </p:sp>
        <p:sp>
          <p:nvSpPr>
            <p:cNvPr id="6" name="object 6"/>
            <p:cNvSpPr/>
            <p:nvPr/>
          </p:nvSpPr>
          <p:spPr>
            <a:xfrm>
              <a:off x="240004" y="972582"/>
              <a:ext cx="1944370" cy="1398270"/>
            </a:xfrm>
            <a:custGeom>
              <a:avLst/>
              <a:gdLst/>
              <a:ahLst/>
              <a:cxnLst/>
              <a:rect l="l" t="t" r="r" b="b"/>
              <a:pathLst>
                <a:path w="1944370" h="1398270">
                  <a:moveTo>
                    <a:pt x="1890025" y="0"/>
                  </a:moveTo>
                  <a:lnTo>
                    <a:pt x="54000" y="0"/>
                  </a:lnTo>
                  <a:lnTo>
                    <a:pt x="32980" y="4243"/>
                  </a:lnTo>
                  <a:lnTo>
                    <a:pt x="15816" y="15816"/>
                  </a:lnTo>
                  <a:lnTo>
                    <a:pt x="4243" y="32980"/>
                  </a:lnTo>
                  <a:lnTo>
                    <a:pt x="0" y="54000"/>
                  </a:lnTo>
                  <a:lnTo>
                    <a:pt x="0" y="1343961"/>
                  </a:lnTo>
                  <a:lnTo>
                    <a:pt x="4243" y="1364980"/>
                  </a:lnTo>
                  <a:lnTo>
                    <a:pt x="15816" y="1382145"/>
                  </a:lnTo>
                  <a:lnTo>
                    <a:pt x="32980" y="1393718"/>
                  </a:lnTo>
                  <a:lnTo>
                    <a:pt x="54000" y="1397961"/>
                  </a:lnTo>
                  <a:lnTo>
                    <a:pt x="1890025" y="1397961"/>
                  </a:lnTo>
                  <a:lnTo>
                    <a:pt x="1911044" y="1393718"/>
                  </a:lnTo>
                  <a:lnTo>
                    <a:pt x="1928209" y="1382145"/>
                  </a:lnTo>
                  <a:lnTo>
                    <a:pt x="1939781" y="1364980"/>
                  </a:lnTo>
                  <a:lnTo>
                    <a:pt x="1944025" y="1343961"/>
                  </a:lnTo>
                  <a:lnTo>
                    <a:pt x="1944025" y="54000"/>
                  </a:lnTo>
                  <a:lnTo>
                    <a:pt x="1939781" y="32980"/>
                  </a:lnTo>
                  <a:lnTo>
                    <a:pt x="1928209" y="15816"/>
                  </a:lnTo>
                  <a:lnTo>
                    <a:pt x="1911044" y="4243"/>
                  </a:lnTo>
                  <a:lnTo>
                    <a:pt x="1890025" y="0"/>
                  </a:lnTo>
                  <a:close/>
                </a:path>
              </a:pathLst>
            </a:custGeom>
            <a:solidFill>
              <a:srgbClr val="BE581F"/>
            </a:solidFill>
          </p:spPr>
          <p:txBody>
            <a:bodyPr wrap="square" lIns="0" tIns="0" rIns="0" bIns="0" rtlCol="0"/>
            <a:lstStyle/>
            <a:p>
              <a:endParaRPr/>
            </a:p>
          </p:txBody>
        </p:sp>
        <p:sp>
          <p:nvSpPr>
            <p:cNvPr id="7" name="object 7"/>
            <p:cNvSpPr/>
            <p:nvPr/>
          </p:nvSpPr>
          <p:spPr>
            <a:xfrm>
              <a:off x="240004" y="1183367"/>
              <a:ext cx="1944370" cy="1187450"/>
            </a:xfrm>
            <a:custGeom>
              <a:avLst/>
              <a:gdLst/>
              <a:ahLst/>
              <a:cxnLst/>
              <a:rect l="l" t="t" r="r" b="b"/>
              <a:pathLst>
                <a:path w="1944370" h="1187450">
                  <a:moveTo>
                    <a:pt x="1944025" y="0"/>
                  </a:moveTo>
                  <a:lnTo>
                    <a:pt x="0" y="0"/>
                  </a:lnTo>
                  <a:lnTo>
                    <a:pt x="0" y="1133176"/>
                  </a:lnTo>
                  <a:lnTo>
                    <a:pt x="4243" y="1154196"/>
                  </a:lnTo>
                  <a:lnTo>
                    <a:pt x="15816" y="1171360"/>
                  </a:lnTo>
                  <a:lnTo>
                    <a:pt x="32980" y="1182933"/>
                  </a:lnTo>
                  <a:lnTo>
                    <a:pt x="54000" y="1187176"/>
                  </a:lnTo>
                  <a:lnTo>
                    <a:pt x="1890025" y="1187176"/>
                  </a:lnTo>
                  <a:lnTo>
                    <a:pt x="1911044" y="1182933"/>
                  </a:lnTo>
                  <a:lnTo>
                    <a:pt x="1928209" y="1171360"/>
                  </a:lnTo>
                  <a:lnTo>
                    <a:pt x="1939781" y="1154196"/>
                  </a:lnTo>
                  <a:lnTo>
                    <a:pt x="1944025" y="1133176"/>
                  </a:lnTo>
                  <a:lnTo>
                    <a:pt x="1944025" y="0"/>
                  </a:lnTo>
                  <a:close/>
                </a:path>
              </a:pathLst>
            </a:custGeom>
            <a:solidFill>
              <a:srgbClr val="F8EEE8"/>
            </a:solidFill>
          </p:spPr>
          <p:txBody>
            <a:bodyPr wrap="square" lIns="0" tIns="0" rIns="0" bIns="0" rtlCol="0"/>
            <a:lstStyle/>
            <a:p>
              <a:endParaRPr/>
            </a:p>
          </p:txBody>
        </p:sp>
        <p:sp>
          <p:nvSpPr>
            <p:cNvPr id="8" name="object 8"/>
            <p:cNvSpPr/>
            <p:nvPr/>
          </p:nvSpPr>
          <p:spPr>
            <a:xfrm>
              <a:off x="481288" y="1309366"/>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9" name="object 9"/>
            <p:cNvSpPr/>
            <p:nvPr/>
          </p:nvSpPr>
          <p:spPr>
            <a:xfrm>
              <a:off x="481288" y="1309366"/>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sp>
          <p:nvSpPr>
            <p:cNvPr id="10" name="object 10"/>
            <p:cNvSpPr/>
            <p:nvPr/>
          </p:nvSpPr>
          <p:spPr>
            <a:xfrm>
              <a:off x="481288" y="1691471"/>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1" name="object 11"/>
            <p:cNvSpPr/>
            <p:nvPr/>
          </p:nvSpPr>
          <p:spPr>
            <a:xfrm>
              <a:off x="481288" y="1691471"/>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sp>
          <p:nvSpPr>
            <p:cNvPr id="12" name="object 12"/>
            <p:cNvSpPr/>
            <p:nvPr/>
          </p:nvSpPr>
          <p:spPr>
            <a:xfrm>
              <a:off x="481288" y="2073576"/>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3" name="object 13"/>
            <p:cNvSpPr/>
            <p:nvPr/>
          </p:nvSpPr>
          <p:spPr>
            <a:xfrm>
              <a:off x="481288" y="2073576"/>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sp>
        <p:nvSpPr>
          <p:cNvPr id="14" name="object 14"/>
          <p:cNvSpPr txBox="1"/>
          <p:nvPr/>
        </p:nvSpPr>
        <p:spPr>
          <a:xfrm>
            <a:off x="288607" y="905055"/>
            <a:ext cx="1826895" cy="1430655"/>
          </a:xfrm>
          <a:prstGeom prst="rect">
            <a:avLst/>
          </a:prstGeom>
        </p:spPr>
        <p:txBody>
          <a:bodyPr vert="horz" wrap="square" lIns="0" tIns="74930" rIns="0" bIns="0" rtlCol="0">
            <a:spAutoFit/>
          </a:bodyPr>
          <a:lstStyle/>
          <a:p>
            <a:pPr marL="12700">
              <a:lnSpc>
                <a:spcPct val="100000"/>
              </a:lnSpc>
              <a:spcBef>
                <a:spcPts val="590"/>
              </a:spcBef>
            </a:pPr>
            <a:r>
              <a:rPr sz="1200" spc="-30" dirty="0">
                <a:solidFill>
                  <a:srgbClr val="FFFFFF"/>
                </a:solidFill>
                <a:latin typeface="SimSun"/>
                <a:cs typeface="SimSun"/>
              </a:rPr>
              <a:t>适合协程</a:t>
            </a:r>
            <a:endParaRPr sz="1200">
              <a:latin typeface="SimSun"/>
              <a:cs typeface="SimSun"/>
            </a:endParaRPr>
          </a:p>
          <a:p>
            <a:pPr marL="289560">
              <a:lnSpc>
                <a:spcPct val="100000"/>
              </a:lnSpc>
              <a:spcBef>
                <a:spcPts val="440"/>
              </a:spcBef>
            </a:pPr>
            <a:r>
              <a:rPr sz="1100" spc="-85" dirty="0">
                <a:latin typeface="SimSun"/>
                <a:cs typeface="SimSun"/>
              </a:rPr>
              <a:t>高并发 </a:t>
            </a:r>
            <a:r>
              <a:rPr sz="1100" spc="-10" dirty="0">
                <a:latin typeface="Times New Roman"/>
                <a:cs typeface="Times New Roman"/>
              </a:rPr>
              <a:t>HTTP</a:t>
            </a:r>
            <a:r>
              <a:rPr sz="1100" spc="-15" dirty="0">
                <a:latin typeface="Times New Roman"/>
                <a:cs typeface="Times New Roman"/>
              </a:rPr>
              <a:t> / </a:t>
            </a:r>
            <a:r>
              <a:rPr sz="1100" dirty="0">
                <a:latin typeface="Times New Roman"/>
                <a:cs typeface="Times New Roman"/>
              </a:rPr>
              <a:t>RPC</a:t>
            </a:r>
            <a:r>
              <a:rPr sz="1100" spc="-10" dirty="0">
                <a:latin typeface="Times New Roman"/>
                <a:cs typeface="Times New Roman"/>
              </a:rPr>
              <a:t> / </a:t>
            </a:r>
            <a:r>
              <a:rPr sz="1100" spc="-25" dirty="0">
                <a:latin typeface="Times New Roman"/>
                <a:cs typeface="Times New Roman"/>
              </a:rPr>
              <a:t>DB</a:t>
            </a:r>
            <a:endParaRPr sz="1100">
              <a:latin typeface="Times New Roman"/>
              <a:cs typeface="Times New Roman"/>
            </a:endParaRPr>
          </a:p>
          <a:p>
            <a:pPr marL="289560">
              <a:lnSpc>
                <a:spcPct val="100000"/>
              </a:lnSpc>
              <a:spcBef>
                <a:spcPts val="35"/>
              </a:spcBef>
            </a:pPr>
            <a:r>
              <a:rPr sz="1100" spc="-35" dirty="0">
                <a:latin typeface="SimSun"/>
                <a:cs typeface="SimSun"/>
              </a:rPr>
              <a:t>访问</a:t>
            </a:r>
            <a:endParaRPr sz="1100">
              <a:latin typeface="SimSun"/>
              <a:cs typeface="SimSun"/>
            </a:endParaRPr>
          </a:p>
          <a:p>
            <a:pPr marL="289560" marR="5080">
              <a:lnSpc>
                <a:spcPct val="102600"/>
              </a:lnSpc>
              <a:spcBef>
                <a:spcPts val="300"/>
              </a:spcBef>
            </a:pPr>
            <a:r>
              <a:rPr sz="1100" spc="-25" dirty="0">
                <a:latin typeface="SimSun"/>
                <a:cs typeface="SimSun"/>
              </a:rPr>
              <a:t>爬虫、网关、代理、异步</a:t>
            </a:r>
            <a:r>
              <a:rPr sz="1100" spc="-35" dirty="0">
                <a:latin typeface="SimSun"/>
                <a:cs typeface="SimSun"/>
              </a:rPr>
              <a:t>采集</a:t>
            </a:r>
            <a:endParaRPr sz="1100">
              <a:latin typeface="SimSun"/>
              <a:cs typeface="SimSun"/>
            </a:endParaRPr>
          </a:p>
          <a:p>
            <a:pPr marL="289560" marR="5080">
              <a:lnSpc>
                <a:spcPct val="102600"/>
              </a:lnSpc>
              <a:spcBef>
                <a:spcPts val="300"/>
              </a:spcBef>
            </a:pPr>
            <a:r>
              <a:rPr sz="1100" spc="-25" dirty="0">
                <a:latin typeface="SimSun"/>
                <a:cs typeface="SimSun"/>
              </a:rPr>
              <a:t>请求流水线、连接管理、</a:t>
            </a:r>
            <a:r>
              <a:rPr sz="1100" spc="-30" dirty="0">
                <a:latin typeface="SimSun"/>
                <a:cs typeface="SimSun"/>
              </a:rPr>
              <a:t>任务调度</a:t>
            </a:r>
            <a:endParaRPr sz="1100">
              <a:latin typeface="SimSun"/>
              <a:cs typeface="SimSun"/>
            </a:endParaRPr>
          </a:p>
        </p:txBody>
      </p:sp>
      <p:grpSp>
        <p:nvGrpSpPr>
          <p:cNvPr id="15" name="object 15"/>
          <p:cNvGrpSpPr/>
          <p:nvPr/>
        </p:nvGrpSpPr>
        <p:grpSpPr>
          <a:xfrm>
            <a:off x="2423998" y="972585"/>
            <a:ext cx="1944370" cy="1263650"/>
            <a:chOff x="2423998" y="972585"/>
            <a:chExt cx="1944370" cy="1263650"/>
          </a:xfrm>
        </p:grpSpPr>
        <p:sp>
          <p:nvSpPr>
            <p:cNvPr id="16" name="object 16"/>
            <p:cNvSpPr/>
            <p:nvPr/>
          </p:nvSpPr>
          <p:spPr>
            <a:xfrm>
              <a:off x="2477998" y="1039238"/>
              <a:ext cx="1836420" cy="1155700"/>
            </a:xfrm>
            <a:custGeom>
              <a:avLst/>
              <a:gdLst/>
              <a:ahLst/>
              <a:cxnLst/>
              <a:rect l="l" t="t" r="r" b="b"/>
              <a:pathLst>
                <a:path w="1836420" h="1155700">
                  <a:moveTo>
                    <a:pt x="1836024" y="0"/>
                  </a:moveTo>
                  <a:lnTo>
                    <a:pt x="0" y="0"/>
                  </a:lnTo>
                  <a:lnTo>
                    <a:pt x="0" y="1155248"/>
                  </a:lnTo>
                  <a:lnTo>
                    <a:pt x="1836024" y="1155248"/>
                  </a:lnTo>
                  <a:lnTo>
                    <a:pt x="1836024" y="0"/>
                  </a:lnTo>
                  <a:close/>
                </a:path>
              </a:pathLst>
            </a:custGeom>
            <a:solidFill>
              <a:srgbClr val="B2B2B2"/>
            </a:solidFill>
          </p:spPr>
          <p:txBody>
            <a:bodyPr wrap="square" lIns="0" tIns="0" rIns="0" bIns="0" rtlCol="0"/>
            <a:lstStyle/>
            <a:p>
              <a:endParaRPr/>
            </a:p>
          </p:txBody>
        </p:sp>
        <p:sp>
          <p:nvSpPr>
            <p:cNvPr id="17" name="object 17"/>
            <p:cNvSpPr/>
            <p:nvPr/>
          </p:nvSpPr>
          <p:spPr>
            <a:xfrm>
              <a:off x="2423998" y="972585"/>
              <a:ext cx="1944370" cy="1263650"/>
            </a:xfrm>
            <a:custGeom>
              <a:avLst/>
              <a:gdLst/>
              <a:ahLst/>
              <a:cxnLst/>
              <a:rect l="l" t="t" r="r" b="b"/>
              <a:pathLst>
                <a:path w="1944370" h="1263650">
                  <a:moveTo>
                    <a:pt x="1890025" y="0"/>
                  </a:moveTo>
                  <a:lnTo>
                    <a:pt x="54000" y="0"/>
                  </a:lnTo>
                  <a:lnTo>
                    <a:pt x="32980" y="4243"/>
                  </a:lnTo>
                  <a:lnTo>
                    <a:pt x="15816" y="15816"/>
                  </a:lnTo>
                  <a:lnTo>
                    <a:pt x="4243" y="32980"/>
                  </a:lnTo>
                  <a:lnTo>
                    <a:pt x="0" y="54000"/>
                  </a:lnTo>
                  <a:lnTo>
                    <a:pt x="0" y="1209249"/>
                  </a:lnTo>
                  <a:lnTo>
                    <a:pt x="4243" y="1230268"/>
                  </a:lnTo>
                  <a:lnTo>
                    <a:pt x="15816" y="1247433"/>
                  </a:lnTo>
                  <a:lnTo>
                    <a:pt x="32980" y="1259006"/>
                  </a:lnTo>
                  <a:lnTo>
                    <a:pt x="54000" y="1263249"/>
                  </a:lnTo>
                  <a:lnTo>
                    <a:pt x="1890025" y="1263249"/>
                  </a:lnTo>
                  <a:lnTo>
                    <a:pt x="1911044" y="1259006"/>
                  </a:lnTo>
                  <a:lnTo>
                    <a:pt x="1928209" y="1247433"/>
                  </a:lnTo>
                  <a:lnTo>
                    <a:pt x="1939781" y="1230268"/>
                  </a:lnTo>
                  <a:lnTo>
                    <a:pt x="1944025" y="1209249"/>
                  </a:lnTo>
                  <a:lnTo>
                    <a:pt x="1944025" y="54000"/>
                  </a:lnTo>
                  <a:lnTo>
                    <a:pt x="1939781" y="32980"/>
                  </a:lnTo>
                  <a:lnTo>
                    <a:pt x="1928209" y="15816"/>
                  </a:lnTo>
                  <a:lnTo>
                    <a:pt x="1911044" y="4243"/>
                  </a:lnTo>
                  <a:lnTo>
                    <a:pt x="1890025" y="0"/>
                  </a:lnTo>
                  <a:close/>
                </a:path>
              </a:pathLst>
            </a:custGeom>
            <a:solidFill>
              <a:srgbClr val="96321E"/>
            </a:solidFill>
          </p:spPr>
          <p:txBody>
            <a:bodyPr wrap="square" lIns="0" tIns="0" rIns="0" bIns="0" rtlCol="0"/>
            <a:lstStyle/>
            <a:p>
              <a:endParaRPr/>
            </a:p>
          </p:txBody>
        </p:sp>
        <p:sp>
          <p:nvSpPr>
            <p:cNvPr id="18" name="object 18"/>
            <p:cNvSpPr/>
            <p:nvPr/>
          </p:nvSpPr>
          <p:spPr>
            <a:xfrm>
              <a:off x="2423998" y="1182777"/>
              <a:ext cx="1944370" cy="1053465"/>
            </a:xfrm>
            <a:custGeom>
              <a:avLst/>
              <a:gdLst/>
              <a:ahLst/>
              <a:cxnLst/>
              <a:rect l="l" t="t" r="r" b="b"/>
              <a:pathLst>
                <a:path w="1944370" h="1053464">
                  <a:moveTo>
                    <a:pt x="1944025" y="0"/>
                  </a:moveTo>
                  <a:lnTo>
                    <a:pt x="0" y="0"/>
                  </a:lnTo>
                  <a:lnTo>
                    <a:pt x="0" y="999057"/>
                  </a:lnTo>
                  <a:lnTo>
                    <a:pt x="4243" y="1020077"/>
                  </a:lnTo>
                  <a:lnTo>
                    <a:pt x="15816" y="1037241"/>
                  </a:lnTo>
                  <a:lnTo>
                    <a:pt x="32980" y="1048814"/>
                  </a:lnTo>
                  <a:lnTo>
                    <a:pt x="54000" y="1053057"/>
                  </a:lnTo>
                  <a:lnTo>
                    <a:pt x="1890025" y="1053057"/>
                  </a:lnTo>
                  <a:lnTo>
                    <a:pt x="1911044" y="1048814"/>
                  </a:lnTo>
                  <a:lnTo>
                    <a:pt x="1928209" y="1037241"/>
                  </a:lnTo>
                  <a:lnTo>
                    <a:pt x="1939781" y="1020077"/>
                  </a:lnTo>
                  <a:lnTo>
                    <a:pt x="1944025" y="999057"/>
                  </a:lnTo>
                  <a:lnTo>
                    <a:pt x="1944025" y="0"/>
                  </a:lnTo>
                  <a:close/>
                </a:path>
              </a:pathLst>
            </a:custGeom>
            <a:solidFill>
              <a:srgbClr val="F4EAE8"/>
            </a:solidFill>
          </p:spPr>
          <p:txBody>
            <a:bodyPr wrap="square" lIns="0" tIns="0" rIns="0" bIns="0" rtlCol="0"/>
            <a:lstStyle/>
            <a:p>
              <a:endParaRPr/>
            </a:p>
          </p:txBody>
        </p:sp>
        <p:sp>
          <p:nvSpPr>
            <p:cNvPr id="19" name="object 19"/>
            <p:cNvSpPr/>
            <p:nvPr/>
          </p:nvSpPr>
          <p:spPr>
            <a:xfrm>
              <a:off x="2665281" y="1308769"/>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20" name="object 20"/>
            <p:cNvSpPr/>
            <p:nvPr/>
          </p:nvSpPr>
          <p:spPr>
            <a:xfrm>
              <a:off x="2665281" y="1308769"/>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sp>
          <p:nvSpPr>
            <p:cNvPr id="21" name="object 21"/>
            <p:cNvSpPr/>
            <p:nvPr/>
          </p:nvSpPr>
          <p:spPr>
            <a:xfrm>
              <a:off x="2665281" y="1518802"/>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22" name="object 22"/>
            <p:cNvSpPr/>
            <p:nvPr/>
          </p:nvSpPr>
          <p:spPr>
            <a:xfrm>
              <a:off x="2665281" y="1518802"/>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sp>
          <p:nvSpPr>
            <p:cNvPr id="23" name="object 23"/>
            <p:cNvSpPr/>
            <p:nvPr/>
          </p:nvSpPr>
          <p:spPr>
            <a:xfrm>
              <a:off x="2665281" y="1728834"/>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24" name="object 24"/>
            <p:cNvSpPr/>
            <p:nvPr/>
          </p:nvSpPr>
          <p:spPr>
            <a:xfrm>
              <a:off x="2665281" y="1728834"/>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sp>
        <p:nvSpPr>
          <p:cNvPr id="25" name="object 25"/>
          <p:cNvSpPr txBox="1">
            <a:spLocks noGrp="1"/>
          </p:cNvSpPr>
          <p:nvPr>
            <p:ph type="body" idx="1"/>
          </p:nvPr>
        </p:nvSpPr>
        <p:spPr>
          <a:prstGeom prst="rect">
            <a:avLst/>
          </a:prstGeom>
        </p:spPr>
        <p:txBody>
          <a:bodyPr vert="horz" wrap="square" lIns="0" tIns="75565" rIns="0" bIns="0" rtlCol="0">
            <a:spAutoFit/>
          </a:bodyPr>
          <a:lstStyle/>
          <a:p>
            <a:pPr marL="12700">
              <a:lnSpc>
                <a:spcPct val="100000"/>
              </a:lnSpc>
              <a:spcBef>
                <a:spcPts val="595"/>
              </a:spcBef>
            </a:pPr>
            <a:r>
              <a:rPr spc="-30" dirty="0"/>
              <a:t>不适用场景</a:t>
            </a:r>
          </a:p>
          <a:p>
            <a:pPr marL="289560">
              <a:lnSpc>
                <a:spcPct val="100000"/>
              </a:lnSpc>
              <a:spcBef>
                <a:spcPts val="445"/>
              </a:spcBef>
            </a:pPr>
            <a:r>
              <a:rPr sz="1100" spc="-25" dirty="0">
                <a:solidFill>
                  <a:srgbClr val="000000"/>
                </a:solidFill>
              </a:rPr>
              <a:t>矩阵运算、图像卷积</a:t>
            </a:r>
            <a:endParaRPr sz="1100"/>
          </a:p>
          <a:p>
            <a:pPr marL="289560" marR="114300">
              <a:lnSpc>
                <a:spcPct val="125299"/>
              </a:lnSpc>
            </a:pPr>
            <a:r>
              <a:rPr sz="1100" spc="-25" dirty="0">
                <a:solidFill>
                  <a:srgbClr val="000000"/>
                </a:solidFill>
              </a:rPr>
              <a:t>深度学习推理中的重计算</a:t>
            </a:r>
            <a:r>
              <a:rPr sz="1100" spc="-150" dirty="0">
                <a:solidFill>
                  <a:srgbClr val="000000"/>
                </a:solidFill>
              </a:rPr>
              <a:t>纯 </a:t>
            </a:r>
            <a:r>
              <a:rPr sz="1100" dirty="0">
                <a:solidFill>
                  <a:srgbClr val="000000"/>
                </a:solidFill>
                <a:latin typeface="Times New Roman"/>
                <a:cs typeface="Times New Roman"/>
              </a:rPr>
              <a:t>CPU</a:t>
            </a:r>
            <a:r>
              <a:rPr sz="1100" spc="-40" dirty="0">
                <a:solidFill>
                  <a:srgbClr val="000000"/>
                </a:solidFill>
                <a:latin typeface="Times New Roman"/>
                <a:cs typeface="Times New Roman"/>
              </a:rPr>
              <a:t> </a:t>
            </a:r>
            <a:r>
              <a:rPr sz="1100" spc="-35" dirty="0">
                <a:solidFill>
                  <a:srgbClr val="000000"/>
                </a:solidFill>
              </a:rPr>
              <a:t>循环</a:t>
            </a:r>
            <a:endParaRPr sz="1100">
              <a:latin typeface="Times New Roman"/>
              <a:cs typeface="Times New Roman"/>
            </a:endParaRPr>
          </a:p>
          <a:p>
            <a:pPr marL="12700">
              <a:lnSpc>
                <a:spcPct val="100000"/>
              </a:lnSpc>
              <a:spcBef>
                <a:spcPts val="335"/>
              </a:spcBef>
            </a:pPr>
            <a:r>
              <a:rPr sz="1100" spc="-10" dirty="0">
                <a:solidFill>
                  <a:srgbClr val="000000"/>
                </a:solidFill>
              </a:rPr>
              <a:t>此时更该考虑多线程、</a:t>
            </a:r>
            <a:r>
              <a:rPr sz="1100" spc="-20" dirty="0">
                <a:solidFill>
                  <a:srgbClr val="000000"/>
                </a:solidFill>
                <a:latin typeface="Times New Roman"/>
                <a:cs typeface="Times New Roman"/>
              </a:rPr>
              <a:t>SIMD</a:t>
            </a:r>
            <a:r>
              <a:rPr sz="1100" spc="-50" dirty="0">
                <a:solidFill>
                  <a:srgbClr val="000000"/>
                </a:solidFill>
              </a:rPr>
              <a:t>、</a:t>
            </a:r>
            <a:endParaRPr sz="1100">
              <a:latin typeface="Times New Roman"/>
              <a:cs typeface="Times New Roman"/>
            </a:endParaRPr>
          </a:p>
          <a:p>
            <a:pPr marL="12700">
              <a:lnSpc>
                <a:spcPct val="100000"/>
              </a:lnSpc>
              <a:spcBef>
                <a:spcPts val="35"/>
              </a:spcBef>
            </a:pPr>
            <a:r>
              <a:rPr sz="1100" dirty="0">
                <a:solidFill>
                  <a:srgbClr val="000000"/>
                </a:solidFill>
                <a:latin typeface="Times New Roman"/>
                <a:cs typeface="Times New Roman"/>
              </a:rPr>
              <a:t>GPU</a:t>
            </a:r>
            <a:r>
              <a:rPr sz="1100" spc="-25" dirty="0">
                <a:solidFill>
                  <a:srgbClr val="000000"/>
                </a:solidFill>
                <a:latin typeface="Times New Roman"/>
                <a:cs typeface="Times New Roman"/>
              </a:rPr>
              <a:t> </a:t>
            </a:r>
            <a:r>
              <a:rPr sz="1100" spc="-30" dirty="0">
                <a:solidFill>
                  <a:srgbClr val="000000"/>
                </a:solidFill>
              </a:rPr>
              <a:t>或专用库。</a:t>
            </a:r>
            <a:endParaRPr sz="1100">
              <a:latin typeface="Times New Roman"/>
              <a:cs typeface="Times New Roman"/>
            </a:endParaRPr>
          </a:p>
        </p:txBody>
      </p:sp>
      <p:grpSp>
        <p:nvGrpSpPr>
          <p:cNvPr id="26" name="object 26"/>
          <p:cNvGrpSpPr/>
          <p:nvPr/>
        </p:nvGrpSpPr>
        <p:grpSpPr>
          <a:xfrm>
            <a:off x="0" y="3309520"/>
            <a:ext cx="4608195" cy="146685"/>
            <a:chOff x="0" y="3309520"/>
            <a:chExt cx="4608195" cy="146685"/>
          </a:xfrm>
        </p:grpSpPr>
        <p:sp>
          <p:nvSpPr>
            <p:cNvPr id="27" name="object 27"/>
            <p:cNvSpPr/>
            <p:nvPr/>
          </p:nvSpPr>
          <p:spPr>
            <a:xfrm>
              <a:off x="0" y="3309520"/>
              <a:ext cx="1464945" cy="146685"/>
            </a:xfrm>
            <a:custGeom>
              <a:avLst/>
              <a:gdLst/>
              <a:ahLst/>
              <a:cxnLst/>
              <a:rect l="l" t="t" r="r" b="b"/>
              <a:pathLst>
                <a:path w="1464945" h="146685">
                  <a:moveTo>
                    <a:pt x="1464490" y="146530"/>
                  </a:moveTo>
                  <a:lnTo>
                    <a:pt x="1464490" y="0"/>
                  </a:lnTo>
                  <a:lnTo>
                    <a:pt x="0" y="0"/>
                  </a:lnTo>
                  <a:lnTo>
                    <a:pt x="0" y="146530"/>
                  </a:lnTo>
                  <a:lnTo>
                    <a:pt x="1464490" y="146530"/>
                  </a:lnTo>
                  <a:close/>
                </a:path>
              </a:pathLst>
            </a:custGeom>
            <a:solidFill>
              <a:srgbClr val="4681B4"/>
            </a:solidFill>
          </p:spPr>
          <p:txBody>
            <a:bodyPr wrap="square" lIns="0" tIns="0" rIns="0" bIns="0" rtlCol="0"/>
            <a:lstStyle/>
            <a:p>
              <a:endParaRPr/>
            </a:p>
          </p:txBody>
        </p:sp>
        <p:sp>
          <p:nvSpPr>
            <p:cNvPr id="28" name="object 28"/>
            <p:cNvSpPr/>
            <p:nvPr/>
          </p:nvSpPr>
          <p:spPr>
            <a:xfrm>
              <a:off x="1464490" y="3309520"/>
              <a:ext cx="2672715" cy="146685"/>
            </a:xfrm>
            <a:custGeom>
              <a:avLst/>
              <a:gdLst/>
              <a:ahLst/>
              <a:cxnLst/>
              <a:rect l="l" t="t" r="r" b="b"/>
              <a:pathLst>
                <a:path w="2672715" h="146685">
                  <a:moveTo>
                    <a:pt x="2672682" y="0"/>
                  </a:moveTo>
                  <a:lnTo>
                    <a:pt x="0" y="0"/>
                  </a:lnTo>
                  <a:lnTo>
                    <a:pt x="0" y="146530"/>
                  </a:lnTo>
                  <a:lnTo>
                    <a:pt x="2672682" y="146530"/>
                  </a:lnTo>
                  <a:lnTo>
                    <a:pt x="2672682" y="0"/>
                  </a:lnTo>
                  <a:close/>
                </a:path>
              </a:pathLst>
            </a:custGeom>
            <a:solidFill>
              <a:srgbClr val="1B4681"/>
            </a:solidFill>
          </p:spPr>
          <p:txBody>
            <a:bodyPr wrap="square" lIns="0" tIns="0" rIns="0" bIns="0" rtlCol="0"/>
            <a:lstStyle/>
            <a:p>
              <a:endParaRPr/>
            </a:p>
          </p:txBody>
        </p:sp>
        <p:sp>
          <p:nvSpPr>
            <p:cNvPr id="29" name="object 29"/>
            <p:cNvSpPr/>
            <p:nvPr/>
          </p:nvSpPr>
          <p:spPr>
            <a:xfrm>
              <a:off x="4137103" y="3309520"/>
              <a:ext cx="471170" cy="146685"/>
            </a:xfrm>
            <a:custGeom>
              <a:avLst/>
              <a:gdLst/>
              <a:ahLst/>
              <a:cxnLst/>
              <a:rect l="l" t="t" r="r" b="b"/>
              <a:pathLst>
                <a:path w="471170" h="146685">
                  <a:moveTo>
                    <a:pt x="470836" y="0"/>
                  </a:moveTo>
                  <a:lnTo>
                    <a:pt x="0" y="0"/>
                  </a:lnTo>
                  <a:lnTo>
                    <a:pt x="0" y="146530"/>
                  </a:lnTo>
                  <a:lnTo>
                    <a:pt x="470836" y="146530"/>
                  </a:lnTo>
                  <a:lnTo>
                    <a:pt x="470836" y="0"/>
                  </a:lnTo>
                  <a:close/>
                </a:path>
              </a:pathLst>
            </a:custGeom>
            <a:solidFill>
              <a:srgbClr val="0A2750"/>
            </a:solidFill>
          </p:spPr>
          <p:txBody>
            <a:bodyPr wrap="square" lIns="0" tIns="0" rIns="0" bIns="0" rtlCol="0"/>
            <a:lstStyle/>
            <a:p>
              <a:endParaRPr/>
            </a:p>
          </p:txBody>
        </p:sp>
      </p:grpSp>
      <p:sp>
        <p:nvSpPr>
          <p:cNvPr id="30" name="object 30"/>
          <p:cNvSpPr txBox="1">
            <a:spLocks noGrp="1"/>
          </p:cNvSpPr>
          <p:nvPr>
            <p:ph type="dt" sz="half" idx="6"/>
          </p:nvPr>
        </p:nvSpPr>
        <p:spPr>
          <a:prstGeom prst="rect">
            <a:avLst/>
          </a:prstGeom>
        </p:spPr>
        <p:txBody>
          <a:bodyPr vert="horz" wrap="square" lIns="0" tIns="1270" rIns="0" bIns="0" rtlCol="0">
            <a:spAutoFit/>
          </a:bodyPr>
          <a:lstStyle/>
          <a:p>
            <a:pPr marL="12700">
              <a:lnSpc>
                <a:spcPct val="100000"/>
              </a:lnSpc>
              <a:spcBef>
                <a:spcPts val="10"/>
              </a:spcBef>
            </a:pPr>
            <a:r>
              <a:rPr spc="35" dirty="0"/>
              <a:t>尚文轩 南开大学</a:t>
            </a:r>
          </a:p>
        </p:txBody>
      </p:sp>
      <p:sp>
        <p:nvSpPr>
          <p:cNvPr id="31" name="object 31"/>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spc="-30" dirty="0">
                <a:latin typeface="Times New Roman"/>
                <a:cs typeface="Times New Roman"/>
              </a:rPr>
              <a:t>OT-</a:t>
            </a:r>
            <a:r>
              <a:rPr spc="-20" dirty="0"/>
              <a:t>协程技术调研</a:t>
            </a:r>
          </a:p>
        </p:txBody>
      </p:sp>
      <p:sp>
        <p:nvSpPr>
          <p:cNvPr id="32" name="object 32"/>
          <p:cNvSpPr txBox="1">
            <a:spLocks noGrp="1"/>
          </p:cNvSpPr>
          <p:nvPr>
            <p:ph type="sldNum" sz="quarter" idx="7"/>
          </p:nvPr>
        </p:nvSpPr>
        <p:spPr>
          <a:prstGeom prst="rect">
            <a:avLst/>
          </a:prstGeom>
        </p:spPr>
        <p:txBody>
          <a:bodyPr vert="horz" wrap="square" lIns="0" tIns="3810" rIns="0" bIns="0" rtlCol="0">
            <a:spAutoFit/>
          </a:bodyPr>
          <a:lstStyle/>
          <a:p>
            <a:pPr marL="37465">
              <a:lnSpc>
                <a:spcPct val="100000"/>
              </a:lnSpc>
              <a:spcBef>
                <a:spcPts val="30"/>
              </a:spcBef>
            </a:pPr>
            <a:fld id="{81D60167-4931-47E6-BA6A-407CBD079E47}" type="slidenum">
              <a:rPr spc="-25" dirty="0"/>
              <a:t>10</a:t>
            </a:fld>
            <a:endParaRPr spc="-25" dirty="0"/>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9" name="图片 28">
            <a:extLst>
              <a:ext uri="{FF2B5EF4-FFF2-40B4-BE49-F238E27FC236}">
                <a16:creationId xmlns:a16="http://schemas.microsoft.com/office/drawing/2014/main" id="{A35FF3C5-8D2D-0D90-05F7-29EF8E67E0B5}"/>
              </a:ext>
            </a:extLst>
          </p:cNvPr>
          <p:cNvPicPr>
            <a:picLocks noChangeAspect="1"/>
          </p:cNvPicPr>
          <p:nvPr/>
        </p:nvPicPr>
        <p:blipFill>
          <a:blip r:embed="rId2"/>
          <a:stretch>
            <a:fillRect/>
          </a:stretch>
        </p:blipFill>
        <p:spPr>
          <a:xfrm>
            <a:off x="0" y="-19351"/>
            <a:ext cx="4610100" cy="270023"/>
          </a:xfrm>
          <a:prstGeom prst="rect">
            <a:avLst/>
          </a:prstGeom>
        </p:spPr>
      </p:pic>
      <p:sp>
        <p:nvSpPr>
          <p:cNvPr id="2" name="object 2" descr="$PPTXTitle"/>
          <p:cNvSpPr txBox="1">
            <a:spLocks noGrp="1"/>
          </p:cNvSpPr>
          <p:nvPr>
            <p:ph type="title"/>
          </p:nvPr>
        </p:nvSpPr>
        <p:spPr>
          <a:xfrm>
            <a:off x="105130" y="42594"/>
            <a:ext cx="2103755" cy="180819"/>
          </a:xfrm>
          <a:prstGeom prst="rect">
            <a:avLst/>
          </a:prstGeom>
        </p:spPr>
        <p:txBody>
          <a:bodyPr vert="horz" wrap="square" lIns="0" tIns="11430" rIns="0" bIns="0" rtlCol="0">
            <a:spAutoFit/>
          </a:bodyPr>
          <a:lstStyle/>
          <a:p>
            <a:pPr marL="12700">
              <a:lnSpc>
                <a:spcPct val="100000"/>
              </a:lnSpc>
              <a:spcBef>
                <a:spcPts val="90"/>
              </a:spcBef>
            </a:pPr>
            <a:r>
              <a:rPr spc="-25" dirty="0">
                <a:solidFill>
                  <a:schemeClr val="bg1"/>
                </a:solidFill>
              </a:rPr>
              <a:t>实验设计：五组实验回答五个问题</a:t>
            </a:r>
          </a:p>
        </p:txBody>
      </p:sp>
      <p:sp>
        <p:nvSpPr>
          <p:cNvPr id="3" name="object 3"/>
          <p:cNvSpPr/>
          <p:nvPr/>
        </p:nvSpPr>
        <p:spPr>
          <a:xfrm>
            <a:off x="0" y="252052"/>
            <a:ext cx="4608195" cy="0"/>
          </a:xfrm>
          <a:custGeom>
            <a:avLst/>
            <a:gdLst/>
            <a:ahLst/>
            <a:cxnLst/>
            <a:rect l="l" t="t" r="r" b="b"/>
            <a:pathLst>
              <a:path w="4608195">
                <a:moveTo>
                  <a:pt x="0" y="0"/>
                </a:moveTo>
                <a:lnTo>
                  <a:pt x="4608060" y="0"/>
                </a:lnTo>
              </a:path>
            </a:pathLst>
          </a:custGeom>
          <a:ln w="12652">
            <a:solidFill>
              <a:srgbClr val="1B4681"/>
            </a:solidFill>
          </a:ln>
        </p:spPr>
        <p:txBody>
          <a:bodyPr wrap="square" lIns="0" tIns="0" rIns="0" bIns="0" rtlCol="0"/>
          <a:lstStyle/>
          <a:p>
            <a:endParaRPr/>
          </a:p>
        </p:txBody>
      </p:sp>
      <p:grpSp>
        <p:nvGrpSpPr>
          <p:cNvPr id="4" name="object 4"/>
          <p:cNvGrpSpPr/>
          <p:nvPr/>
        </p:nvGrpSpPr>
        <p:grpSpPr>
          <a:xfrm>
            <a:off x="417454" y="766209"/>
            <a:ext cx="30480" cy="30480"/>
            <a:chOff x="417454" y="766209"/>
            <a:chExt cx="30480" cy="30480"/>
          </a:xfrm>
        </p:grpSpPr>
        <p:sp>
          <p:nvSpPr>
            <p:cNvPr id="5" name="object 5"/>
            <p:cNvSpPr/>
            <p:nvPr/>
          </p:nvSpPr>
          <p:spPr>
            <a:xfrm>
              <a:off x="419985" y="768740"/>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6" name="object 6"/>
            <p:cNvSpPr/>
            <p:nvPr/>
          </p:nvSpPr>
          <p:spPr>
            <a:xfrm>
              <a:off x="419985" y="768740"/>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sp>
        <p:nvSpPr>
          <p:cNvPr id="7" name="object 7"/>
          <p:cNvSpPr txBox="1"/>
          <p:nvPr/>
        </p:nvSpPr>
        <p:spPr>
          <a:xfrm>
            <a:off x="504393" y="667015"/>
            <a:ext cx="1826895" cy="1854200"/>
          </a:xfrm>
          <a:prstGeom prst="rect">
            <a:avLst/>
          </a:prstGeom>
        </p:spPr>
        <p:txBody>
          <a:bodyPr vert="horz" wrap="square" lIns="0" tIns="6985" rIns="0" bIns="0" rtlCol="0">
            <a:spAutoFit/>
          </a:bodyPr>
          <a:lstStyle/>
          <a:p>
            <a:pPr marL="12700" marR="106045">
              <a:lnSpc>
                <a:spcPct val="102699"/>
              </a:lnSpc>
              <a:spcBef>
                <a:spcPts val="55"/>
              </a:spcBef>
            </a:pPr>
            <a:r>
              <a:rPr sz="1100" spc="-20" dirty="0">
                <a:latin typeface="SimSun"/>
                <a:cs typeface="SimSun"/>
              </a:rPr>
              <a:t>平台：</a:t>
            </a:r>
            <a:r>
              <a:rPr sz="1100" spc="-10" dirty="0">
                <a:latin typeface="Times New Roman"/>
                <a:cs typeface="Times New Roman"/>
              </a:rPr>
              <a:t>Windows </a:t>
            </a:r>
            <a:r>
              <a:rPr sz="1100" spc="-20" dirty="0">
                <a:latin typeface="Times New Roman"/>
                <a:cs typeface="Times New Roman"/>
              </a:rPr>
              <a:t>11</a:t>
            </a:r>
            <a:r>
              <a:rPr sz="1100" spc="-20" dirty="0">
                <a:latin typeface="SimSun"/>
                <a:cs typeface="SimSun"/>
              </a:rPr>
              <a:t>，</a:t>
            </a:r>
            <a:r>
              <a:rPr sz="1100" spc="-20" dirty="0">
                <a:latin typeface="Times New Roman"/>
                <a:cs typeface="Times New Roman"/>
              </a:rPr>
              <a:t>Ryzen</a:t>
            </a:r>
            <a:r>
              <a:rPr sz="1100" spc="-10" dirty="0">
                <a:latin typeface="Times New Roman"/>
                <a:cs typeface="Times New Roman"/>
              </a:rPr>
              <a:t> </a:t>
            </a:r>
            <a:r>
              <a:rPr sz="1100" spc="-50" dirty="0">
                <a:latin typeface="Times New Roman"/>
                <a:cs typeface="Times New Roman"/>
              </a:rPr>
              <a:t>7 </a:t>
            </a:r>
            <a:r>
              <a:rPr sz="1100" spc="-10" dirty="0">
                <a:latin typeface="Times New Roman"/>
                <a:cs typeface="Times New Roman"/>
              </a:rPr>
              <a:t>7840H</a:t>
            </a:r>
            <a:r>
              <a:rPr sz="1100" spc="-10" dirty="0">
                <a:latin typeface="SimSun"/>
                <a:cs typeface="SimSun"/>
              </a:rPr>
              <a:t>，</a:t>
            </a:r>
            <a:r>
              <a:rPr sz="1100" spc="-10" dirty="0">
                <a:latin typeface="Times New Roman"/>
                <a:cs typeface="Times New Roman"/>
              </a:rPr>
              <a:t>8</a:t>
            </a:r>
            <a:r>
              <a:rPr sz="1100" spc="-15" dirty="0">
                <a:latin typeface="Times New Roman"/>
                <a:cs typeface="Times New Roman"/>
              </a:rPr>
              <a:t> </a:t>
            </a:r>
            <a:r>
              <a:rPr sz="1100" spc="-150" dirty="0">
                <a:latin typeface="SimSun"/>
                <a:cs typeface="SimSun"/>
              </a:rPr>
              <a:t>核 </a:t>
            </a:r>
            <a:r>
              <a:rPr sz="1100" dirty="0">
                <a:latin typeface="Times New Roman"/>
                <a:cs typeface="Times New Roman"/>
              </a:rPr>
              <a:t>16</a:t>
            </a:r>
            <a:r>
              <a:rPr sz="1100" spc="-10" dirty="0">
                <a:latin typeface="Times New Roman"/>
                <a:cs typeface="Times New Roman"/>
              </a:rPr>
              <a:t> </a:t>
            </a:r>
            <a:r>
              <a:rPr sz="1100" spc="-20" dirty="0">
                <a:latin typeface="SimSun"/>
                <a:cs typeface="SimSun"/>
              </a:rPr>
              <a:t>线程，</a:t>
            </a:r>
            <a:r>
              <a:rPr sz="1100" spc="-10" dirty="0">
                <a:latin typeface="Times New Roman"/>
                <a:cs typeface="Times New Roman"/>
              </a:rPr>
              <a:t>15.19</a:t>
            </a:r>
            <a:endParaRPr sz="1100">
              <a:latin typeface="Times New Roman"/>
              <a:cs typeface="Times New Roman"/>
            </a:endParaRPr>
          </a:p>
          <a:p>
            <a:pPr marL="12700">
              <a:lnSpc>
                <a:spcPct val="100000"/>
              </a:lnSpc>
              <a:spcBef>
                <a:spcPts val="35"/>
              </a:spcBef>
            </a:pPr>
            <a:r>
              <a:rPr sz="1100" dirty="0">
                <a:latin typeface="Times New Roman"/>
                <a:cs typeface="Times New Roman"/>
              </a:rPr>
              <a:t>GB</a:t>
            </a:r>
            <a:r>
              <a:rPr sz="1100" spc="-20" dirty="0">
                <a:latin typeface="Times New Roman"/>
                <a:cs typeface="Times New Roman"/>
              </a:rPr>
              <a:t> </a:t>
            </a:r>
            <a:r>
              <a:rPr sz="1100" spc="-35" dirty="0">
                <a:latin typeface="SimSun"/>
                <a:cs typeface="SimSun"/>
              </a:rPr>
              <a:t>内存。</a:t>
            </a:r>
            <a:endParaRPr sz="1100">
              <a:latin typeface="SimSun"/>
              <a:cs typeface="SimSun"/>
            </a:endParaRPr>
          </a:p>
          <a:p>
            <a:pPr marL="12700" marR="332105" algn="just">
              <a:lnSpc>
                <a:spcPct val="102600"/>
              </a:lnSpc>
              <a:spcBef>
                <a:spcPts val="300"/>
              </a:spcBef>
            </a:pPr>
            <a:r>
              <a:rPr sz="1100" spc="-10" dirty="0">
                <a:latin typeface="Times New Roman"/>
                <a:cs typeface="Times New Roman"/>
              </a:rPr>
              <a:t>Python</a:t>
            </a:r>
            <a:r>
              <a:rPr sz="1100" spc="-10" dirty="0">
                <a:latin typeface="SimSun"/>
                <a:cs typeface="SimSun"/>
              </a:rPr>
              <a:t>：</a:t>
            </a:r>
            <a:r>
              <a:rPr sz="1100" spc="-10" dirty="0">
                <a:latin typeface="Times New Roman"/>
                <a:cs typeface="Times New Roman"/>
              </a:rPr>
              <a:t>3.12.7</a:t>
            </a:r>
            <a:r>
              <a:rPr sz="1100" spc="-10" dirty="0">
                <a:latin typeface="SimSun"/>
                <a:cs typeface="SimSun"/>
              </a:rPr>
              <a:t>，</a:t>
            </a:r>
            <a:r>
              <a:rPr sz="1100" spc="-10" dirty="0">
                <a:latin typeface="Times New Roman"/>
                <a:cs typeface="Times New Roman"/>
              </a:rPr>
              <a:t>aiohttp</a:t>
            </a:r>
            <a:r>
              <a:rPr sz="1100" spc="20" dirty="0">
                <a:latin typeface="Times New Roman"/>
                <a:cs typeface="Times New Roman"/>
              </a:rPr>
              <a:t> /</a:t>
            </a:r>
            <a:r>
              <a:rPr sz="1100" spc="-50" dirty="0">
                <a:latin typeface="Times New Roman"/>
                <a:cs typeface="Times New Roman"/>
              </a:rPr>
              <a:t> </a:t>
            </a:r>
            <a:r>
              <a:rPr sz="1100" spc="-10" dirty="0">
                <a:latin typeface="Times New Roman"/>
                <a:cs typeface="Times New Roman"/>
              </a:rPr>
              <a:t>requests</a:t>
            </a:r>
            <a:r>
              <a:rPr sz="1100" spc="-15" dirty="0">
                <a:latin typeface="Times New Roman"/>
                <a:cs typeface="Times New Roman"/>
              </a:rPr>
              <a:t> / </a:t>
            </a:r>
            <a:r>
              <a:rPr sz="1100" dirty="0">
                <a:latin typeface="Times New Roman"/>
                <a:cs typeface="Times New Roman"/>
              </a:rPr>
              <a:t>psutil</a:t>
            </a:r>
            <a:r>
              <a:rPr sz="1100" spc="-15" dirty="0">
                <a:latin typeface="Times New Roman"/>
                <a:cs typeface="Times New Roman"/>
              </a:rPr>
              <a:t> / </a:t>
            </a:r>
            <a:r>
              <a:rPr sz="1100" dirty="0">
                <a:latin typeface="Times New Roman"/>
                <a:cs typeface="Times New Roman"/>
              </a:rPr>
              <a:t>pandas</a:t>
            </a:r>
            <a:r>
              <a:rPr sz="1100" spc="-35" dirty="0">
                <a:latin typeface="Times New Roman"/>
                <a:cs typeface="Times New Roman"/>
              </a:rPr>
              <a:t> /</a:t>
            </a:r>
            <a:r>
              <a:rPr sz="1100" spc="-50" dirty="0">
                <a:latin typeface="Times New Roman"/>
                <a:cs typeface="Times New Roman"/>
              </a:rPr>
              <a:t> </a:t>
            </a:r>
            <a:r>
              <a:rPr sz="1100" spc="-10" dirty="0">
                <a:latin typeface="Times New Roman"/>
                <a:cs typeface="Times New Roman"/>
              </a:rPr>
              <a:t>matplotlib</a:t>
            </a:r>
            <a:r>
              <a:rPr sz="1100" spc="-50" dirty="0">
                <a:latin typeface="SimSun"/>
                <a:cs typeface="SimSun"/>
              </a:rPr>
              <a:t>。</a:t>
            </a:r>
            <a:endParaRPr sz="1100">
              <a:latin typeface="SimSun"/>
              <a:cs typeface="SimSun"/>
            </a:endParaRPr>
          </a:p>
          <a:p>
            <a:pPr marL="12700" marR="365125" algn="just">
              <a:lnSpc>
                <a:spcPct val="102600"/>
              </a:lnSpc>
              <a:spcBef>
                <a:spcPts val="300"/>
              </a:spcBef>
            </a:pPr>
            <a:r>
              <a:rPr sz="1100" spc="-10" dirty="0">
                <a:latin typeface="Times New Roman"/>
                <a:cs typeface="Times New Roman"/>
              </a:rPr>
              <a:t>Java</a:t>
            </a:r>
            <a:r>
              <a:rPr sz="1100" spc="-10" dirty="0">
                <a:latin typeface="SimSun"/>
                <a:cs typeface="SimSun"/>
              </a:rPr>
              <a:t>：</a:t>
            </a:r>
            <a:r>
              <a:rPr sz="1100" spc="-10" dirty="0">
                <a:latin typeface="Times New Roman"/>
                <a:cs typeface="Times New Roman"/>
              </a:rPr>
              <a:t>Temurin</a:t>
            </a:r>
            <a:r>
              <a:rPr sz="1100" spc="-45" dirty="0">
                <a:latin typeface="Times New Roman"/>
                <a:cs typeface="Times New Roman"/>
              </a:rPr>
              <a:t> </a:t>
            </a:r>
            <a:r>
              <a:rPr sz="1100" spc="-10" dirty="0">
                <a:latin typeface="Times New Roman"/>
                <a:cs typeface="Times New Roman"/>
              </a:rPr>
              <a:t>OpenJDK </a:t>
            </a:r>
            <a:r>
              <a:rPr sz="1100" spc="-20" dirty="0">
                <a:latin typeface="Times New Roman"/>
                <a:cs typeface="Times New Roman"/>
              </a:rPr>
              <a:t>21.0.11</a:t>
            </a:r>
            <a:r>
              <a:rPr sz="1100" spc="-50" dirty="0">
                <a:latin typeface="SimSun"/>
                <a:cs typeface="SimSun"/>
              </a:rPr>
              <a:t>。</a:t>
            </a:r>
            <a:endParaRPr sz="1100">
              <a:latin typeface="SimSun"/>
              <a:cs typeface="SimSun"/>
            </a:endParaRPr>
          </a:p>
          <a:p>
            <a:pPr marL="12700" marR="5080">
              <a:lnSpc>
                <a:spcPct val="102600"/>
              </a:lnSpc>
              <a:spcBef>
                <a:spcPts val="295"/>
              </a:spcBef>
            </a:pPr>
            <a:r>
              <a:rPr sz="1100" spc="-60" dirty="0">
                <a:latin typeface="SimSun"/>
                <a:cs typeface="SimSun"/>
              </a:rPr>
              <a:t>每组实验重复 </a:t>
            </a:r>
            <a:r>
              <a:rPr sz="1100" dirty="0">
                <a:latin typeface="Times New Roman"/>
                <a:cs typeface="Times New Roman"/>
              </a:rPr>
              <a:t>3</a:t>
            </a:r>
            <a:r>
              <a:rPr sz="1100" spc="-35" dirty="0">
                <a:latin typeface="Times New Roman"/>
                <a:cs typeface="Times New Roman"/>
              </a:rPr>
              <a:t> </a:t>
            </a:r>
            <a:r>
              <a:rPr sz="1100" spc="-25" dirty="0">
                <a:latin typeface="SimSun"/>
                <a:cs typeface="SimSun"/>
              </a:rPr>
              <a:t>次，结果取平</a:t>
            </a:r>
            <a:r>
              <a:rPr sz="1100" spc="-35" dirty="0">
                <a:latin typeface="SimSun"/>
                <a:cs typeface="SimSun"/>
              </a:rPr>
              <a:t>均。</a:t>
            </a:r>
            <a:endParaRPr sz="1100">
              <a:latin typeface="SimSun"/>
              <a:cs typeface="SimSun"/>
            </a:endParaRPr>
          </a:p>
        </p:txBody>
      </p:sp>
      <p:grpSp>
        <p:nvGrpSpPr>
          <p:cNvPr id="8" name="object 8"/>
          <p:cNvGrpSpPr/>
          <p:nvPr/>
        </p:nvGrpSpPr>
        <p:grpSpPr>
          <a:xfrm>
            <a:off x="417454" y="1320386"/>
            <a:ext cx="30480" cy="30480"/>
            <a:chOff x="417454" y="1320386"/>
            <a:chExt cx="30480" cy="30480"/>
          </a:xfrm>
        </p:grpSpPr>
        <p:sp>
          <p:nvSpPr>
            <p:cNvPr id="9" name="object 9"/>
            <p:cNvSpPr/>
            <p:nvPr/>
          </p:nvSpPr>
          <p:spPr>
            <a:xfrm>
              <a:off x="419985" y="1322917"/>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0" name="object 10"/>
            <p:cNvSpPr/>
            <p:nvPr/>
          </p:nvSpPr>
          <p:spPr>
            <a:xfrm>
              <a:off x="419985" y="1322917"/>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1" name="object 11"/>
          <p:cNvGrpSpPr/>
          <p:nvPr/>
        </p:nvGrpSpPr>
        <p:grpSpPr>
          <a:xfrm>
            <a:off x="417454" y="1874576"/>
            <a:ext cx="30480" cy="30480"/>
            <a:chOff x="417454" y="1874576"/>
            <a:chExt cx="30480" cy="30480"/>
          </a:xfrm>
        </p:grpSpPr>
        <p:sp>
          <p:nvSpPr>
            <p:cNvPr id="12" name="object 12"/>
            <p:cNvSpPr/>
            <p:nvPr/>
          </p:nvSpPr>
          <p:spPr>
            <a:xfrm>
              <a:off x="419985" y="1877107"/>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3" name="object 13"/>
            <p:cNvSpPr/>
            <p:nvPr/>
          </p:nvSpPr>
          <p:spPr>
            <a:xfrm>
              <a:off x="419985" y="1877107"/>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4" name="object 14"/>
          <p:cNvGrpSpPr/>
          <p:nvPr/>
        </p:nvGrpSpPr>
        <p:grpSpPr>
          <a:xfrm>
            <a:off x="417454" y="2256681"/>
            <a:ext cx="30480" cy="30480"/>
            <a:chOff x="417454" y="2256681"/>
            <a:chExt cx="30480" cy="30480"/>
          </a:xfrm>
        </p:grpSpPr>
        <p:sp>
          <p:nvSpPr>
            <p:cNvPr id="15" name="object 15"/>
            <p:cNvSpPr/>
            <p:nvPr/>
          </p:nvSpPr>
          <p:spPr>
            <a:xfrm>
              <a:off x="419985" y="2259212"/>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6" name="object 16"/>
            <p:cNvSpPr/>
            <p:nvPr/>
          </p:nvSpPr>
          <p:spPr>
            <a:xfrm>
              <a:off x="419985" y="2259212"/>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7" name="object 17"/>
          <p:cNvGrpSpPr/>
          <p:nvPr/>
        </p:nvGrpSpPr>
        <p:grpSpPr>
          <a:xfrm>
            <a:off x="2618409" y="804515"/>
            <a:ext cx="1750060" cy="1818639"/>
            <a:chOff x="2618409" y="804515"/>
            <a:chExt cx="1750060" cy="1818639"/>
          </a:xfrm>
        </p:grpSpPr>
        <p:sp>
          <p:nvSpPr>
            <p:cNvPr id="18" name="object 18"/>
            <p:cNvSpPr/>
            <p:nvPr/>
          </p:nvSpPr>
          <p:spPr>
            <a:xfrm>
              <a:off x="2672410" y="871169"/>
              <a:ext cx="1642110" cy="1710689"/>
            </a:xfrm>
            <a:custGeom>
              <a:avLst/>
              <a:gdLst/>
              <a:ahLst/>
              <a:cxnLst/>
              <a:rect l="l" t="t" r="r" b="b"/>
              <a:pathLst>
                <a:path w="1642110" h="1710689">
                  <a:moveTo>
                    <a:pt x="1641610" y="0"/>
                  </a:moveTo>
                  <a:lnTo>
                    <a:pt x="0" y="0"/>
                  </a:lnTo>
                  <a:lnTo>
                    <a:pt x="0" y="1710135"/>
                  </a:lnTo>
                  <a:lnTo>
                    <a:pt x="1641610" y="1710135"/>
                  </a:lnTo>
                  <a:lnTo>
                    <a:pt x="1641610" y="0"/>
                  </a:lnTo>
                  <a:close/>
                </a:path>
              </a:pathLst>
            </a:custGeom>
            <a:solidFill>
              <a:srgbClr val="B2B2B2"/>
            </a:solidFill>
          </p:spPr>
          <p:txBody>
            <a:bodyPr wrap="square" lIns="0" tIns="0" rIns="0" bIns="0" rtlCol="0"/>
            <a:lstStyle/>
            <a:p>
              <a:endParaRPr/>
            </a:p>
          </p:txBody>
        </p:sp>
        <p:sp>
          <p:nvSpPr>
            <p:cNvPr id="19" name="object 19"/>
            <p:cNvSpPr/>
            <p:nvPr/>
          </p:nvSpPr>
          <p:spPr>
            <a:xfrm>
              <a:off x="2618409" y="804515"/>
              <a:ext cx="1750060" cy="1818639"/>
            </a:xfrm>
            <a:custGeom>
              <a:avLst/>
              <a:gdLst/>
              <a:ahLst/>
              <a:cxnLst/>
              <a:rect l="l" t="t" r="r" b="b"/>
              <a:pathLst>
                <a:path w="1750060" h="1818639">
                  <a:moveTo>
                    <a:pt x="1695610" y="0"/>
                  </a:moveTo>
                  <a:lnTo>
                    <a:pt x="54000" y="0"/>
                  </a:lnTo>
                  <a:lnTo>
                    <a:pt x="32980" y="4243"/>
                  </a:lnTo>
                  <a:lnTo>
                    <a:pt x="15816" y="15816"/>
                  </a:lnTo>
                  <a:lnTo>
                    <a:pt x="4243" y="32980"/>
                  </a:lnTo>
                  <a:lnTo>
                    <a:pt x="0" y="54000"/>
                  </a:lnTo>
                  <a:lnTo>
                    <a:pt x="0" y="1764135"/>
                  </a:lnTo>
                  <a:lnTo>
                    <a:pt x="4243" y="1785155"/>
                  </a:lnTo>
                  <a:lnTo>
                    <a:pt x="15816" y="1802319"/>
                  </a:lnTo>
                  <a:lnTo>
                    <a:pt x="32980" y="1813892"/>
                  </a:lnTo>
                  <a:lnTo>
                    <a:pt x="54000" y="1818135"/>
                  </a:lnTo>
                  <a:lnTo>
                    <a:pt x="1695610" y="1818135"/>
                  </a:lnTo>
                  <a:lnTo>
                    <a:pt x="1716630" y="1813892"/>
                  </a:lnTo>
                  <a:lnTo>
                    <a:pt x="1733794" y="1802319"/>
                  </a:lnTo>
                  <a:lnTo>
                    <a:pt x="1745367" y="1785155"/>
                  </a:lnTo>
                  <a:lnTo>
                    <a:pt x="1749611" y="1764135"/>
                  </a:lnTo>
                  <a:lnTo>
                    <a:pt x="1749611" y="54000"/>
                  </a:lnTo>
                  <a:lnTo>
                    <a:pt x="1745367" y="32980"/>
                  </a:lnTo>
                  <a:lnTo>
                    <a:pt x="1733794" y="15816"/>
                  </a:lnTo>
                  <a:lnTo>
                    <a:pt x="1716630" y="4243"/>
                  </a:lnTo>
                  <a:lnTo>
                    <a:pt x="1695610" y="0"/>
                  </a:lnTo>
                  <a:close/>
                </a:path>
              </a:pathLst>
            </a:custGeom>
            <a:solidFill>
              <a:srgbClr val="1B4681"/>
            </a:solidFill>
          </p:spPr>
          <p:txBody>
            <a:bodyPr wrap="square" lIns="0" tIns="0" rIns="0" bIns="0" rtlCol="0"/>
            <a:lstStyle/>
            <a:p>
              <a:endParaRPr/>
            </a:p>
          </p:txBody>
        </p:sp>
        <p:sp>
          <p:nvSpPr>
            <p:cNvPr id="20" name="object 20"/>
            <p:cNvSpPr/>
            <p:nvPr/>
          </p:nvSpPr>
          <p:spPr>
            <a:xfrm>
              <a:off x="2618409" y="1016486"/>
              <a:ext cx="1750060" cy="1606550"/>
            </a:xfrm>
            <a:custGeom>
              <a:avLst/>
              <a:gdLst/>
              <a:ahLst/>
              <a:cxnLst/>
              <a:rect l="l" t="t" r="r" b="b"/>
              <a:pathLst>
                <a:path w="1750060" h="1606550">
                  <a:moveTo>
                    <a:pt x="1749611" y="0"/>
                  </a:moveTo>
                  <a:lnTo>
                    <a:pt x="0" y="0"/>
                  </a:lnTo>
                  <a:lnTo>
                    <a:pt x="0" y="1552164"/>
                  </a:lnTo>
                  <a:lnTo>
                    <a:pt x="4243" y="1573184"/>
                  </a:lnTo>
                  <a:lnTo>
                    <a:pt x="15816" y="1590348"/>
                  </a:lnTo>
                  <a:lnTo>
                    <a:pt x="32980" y="1601921"/>
                  </a:lnTo>
                  <a:lnTo>
                    <a:pt x="54000" y="1606164"/>
                  </a:lnTo>
                  <a:lnTo>
                    <a:pt x="1695610" y="1606164"/>
                  </a:lnTo>
                  <a:lnTo>
                    <a:pt x="1716630" y="1601921"/>
                  </a:lnTo>
                  <a:lnTo>
                    <a:pt x="1733794" y="1590348"/>
                  </a:lnTo>
                  <a:lnTo>
                    <a:pt x="1745367" y="1573184"/>
                  </a:lnTo>
                  <a:lnTo>
                    <a:pt x="1749611" y="1552164"/>
                  </a:lnTo>
                  <a:lnTo>
                    <a:pt x="1749611" y="0"/>
                  </a:lnTo>
                  <a:close/>
                </a:path>
              </a:pathLst>
            </a:custGeom>
            <a:solidFill>
              <a:srgbClr val="E8ECF2"/>
            </a:solidFill>
          </p:spPr>
          <p:txBody>
            <a:bodyPr wrap="square" lIns="0" tIns="0" rIns="0" bIns="0" rtlCol="0"/>
            <a:lstStyle/>
            <a:p>
              <a:endParaRPr/>
            </a:p>
          </p:txBody>
        </p:sp>
      </p:grpSp>
      <p:sp>
        <p:nvSpPr>
          <p:cNvPr id="21" name="object 21"/>
          <p:cNvSpPr txBox="1"/>
          <p:nvPr/>
        </p:nvSpPr>
        <p:spPr>
          <a:xfrm>
            <a:off x="2667012" y="738191"/>
            <a:ext cx="1652905" cy="1851025"/>
          </a:xfrm>
          <a:prstGeom prst="rect">
            <a:avLst/>
          </a:prstGeom>
        </p:spPr>
        <p:txBody>
          <a:bodyPr vert="horz" wrap="square" lIns="0" tIns="74930" rIns="0" bIns="0" rtlCol="0">
            <a:spAutoFit/>
          </a:bodyPr>
          <a:lstStyle/>
          <a:p>
            <a:pPr marL="12700">
              <a:lnSpc>
                <a:spcPct val="100000"/>
              </a:lnSpc>
              <a:spcBef>
                <a:spcPts val="590"/>
              </a:spcBef>
            </a:pPr>
            <a:r>
              <a:rPr sz="1200" spc="-30" dirty="0">
                <a:solidFill>
                  <a:srgbClr val="FFFFFF"/>
                </a:solidFill>
                <a:latin typeface="SimSun"/>
                <a:cs typeface="SimSun"/>
              </a:rPr>
              <a:t>实验结构</a:t>
            </a:r>
            <a:endParaRPr sz="1200">
              <a:latin typeface="SimSun"/>
              <a:cs typeface="SimSun"/>
            </a:endParaRPr>
          </a:p>
          <a:p>
            <a:pPr marL="288925" indent="-172720">
              <a:lnSpc>
                <a:spcPct val="100000"/>
              </a:lnSpc>
              <a:spcBef>
                <a:spcPts val="440"/>
              </a:spcBef>
              <a:buClr>
                <a:srgbClr val="092850"/>
              </a:buClr>
              <a:buAutoNum type="arabicPeriod"/>
              <a:tabLst>
                <a:tab pos="288925" algn="l"/>
              </a:tabLst>
            </a:pPr>
            <a:r>
              <a:rPr sz="1100" dirty="0">
                <a:latin typeface="Times New Roman"/>
                <a:cs typeface="Times New Roman"/>
              </a:rPr>
              <a:t>Sleep </a:t>
            </a:r>
            <a:r>
              <a:rPr sz="1100" spc="-10" dirty="0">
                <a:latin typeface="Times New Roman"/>
                <a:cs typeface="Times New Roman"/>
              </a:rPr>
              <a:t>I/O</a:t>
            </a:r>
            <a:r>
              <a:rPr sz="1100" spc="-30" dirty="0">
                <a:latin typeface="SimSun"/>
                <a:cs typeface="SimSun"/>
              </a:rPr>
              <a:t>：模拟等待</a:t>
            </a:r>
            <a:endParaRPr sz="1100">
              <a:latin typeface="SimSun"/>
              <a:cs typeface="SimSun"/>
            </a:endParaRPr>
          </a:p>
          <a:p>
            <a:pPr marL="289560" marR="104139" indent="-173355">
              <a:lnSpc>
                <a:spcPct val="102699"/>
              </a:lnSpc>
              <a:spcBef>
                <a:spcPts val="300"/>
              </a:spcBef>
              <a:buClr>
                <a:srgbClr val="092850"/>
              </a:buClr>
              <a:buAutoNum type="arabicPeriod"/>
              <a:tabLst>
                <a:tab pos="289560" algn="l"/>
              </a:tabLst>
            </a:pPr>
            <a:r>
              <a:rPr sz="1100" dirty="0">
                <a:latin typeface="Times New Roman"/>
                <a:cs typeface="Times New Roman"/>
              </a:rPr>
              <a:t>Local</a:t>
            </a:r>
            <a:r>
              <a:rPr sz="1100" spc="-60" dirty="0">
                <a:latin typeface="Times New Roman"/>
                <a:cs typeface="Times New Roman"/>
              </a:rPr>
              <a:t> </a:t>
            </a:r>
            <a:r>
              <a:rPr sz="1100" spc="-25" dirty="0">
                <a:latin typeface="Times New Roman"/>
                <a:cs typeface="Times New Roman"/>
              </a:rPr>
              <a:t>HTTP</a:t>
            </a:r>
            <a:r>
              <a:rPr sz="1100" spc="-35" dirty="0">
                <a:latin typeface="SimSun"/>
                <a:cs typeface="SimSun"/>
              </a:rPr>
              <a:t>：真实网</a:t>
            </a:r>
            <a:r>
              <a:rPr sz="1100" spc="-150" dirty="0">
                <a:latin typeface="SimSun"/>
                <a:cs typeface="SimSun"/>
              </a:rPr>
              <a:t>络 </a:t>
            </a:r>
            <a:r>
              <a:rPr sz="1100" spc="-25" dirty="0">
                <a:latin typeface="Times New Roman"/>
                <a:cs typeface="Times New Roman"/>
              </a:rPr>
              <a:t>I/O</a:t>
            </a:r>
            <a:endParaRPr sz="1100">
              <a:latin typeface="Times New Roman"/>
              <a:cs typeface="Times New Roman"/>
            </a:endParaRPr>
          </a:p>
          <a:p>
            <a:pPr marL="288925" indent="-172720">
              <a:lnSpc>
                <a:spcPct val="100000"/>
              </a:lnSpc>
              <a:spcBef>
                <a:spcPts val="335"/>
              </a:spcBef>
              <a:buClr>
                <a:srgbClr val="092850"/>
              </a:buClr>
              <a:buAutoNum type="arabicPeriod"/>
              <a:tabLst>
                <a:tab pos="288925" algn="l"/>
              </a:tabLst>
            </a:pPr>
            <a:r>
              <a:rPr sz="1100" spc="-10" dirty="0">
                <a:latin typeface="Times New Roman"/>
                <a:cs typeface="Times New Roman"/>
              </a:rPr>
              <a:t>CPU-</a:t>
            </a:r>
            <a:r>
              <a:rPr sz="1100" spc="-20" dirty="0">
                <a:latin typeface="Times New Roman"/>
                <a:cs typeface="Times New Roman"/>
              </a:rPr>
              <a:t>bound</a:t>
            </a:r>
            <a:r>
              <a:rPr sz="1100" spc="-30" dirty="0">
                <a:latin typeface="SimSun"/>
                <a:cs typeface="SimSun"/>
              </a:rPr>
              <a:t>：反例边界</a:t>
            </a:r>
            <a:endParaRPr sz="1100">
              <a:latin typeface="SimSun"/>
              <a:cs typeface="SimSun"/>
            </a:endParaRPr>
          </a:p>
          <a:p>
            <a:pPr marL="289560" marR="119380" indent="-173355">
              <a:lnSpc>
                <a:spcPct val="102600"/>
              </a:lnSpc>
              <a:spcBef>
                <a:spcPts val="300"/>
              </a:spcBef>
              <a:buClr>
                <a:srgbClr val="092850"/>
              </a:buClr>
              <a:buAutoNum type="arabicPeriod"/>
              <a:tabLst>
                <a:tab pos="289560" algn="l"/>
              </a:tabLst>
            </a:pPr>
            <a:r>
              <a:rPr sz="1100" dirty="0">
                <a:latin typeface="Times New Roman"/>
                <a:cs typeface="Times New Roman"/>
              </a:rPr>
              <a:t>Python</a:t>
            </a:r>
            <a:r>
              <a:rPr sz="1100" spc="-70" dirty="0">
                <a:latin typeface="Times New Roman"/>
                <a:cs typeface="Times New Roman"/>
              </a:rPr>
              <a:t> </a:t>
            </a:r>
            <a:r>
              <a:rPr sz="1100" spc="-10" dirty="0">
                <a:latin typeface="Times New Roman"/>
                <a:cs typeface="Times New Roman"/>
              </a:rPr>
              <a:t>scaling</a:t>
            </a:r>
            <a:r>
              <a:rPr sz="1100" spc="-30" dirty="0">
                <a:latin typeface="SimSun"/>
                <a:cs typeface="SimSun"/>
              </a:rPr>
              <a:t>：高并</a:t>
            </a:r>
            <a:r>
              <a:rPr sz="1100" spc="-35" dirty="0">
                <a:latin typeface="SimSun"/>
                <a:cs typeface="SimSun"/>
              </a:rPr>
              <a:t>发扩展</a:t>
            </a:r>
            <a:endParaRPr sz="1100">
              <a:latin typeface="SimSun"/>
              <a:cs typeface="SimSun"/>
            </a:endParaRPr>
          </a:p>
          <a:p>
            <a:pPr marL="289560" marR="5080" indent="-173355">
              <a:lnSpc>
                <a:spcPct val="102600"/>
              </a:lnSpc>
              <a:spcBef>
                <a:spcPts val="300"/>
              </a:spcBef>
              <a:buClr>
                <a:srgbClr val="092850"/>
              </a:buClr>
              <a:buAutoNum type="arabicPeriod"/>
              <a:tabLst>
                <a:tab pos="289560" algn="l"/>
              </a:tabLst>
            </a:pPr>
            <a:r>
              <a:rPr sz="1100" dirty="0">
                <a:latin typeface="Times New Roman"/>
                <a:cs typeface="Times New Roman"/>
              </a:rPr>
              <a:t>Java</a:t>
            </a:r>
            <a:r>
              <a:rPr sz="1100" spc="-70" dirty="0">
                <a:latin typeface="Times New Roman"/>
                <a:cs typeface="Times New Roman"/>
              </a:rPr>
              <a:t> </a:t>
            </a:r>
            <a:r>
              <a:rPr sz="1100" spc="-25" dirty="0">
                <a:latin typeface="Times New Roman"/>
                <a:cs typeface="Times New Roman"/>
              </a:rPr>
              <a:t>scaling</a:t>
            </a:r>
            <a:r>
              <a:rPr sz="1100" spc="-30" dirty="0">
                <a:latin typeface="SimSun"/>
                <a:cs typeface="SimSun"/>
              </a:rPr>
              <a:t>：虚拟线程</a:t>
            </a:r>
            <a:r>
              <a:rPr sz="1100" spc="-35" dirty="0">
                <a:latin typeface="SimSun"/>
                <a:cs typeface="SimSun"/>
              </a:rPr>
              <a:t>对比</a:t>
            </a:r>
            <a:endParaRPr sz="1100">
              <a:latin typeface="SimSun"/>
              <a:cs typeface="SimSun"/>
            </a:endParaRPr>
          </a:p>
        </p:txBody>
      </p:sp>
      <p:grpSp>
        <p:nvGrpSpPr>
          <p:cNvPr id="22" name="object 22"/>
          <p:cNvGrpSpPr/>
          <p:nvPr/>
        </p:nvGrpSpPr>
        <p:grpSpPr>
          <a:xfrm>
            <a:off x="0" y="3309520"/>
            <a:ext cx="4608195" cy="146685"/>
            <a:chOff x="0" y="3309520"/>
            <a:chExt cx="4608195" cy="146685"/>
          </a:xfrm>
        </p:grpSpPr>
        <p:sp>
          <p:nvSpPr>
            <p:cNvPr id="23" name="object 23"/>
            <p:cNvSpPr/>
            <p:nvPr/>
          </p:nvSpPr>
          <p:spPr>
            <a:xfrm>
              <a:off x="0" y="3309520"/>
              <a:ext cx="1464945" cy="146685"/>
            </a:xfrm>
            <a:custGeom>
              <a:avLst/>
              <a:gdLst/>
              <a:ahLst/>
              <a:cxnLst/>
              <a:rect l="l" t="t" r="r" b="b"/>
              <a:pathLst>
                <a:path w="1464945" h="146685">
                  <a:moveTo>
                    <a:pt x="1464490" y="146530"/>
                  </a:moveTo>
                  <a:lnTo>
                    <a:pt x="1464490" y="0"/>
                  </a:lnTo>
                  <a:lnTo>
                    <a:pt x="0" y="0"/>
                  </a:lnTo>
                  <a:lnTo>
                    <a:pt x="0" y="146530"/>
                  </a:lnTo>
                  <a:lnTo>
                    <a:pt x="1464490" y="146530"/>
                  </a:lnTo>
                  <a:close/>
                </a:path>
              </a:pathLst>
            </a:custGeom>
            <a:solidFill>
              <a:srgbClr val="4681B4"/>
            </a:solidFill>
          </p:spPr>
          <p:txBody>
            <a:bodyPr wrap="square" lIns="0" tIns="0" rIns="0" bIns="0" rtlCol="0"/>
            <a:lstStyle/>
            <a:p>
              <a:endParaRPr/>
            </a:p>
          </p:txBody>
        </p:sp>
        <p:sp>
          <p:nvSpPr>
            <p:cNvPr id="24" name="object 24"/>
            <p:cNvSpPr/>
            <p:nvPr/>
          </p:nvSpPr>
          <p:spPr>
            <a:xfrm>
              <a:off x="1464490" y="3309520"/>
              <a:ext cx="2672715" cy="146685"/>
            </a:xfrm>
            <a:custGeom>
              <a:avLst/>
              <a:gdLst/>
              <a:ahLst/>
              <a:cxnLst/>
              <a:rect l="l" t="t" r="r" b="b"/>
              <a:pathLst>
                <a:path w="2672715" h="146685">
                  <a:moveTo>
                    <a:pt x="2672682" y="0"/>
                  </a:moveTo>
                  <a:lnTo>
                    <a:pt x="0" y="0"/>
                  </a:lnTo>
                  <a:lnTo>
                    <a:pt x="0" y="146530"/>
                  </a:lnTo>
                  <a:lnTo>
                    <a:pt x="2672682" y="146530"/>
                  </a:lnTo>
                  <a:lnTo>
                    <a:pt x="2672682" y="0"/>
                  </a:lnTo>
                  <a:close/>
                </a:path>
              </a:pathLst>
            </a:custGeom>
            <a:solidFill>
              <a:srgbClr val="1B4681"/>
            </a:solidFill>
          </p:spPr>
          <p:txBody>
            <a:bodyPr wrap="square" lIns="0" tIns="0" rIns="0" bIns="0" rtlCol="0"/>
            <a:lstStyle/>
            <a:p>
              <a:endParaRPr/>
            </a:p>
          </p:txBody>
        </p:sp>
        <p:sp>
          <p:nvSpPr>
            <p:cNvPr id="25" name="object 25"/>
            <p:cNvSpPr/>
            <p:nvPr/>
          </p:nvSpPr>
          <p:spPr>
            <a:xfrm>
              <a:off x="4137103" y="3309520"/>
              <a:ext cx="471170" cy="146685"/>
            </a:xfrm>
            <a:custGeom>
              <a:avLst/>
              <a:gdLst/>
              <a:ahLst/>
              <a:cxnLst/>
              <a:rect l="l" t="t" r="r" b="b"/>
              <a:pathLst>
                <a:path w="471170" h="146685">
                  <a:moveTo>
                    <a:pt x="470836" y="0"/>
                  </a:moveTo>
                  <a:lnTo>
                    <a:pt x="0" y="0"/>
                  </a:lnTo>
                  <a:lnTo>
                    <a:pt x="0" y="146530"/>
                  </a:lnTo>
                  <a:lnTo>
                    <a:pt x="470836" y="146530"/>
                  </a:lnTo>
                  <a:lnTo>
                    <a:pt x="470836" y="0"/>
                  </a:lnTo>
                  <a:close/>
                </a:path>
              </a:pathLst>
            </a:custGeom>
            <a:solidFill>
              <a:srgbClr val="0A2750"/>
            </a:solidFill>
          </p:spPr>
          <p:txBody>
            <a:bodyPr wrap="square" lIns="0" tIns="0" rIns="0" bIns="0" rtlCol="0"/>
            <a:lstStyle/>
            <a:p>
              <a:endParaRPr/>
            </a:p>
          </p:txBody>
        </p:sp>
      </p:grpSp>
      <p:sp>
        <p:nvSpPr>
          <p:cNvPr id="26" name="object 26"/>
          <p:cNvSpPr txBox="1">
            <a:spLocks noGrp="1"/>
          </p:cNvSpPr>
          <p:nvPr>
            <p:ph type="dt" sz="half" idx="6"/>
          </p:nvPr>
        </p:nvSpPr>
        <p:spPr>
          <a:prstGeom prst="rect">
            <a:avLst/>
          </a:prstGeom>
        </p:spPr>
        <p:txBody>
          <a:bodyPr vert="horz" wrap="square" lIns="0" tIns="1270" rIns="0" bIns="0" rtlCol="0">
            <a:spAutoFit/>
          </a:bodyPr>
          <a:lstStyle/>
          <a:p>
            <a:pPr marL="12700">
              <a:lnSpc>
                <a:spcPct val="100000"/>
              </a:lnSpc>
              <a:spcBef>
                <a:spcPts val="10"/>
              </a:spcBef>
            </a:pPr>
            <a:r>
              <a:rPr spc="35" dirty="0"/>
              <a:t>尚文轩 南开大学</a:t>
            </a:r>
          </a:p>
        </p:txBody>
      </p:sp>
      <p:sp>
        <p:nvSpPr>
          <p:cNvPr id="27" name="object 27"/>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spc="-30" dirty="0">
                <a:latin typeface="Times New Roman"/>
                <a:cs typeface="Times New Roman"/>
              </a:rPr>
              <a:t>OT-</a:t>
            </a:r>
            <a:r>
              <a:rPr spc="-20" dirty="0"/>
              <a:t>协程技术调研</a:t>
            </a:r>
          </a:p>
        </p:txBody>
      </p:sp>
      <p:sp>
        <p:nvSpPr>
          <p:cNvPr id="28" name="object 28"/>
          <p:cNvSpPr txBox="1">
            <a:spLocks noGrp="1"/>
          </p:cNvSpPr>
          <p:nvPr>
            <p:ph type="sldNum" sz="quarter" idx="7"/>
          </p:nvPr>
        </p:nvSpPr>
        <p:spPr>
          <a:prstGeom prst="rect">
            <a:avLst/>
          </a:prstGeom>
        </p:spPr>
        <p:txBody>
          <a:bodyPr vert="horz" wrap="square" lIns="0" tIns="3810" rIns="0" bIns="0" rtlCol="0">
            <a:spAutoFit/>
          </a:bodyPr>
          <a:lstStyle/>
          <a:p>
            <a:pPr marL="37465">
              <a:lnSpc>
                <a:spcPct val="100000"/>
              </a:lnSpc>
              <a:spcBef>
                <a:spcPts val="30"/>
              </a:spcBef>
            </a:pPr>
            <a:fld id="{81D60167-4931-47E6-BA6A-407CBD079E47}" type="slidenum">
              <a:rPr spc="-25" dirty="0"/>
              <a:t>11</a:t>
            </a:fld>
            <a:endParaRPr spc="-25" dirty="0"/>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9" name="图片 28">
            <a:extLst>
              <a:ext uri="{FF2B5EF4-FFF2-40B4-BE49-F238E27FC236}">
                <a16:creationId xmlns:a16="http://schemas.microsoft.com/office/drawing/2014/main" id="{597626A4-F216-E762-E014-D90A6F2B3E8E}"/>
              </a:ext>
            </a:extLst>
          </p:cNvPr>
          <p:cNvPicPr>
            <a:picLocks noChangeAspect="1"/>
          </p:cNvPicPr>
          <p:nvPr/>
        </p:nvPicPr>
        <p:blipFill>
          <a:blip r:embed="rId2"/>
          <a:stretch>
            <a:fillRect/>
          </a:stretch>
        </p:blipFill>
        <p:spPr>
          <a:xfrm>
            <a:off x="0" y="-21941"/>
            <a:ext cx="4610100" cy="272614"/>
          </a:xfrm>
          <a:prstGeom prst="rect">
            <a:avLst/>
          </a:prstGeom>
        </p:spPr>
      </p:pic>
      <p:sp>
        <p:nvSpPr>
          <p:cNvPr id="2" name="object 2" descr="$PPTXTitle"/>
          <p:cNvSpPr txBox="1">
            <a:spLocks noGrp="1"/>
          </p:cNvSpPr>
          <p:nvPr>
            <p:ph type="title"/>
          </p:nvPr>
        </p:nvSpPr>
        <p:spPr>
          <a:xfrm>
            <a:off x="105130" y="35088"/>
            <a:ext cx="2388870" cy="180819"/>
          </a:xfrm>
          <a:prstGeom prst="rect">
            <a:avLst/>
          </a:prstGeom>
        </p:spPr>
        <p:txBody>
          <a:bodyPr vert="horz" wrap="square" lIns="0" tIns="11430" rIns="0" bIns="0" rtlCol="0">
            <a:spAutoFit/>
          </a:bodyPr>
          <a:lstStyle/>
          <a:p>
            <a:pPr marL="12700">
              <a:lnSpc>
                <a:spcPct val="100000"/>
              </a:lnSpc>
              <a:spcBef>
                <a:spcPts val="90"/>
              </a:spcBef>
            </a:pPr>
            <a:r>
              <a:rPr spc="-20" dirty="0">
                <a:solidFill>
                  <a:schemeClr val="bg1"/>
                </a:solidFill>
              </a:rPr>
              <a:t>实验一：</a:t>
            </a:r>
            <a:r>
              <a:rPr dirty="0">
                <a:solidFill>
                  <a:schemeClr val="bg1"/>
                </a:solidFill>
                <a:latin typeface="Times New Roman"/>
                <a:cs typeface="Times New Roman"/>
              </a:rPr>
              <a:t>Sleep</a:t>
            </a:r>
            <a:r>
              <a:rPr spc="10" dirty="0">
                <a:solidFill>
                  <a:schemeClr val="bg1"/>
                </a:solidFill>
                <a:latin typeface="Times New Roman"/>
                <a:cs typeface="Times New Roman"/>
              </a:rPr>
              <a:t> </a:t>
            </a:r>
            <a:r>
              <a:rPr dirty="0">
                <a:solidFill>
                  <a:schemeClr val="bg1"/>
                </a:solidFill>
                <a:latin typeface="Times New Roman"/>
                <a:cs typeface="Times New Roman"/>
              </a:rPr>
              <a:t>I/O</a:t>
            </a:r>
            <a:r>
              <a:rPr spc="15" dirty="0">
                <a:solidFill>
                  <a:schemeClr val="bg1"/>
                </a:solidFill>
                <a:latin typeface="Times New Roman"/>
                <a:cs typeface="Times New Roman"/>
              </a:rPr>
              <a:t> </a:t>
            </a:r>
            <a:r>
              <a:rPr spc="-25" dirty="0">
                <a:solidFill>
                  <a:schemeClr val="bg1"/>
                </a:solidFill>
              </a:rPr>
              <a:t>验证等待型任务优势</a:t>
            </a:r>
          </a:p>
        </p:txBody>
      </p:sp>
      <p:sp>
        <p:nvSpPr>
          <p:cNvPr id="3" name="object 3"/>
          <p:cNvSpPr/>
          <p:nvPr/>
        </p:nvSpPr>
        <p:spPr>
          <a:xfrm>
            <a:off x="0" y="252052"/>
            <a:ext cx="4608195" cy="0"/>
          </a:xfrm>
          <a:custGeom>
            <a:avLst/>
            <a:gdLst/>
            <a:ahLst/>
            <a:cxnLst/>
            <a:rect l="l" t="t" r="r" b="b"/>
            <a:pathLst>
              <a:path w="4608195">
                <a:moveTo>
                  <a:pt x="0" y="0"/>
                </a:moveTo>
                <a:lnTo>
                  <a:pt x="4608060" y="0"/>
                </a:lnTo>
              </a:path>
            </a:pathLst>
          </a:custGeom>
          <a:ln w="12652">
            <a:solidFill>
              <a:srgbClr val="1B4681"/>
            </a:solidFill>
          </a:ln>
        </p:spPr>
        <p:txBody>
          <a:bodyPr wrap="square" lIns="0" tIns="0" rIns="0" bIns="0" rtlCol="0"/>
          <a:lstStyle/>
          <a:p>
            <a:endParaRPr/>
          </a:p>
        </p:txBody>
      </p:sp>
      <p:pic>
        <p:nvPicPr>
          <p:cNvPr id="4" name="object 4"/>
          <p:cNvPicPr/>
          <p:nvPr/>
        </p:nvPicPr>
        <p:blipFill>
          <a:blip r:embed="rId3" cstate="print"/>
          <a:stretch>
            <a:fillRect/>
          </a:stretch>
        </p:blipFill>
        <p:spPr>
          <a:xfrm>
            <a:off x="273121" y="756990"/>
            <a:ext cx="2347800" cy="1568686"/>
          </a:xfrm>
          <a:prstGeom prst="rect">
            <a:avLst/>
          </a:prstGeom>
        </p:spPr>
      </p:pic>
      <p:grpSp>
        <p:nvGrpSpPr>
          <p:cNvPr id="5" name="object 5"/>
          <p:cNvGrpSpPr/>
          <p:nvPr/>
        </p:nvGrpSpPr>
        <p:grpSpPr>
          <a:xfrm>
            <a:off x="3067995" y="820629"/>
            <a:ext cx="30480" cy="30480"/>
            <a:chOff x="3067995" y="820629"/>
            <a:chExt cx="30480" cy="30480"/>
          </a:xfrm>
        </p:grpSpPr>
        <p:sp>
          <p:nvSpPr>
            <p:cNvPr id="6" name="object 6"/>
            <p:cNvSpPr/>
            <p:nvPr/>
          </p:nvSpPr>
          <p:spPr>
            <a:xfrm>
              <a:off x="3070526" y="823159"/>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7" name="object 7"/>
            <p:cNvSpPr/>
            <p:nvPr/>
          </p:nvSpPr>
          <p:spPr>
            <a:xfrm>
              <a:off x="3070526" y="823159"/>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8" name="object 8"/>
          <p:cNvGrpSpPr/>
          <p:nvPr/>
        </p:nvGrpSpPr>
        <p:grpSpPr>
          <a:xfrm>
            <a:off x="3067995" y="1030661"/>
            <a:ext cx="30480" cy="30480"/>
            <a:chOff x="3067995" y="1030661"/>
            <a:chExt cx="30480" cy="30480"/>
          </a:xfrm>
        </p:grpSpPr>
        <p:sp>
          <p:nvSpPr>
            <p:cNvPr id="9" name="object 9"/>
            <p:cNvSpPr/>
            <p:nvPr/>
          </p:nvSpPr>
          <p:spPr>
            <a:xfrm>
              <a:off x="3070526" y="1033192"/>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0" name="object 10"/>
            <p:cNvSpPr/>
            <p:nvPr/>
          </p:nvSpPr>
          <p:spPr>
            <a:xfrm>
              <a:off x="3070526" y="1033192"/>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1" name="object 11"/>
          <p:cNvGrpSpPr/>
          <p:nvPr/>
        </p:nvGrpSpPr>
        <p:grpSpPr>
          <a:xfrm>
            <a:off x="3067995" y="1240694"/>
            <a:ext cx="30480" cy="30480"/>
            <a:chOff x="3067995" y="1240694"/>
            <a:chExt cx="30480" cy="30480"/>
          </a:xfrm>
        </p:grpSpPr>
        <p:sp>
          <p:nvSpPr>
            <p:cNvPr id="12" name="object 12"/>
            <p:cNvSpPr/>
            <p:nvPr/>
          </p:nvSpPr>
          <p:spPr>
            <a:xfrm>
              <a:off x="3070526" y="1243224"/>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3" name="object 13"/>
            <p:cNvSpPr/>
            <p:nvPr/>
          </p:nvSpPr>
          <p:spPr>
            <a:xfrm>
              <a:off x="3070526" y="1243224"/>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4" name="object 14"/>
          <p:cNvGrpSpPr/>
          <p:nvPr/>
        </p:nvGrpSpPr>
        <p:grpSpPr>
          <a:xfrm>
            <a:off x="3067995" y="1622799"/>
            <a:ext cx="30480" cy="30480"/>
            <a:chOff x="3067995" y="1622799"/>
            <a:chExt cx="30480" cy="30480"/>
          </a:xfrm>
        </p:grpSpPr>
        <p:sp>
          <p:nvSpPr>
            <p:cNvPr id="15" name="object 15"/>
            <p:cNvSpPr/>
            <p:nvPr/>
          </p:nvSpPr>
          <p:spPr>
            <a:xfrm>
              <a:off x="3070526" y="1625329"/>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6" name="object 16"/>
            <p:cNvSpPr/>
            <p:nvPr/>
          </p:nvSpPr>
          <p:spPr>
            <a:xfrm>
              <a:off x="3070526" y="1625329"/>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7" name="object 17"/>
          <p:cNvGrpSpPr/>
          <p:nvPr/>
        </p:nvGrpSpPr>
        <p:grpSpPr>
          <a:xfrm>
            <a:off x="2890545" y="1924723"/>
            <a:ext cx="1477645" cy="614680"/>
            <a:chOff x="2890545" y="1924723"/>
            <a:chExt cx="1477645" cy="614680"/>
          </a:xfrm>
        </p:grpSpPr>
        <p:sp>
          <p:nvSpPr>
            <p:cNvPr id="18" name="object 18"/>
            <p:cNvSpPr/>
            <p:nvPr/>
          </p:nvSpPr>
          <p:spPr>
            <a:xfrm>
              <a:off x="2944545" y="1991377"/>
              <a:ext cx="1369695" cy="506730"/>
            </a:xfrm>
            <a:custGeom>
              <a:avLst/>
              <a:gdLst/>
              <a:ahLst/>
              <a:cxnLst/>
              <a:rect l="l" t="t" r="r" b="b"/>
              <a:pathLst>
                <a:path w="1369695" h="506730">
                  <a:moveTo>
                    <a:pt x="1369477" y="0"/>
                  </a:moveTo>
                  <a:lnTo>
                    <a:pt x="0" y="0"/>
                  </a:lnTo>
                  <a:lnTo>
                    <a:pt x="0" y="506678"/>
                  </a:lnTo>
                  <a:lnTo>
                    <a:pt x="1369477" y="506678"/>
                  </a:lnTo>
                  <a:lnTo>
                    <a:pt x="1369477" y="0"/>
                  </a:lnTo>
                  <a:close/>
                </a:path>
              </a:pathLst>
            </a:custGeom>
            <a:solidFill>
              <a:srgbClr val="B2B2B2"/>
            </a:solidFill>
          </p:spPr>
          <p:txBody>
            <a:bodyPr wrap="square" lIns="0" tIns="0" rIns="0" bIns="0" rtlCol="0"/>
            <a:lstStyle/>
            <a:p>
              <a:endParaRPr/>
            </a:p>
          </p:txBody>
        </p:sp>
        <p:sp>
          <p:nvSpPr>
            <p:cNvPr id="19" name="object 19"/>
            <p:cNvSpPr/>
            <p:nvPr/>
          </p:nvSpPr>
          <p:spPr>
            <a:xfrm>
              <a:off x="2890545" y="1924723"/>
              <a:ext cx="1477645" cy="614680"/>
            </a:xfrm>
            <a:custGeom>
              <a:avLst/>
              <a:gdLst/>
              <a:ahLst/>
              <a:cxnLst/>
              <a:rect l="l" t="t" r="r" b="b"/>
              <a:pathLst>
                <a:path w="1477645" h="614680">
                  <a:moveTo>
                    <a:pt x="1423477" y="0"/>
                  </a:moveTo>
                  <a:lnTo>
                    <a:pt x="54000" y="0"/>
                  </a:lnTo>
                  <a:lnTo>
                    <a:pt x="32980" y="4243"/>
                  </a:lnTo>
                  <a:lnTo>
                    <a:pt x="15816" y="15816"/>
                  </a:lnTo>
                  <a:lnTo>
                    <a:pt x="4243" y="32980"/>
                  </a:lnTo>
                  <a:lnTo>
                    <a:pt x="0" y="54000"/>
                  </a:lnTo>
                  <a:lnTo>
                    <a:pt x="0" y="560678"/>
                  </a:lnTo>
                  <a:lnTo>
                    <a:pt x="4243" y="581698"/>
                  </a:lnTo>
                  <a:lnTo>
                    <a:pt x="15816" y="598862"/>
                  </a:lnTo>
                  <a:lnTo>
                    <a:pt x="32980" y="610435"/>
                  </a:lnTo>
                  <a:lnTo>
                    <a:pt x="54000" y="614679"/>
                  </a:lnTo>
                  <a:lnTo>
                    <a:pt x="1423477" y="614679"/>
                  </a:lnTo>
                  <a:lnTo>
                    <a:pt x="1444497" y="610435"/>
                  </a:lnTo>
                  <a:lnTo>
                    <a:pt x="1461661" y="598862"/>
                  </a:lnTo>
                  <a:lnTo>
                    <a:pt x="1473234" y="581698"/>
                  </a:lnTo>
                  <a:lnTo>
                    <a:pt x="1477478" y="560678"/>
                  </a:lnTo>
                  <a:lnTo>
                    <a:pt x="1477478" y="54000"/>
                  </a:lnTo>
                  <a:lnTo>
                    <a:pt x="1473234" y="32980"/>
                  </a:lnTo>
                  <a:lnTo>
                    <a:pt x="1461661" y="15816"/>
                  </a:lnTo>
                  <a:lnTo>
                    <a:pt x="1444497" y="4243"/>
                  </a:lnTo>
                  <a:lnTo>
                    <a:pt x="1423477" y="0"/>
                  </a:lnTo>
                  <a:close/>
                </a:path>
              </a:pathLst>
            </a:custGeom>
            <a:solidFill>
              <a:srgbClr val="BE581F"/>
            </a:solidFill>
          </p:spPr>
          <p:txBody>
            <a:bodyPr wrap="square" lIns="0" tIns="0" rIns="0" bIns="0" rtlCol="0"/>
            <a:lstStyle/>
            <a:p>
              <a:endParaRPr/>
            </a:p>
          </p:txBody>
        </p:sp>
        <p:sp>
          <p:nvSpPr>
            <p:cNvPr id="20" name="object 20"/>
            <p:cNvSpPr/>
            <p:nvPr/>
          </p:nvSpPr>
          <p:spPr>
            <a:xfrm>
              <a:off x="2890545" y="2136694"/>
              <a:ext cx="1477645" cy="403225"/>
            </a:xfrm>
            <a:custGeom>
              <a:avLst/>
              <a:gdLst/>
              <a:ahLst/>
              <a:cxnLst/>
              <a:rect l="l" t="t" r="r" b="b"/>
              <a:pathLst>
                <a:path w="1477645" h="403225">
                  <a:moveTo>
                    <a:pt x="1477478" y="0"/>
                  </a:moveTo>
                  <a:lnTo>
                    <a:pt x="0" y="0"/>
                  </a:lnTo>
                  <a:lnTo>
                    <a:pt x="0" y="348707"/>
                  </a:lnTo>
                  <a:lnTo>
                    <a:pt x="4243" y="369727"/>
                  </a:lnTo>
                  <a:lnTo>
                    <a:pt x="15816" y="386891"/>
                  </a:lnTo>
                  <a:lnTo>
                    <a:pt x="32980" y="398464"/>
                  </a:lnTo>
                  <a:lnTo>
                    <a:pt x="54000" y="402708"/>
                  </a:lnTo>
                  <a:lnTo>
                    <a:pt x="1423477" y="402708"/>
                  </a:lnTo>
                  <a:lnTo>
                    <a:pt x="1444497" y="398464"/>
                  </a:lnTo>
                  <a:lnTo>
                    <a:pt x="1461661" y="386891"/>
                  </a:lnTo>
                  <a:lnTo>
                    <a:pt x="1473234" y="369727"/>
                  </a:lnTo>
                  <a:lnTo>
                    <a:pt x="1477478" y="348707"/>
                  </a:lnTo>
                  <a:lnTo>
                    <a:pt x="1477478" y="0"/>
                  </a:lnTo>
                  <a:close/>
                </a:path>
              </a:pathLst>
            </a:custGeom>
            <a:solidFill>
              <a:srgbClr val="F8EEE8"/>
            </a:solidFill>
          </p:spPr>
          <p:txBody>
            <a:bodyPr wrap="square" lIns="0" tIns="0" rIns="0" bIns="0" rtlCol="0"/>
            <a:lstStyle/>
            <a:p>
              <a:endParaRPr/>
            </a:p>
          </p:txBody>
        </p:sp>
      </p:grpSp>
      <p:sp>
        <p:nvSpPr>
          <p:cNvPr id="21" name="object 21"/>
          <p:cNvSpPr txBox="1"/>
          <p:nvPr/>
        </p:nvSpPr>
        <p:spPr>
          <a:xfrm>
            <a:off x="2939148" y="677657"/>
            <a:ext cx="1399540" cy="1826895"/>
          </a:xfrm>
          <a:prstGeom prst="rect">
            <a:avLst/>
          </a:prstGeom>
        </p:spPr>
        <p:txBody>
          <a:bodyPr vert="horz" wrap="square" lIns="0" tIns="12700" rIns="0" bIns="0" rtlCol="0">
            <a:spAutoFit/>
          </a:bodyPr>
          <a:lstStyle/>
          <a:p>
            <a:pPr marL="227965" marR="5080">
              <a:lnSpc>
                <a:spcPct val="125299"/>
              </a:lnSpc>
              <a:spcBef>
                <a:spcPts val="100"/>
              </a:spcBef>
            </a:pPr>
            <a:r>
              <a:rPr sz="1100" spc="-20" dirty="0">
                <a:latin typeface="SimSun"/>
                <a:cs typeface="SimSun"/>
              </a:rPr>
              <a:t>协程：</a:t>
            </a:r>
            <a:r>
              <a:rPr sz="1100" spc="-10" dirty="0">
                <a:latin typeface="Times New Roman"/>
                <a:cs typeface="Times New Roman"/>
              </a:rPr>
              <a:t>asyncio.sleep</a:t>
            </a:r>
            <a:r>
              <a:rPr sz="1100" spc="-20" dirty="0">
                <a:latin typeface="SimSun"/>
                <a:cs typeface="SimSun"/>
              </a:rPr>
              <a:t>线程：</a:t>
            </a:r>
            <a:r>
              <a:rPr sz="1100" spc="-10" dirty="0">
                <a:latin typeface="Times New Roman"/>
                <a:cs typeface="Times New Roman"/>
              </a:rPr>
              <a:t>time.sleep</a:t>
            </a:r>
            <a:endParaRPr sz="1100">
              <a:latin typeface="Times New Roman"/>
              <a:cs typeface="Times New Roman"/>
            </a:endParaRPr>
          </a:p>
          <a:p>
            <a:pPr marL="227965">
              <a:lnSpc>
                <a:spcPct val="100000"/>
              </a:lnSpc>
              <a:spcBef>
                <a:spcPts val="335"/>
              </a:spcBef>
            </a:pPr>
            <a:r>
              <a:rPr sz="1100" spc="-20" dirty="0">
                <a:latin typeface="SimSun"/>
                <a:cs typeface="SimSun"/>
              </a:rPr>
              <a:t>任务数：</a:t>
            </a:r>
            <a:r>
              <a:rPr sz="1100" dirty="0">
                <a:latin typeface="Times New Roman"/>
                <a:cs typeface="Times New Roman"/>
              </a:rPr>
              <a:t>100</a:t>
            </a:r>
            <a:r>
              <a:rPr sz="1100" spc="-10" dirty="0">
                <a:latin typeface="Times New Roman"/>
                <a:cs typeface="Times New Roman"/>
              </a:rPr>
              <a:t> </a:t>
            </a:r>
            <a:r>
              <a:rPr sz="1100" spc="-50" dirty="0">
                <a:latin typeface="Cambria"/>
                <a:cs typeface="Cambria"/>
              </a:rPr>
              <a:t>∼</a:t>
            </a:r>
            <a:endParaRPr sz="1100">
              <a:latin typeface="Cambria"/>
              <a:cs typeface="Cambria"/>
            </a:endParaRPr>
          </a:p>
          <a:p>
            <a:pPr marL="227965">
              <a:lnSpc>
                <a:spcPct val="100000"/>
              </a:lnSpc>
              <a:spcBef>
                <a:spcPts val="35"/>
              </a:spcBef>
            </a:pPr>
            <a:r>
              <a:rPr sz="1100" spc="-10" dirty="0">
                <a:latin typeface="Times New Roman"/>
                <a:cs typeface="Times New Roman"/>
              </a:rPr>
              <a:t>10000</a:t>
            </a:r>
            <a:endParaRPr sz="1100">
              <a:latin typeface="Times New Roman"/>
              <a:cs typeface="Times New Roman"/>
            </a:endParaRPr>
          </a:p>
          <a:p>
            <a:pPr marL="227965" marR="46990">
              <a:lnSpc>
                <a:spcPct val="102600"/>
              </a:lnSpc>
              <a:spcBef>
                <a:spcPts val="300"/>
              </a:spcBef>
            </a:pPr>
            <a:r>
              <a:rPr sz="1100" spc="-15" dirty="0">
                <a:latin typeface="SimSun"/>
                <a:cs typeface="SimSun"/>
              </a:rPr>
              <a:t>等待：</a:t>
            </a:r>
            <a:r>
              <a:rPr sz="1100" dirty="0">
                <a:latin typeface="Times New Roman"/>
                <a:cs typeface="Times New Roman"/>
              </a:rPr>
              <a:t>10</a:t>
            </a:r>
            <a:r>
              <a:rPr sz="1100" spc="-5" dirty="0">
                <a:latin typeface="Times New Roman"/>
                <a:cs typeface="Times New Roman"/>
              </a:rPr>
              <a:t> / </a:t>
            </a:r>
            <a:r>
              <a:rPr sz="1100" dirty="0">
                <a:latin typeface="Times New Roman"/>
                <a:cs typeface="Times New Roman"/>
              </a:rPr>
              <a:t>50</a:t>
            </a:r>
            <a:r>
              <a:rPr sz="1100" spc="-5" dirty="0">
                <a:latin typeface="Times New Roman"/>
                <a:cs typeface="Times New Roman"/>
              </a:rPr>
              <a:t> / </a:t>
            </a:r>
            <a:r>
              <a:rPr sz="1100" spc="-25" dirty="0">
                <a:latin typeface="Times New Roman"/>
                <a:cs typeface="Times New Roman"/>
              </a:rPr>
              <a:t>100 ms</a:t>
            </a:r>
            <a:endParaRPr sz="1100">
              <a:latin typeface="Times New Roman"/>
              <a:cs typeface="Times New Roman"/>
            </a:endParaRPr>
          </a:p>
          <a:p>
            <a:pPr marL="12700">
              <a:lnSpc>
                <a:spcPct val="100000"/>
              </a:lnSpc>
              <a:spcBef>
                <a:spcPts val="459"/>
              </a:spcBef>
            </a:pPr>
            <a:r>
              <a:rPr sz="1200" spc="-30" dirty="0">
                <a:solidFill>
                  <a:srgbClr val="FFFFFF"/>
                </a:solidFill>
                <a:latin typeface="SimSun"/>
                <a:cs typeface="SimSun"/>
              </a:rPr>
              <a:t>实验结论</a:t>
            </a:r>
            <a:endParaRPr sz="1200">
              <a:latin typeface="SimSun"/>
              <a:cs typeface="SimSun"/>
            </a:endParaRPr>
          </a:p>
          <a:p>
            <a:pPr marL="12700" marR="24130">
              <a:lnSpc>
                <a:spcPts val="1200"/>
              </a:lnSpc>
              <a:spcBef>
                <a:spcPts val="580"/>
              </a:spcBef>
            </a:pPr>
            <a:r>
              <a:rPr sz="1100" dirty="0">
                <a:latin typeface="Times New Roman"/>
                <a:cs typeface="Times New Roman"/>
              </a:rPr>
              <a:t>10000</a:t>
            </a:r>
            <a:r>
              <a:rPr sz="1100" spc="-70" dirty="0">
                <a:latin typeface="Times New Roman"/>
                <a:cs typeface="Times New Roman"/>
              </a:rPr>
              <a:t> </a:t>
            </a:r>
            <a:r>
              <a:rPr sz="1100" spc="-55" dirty="0">
                <a:latin typeface="SimSun"/>
                <a:cs typeface="SimSun"/>
              </a:rPr>
              <a:t>任务、</a:t>
            </a:r>
            <a:r>
              <a:rPr sz="1100" dirty="0">
                <a:latin typeface="Times New Roman"/>
                <a:cs typeface="Times New Roman"/>
              </a:rPr>
              <a:t>100</a:t>
            </a:r>
            <a:r>
              <a:rPr sz="1100" spc="-70" dirty="0">
                <a:latin typeface="Times New Roman"/>
                <a:cs typeface="Times New Roman"/>
              </a:rPr>
              <a:t> </a:t>
            </a:r>
            <a:r>
              <a:rPr sz="1100" dirty="0">
                <a:latin typeface="Times New Roman"/>
                <a:cs typeface="Times New Roman"/>
              </a:rPr>
              <a:t>ms</a:t>
            </a:r>
            <a:r>
              <a:rPr sz="1100" spc="-70" dirty="0">
                <a:latin typeface="Times New Roman"/>
                <a:cs typeface="Times New Roman"/>
              </a:rPr>
              <a:t> </a:t>
            </a:r>
            <a:r>
              <a:rPr sz="1100" spc="-50" dirty="0">
                <a:latin typeface="SimSun"/>
                <a:cs typeface="SimSun"/>
              </a:rPr>
              <a:t>等</a:t>
            </a:r>
            <a:r>
              <a:rPr sz="1100" spc="-20" dirty="0">
                <a:latin typeface="SimSun"/>
                <a:cs typeface="SimSun"/>
              </a:rPr>
              <a:t>待：</a:t>
            </a:r>
            <a:r>
              <a:rPr sz="1100" b="1" spc="-10" dirty="0">
                <a:solidFill>
                  <a:srgbClr val="1C4682"/>
                </a:solidFill>
                <a:latin typeface="Times New Roman"/>
                <a:cs typeface="Times New Roman"/>
              </a:rPr>
              <a:t>18.06</a:t>
            </a:r>
            <a:r>
              <a:rPr sz="1100" b="1" spc="-65" dirty="0">
                <a:solidFill>
                  <a:srgbClr val="1C4682"/>
                </a:solidFill>
                <a:latin typeface="Times New Roman"/>
                <a:cs typeface="Times New Roman"/>
              </a:rPr>
              <a:t> </a:t>
            </a:r>
            <a:r>
              <a:rPr sz="1000" spc="-25" dirty="0">
                <a:latin typeface="SimSun"/>
                <a:cs typeface="SimSun"/>
              </a:rPr>
              <a:t>倍优势</a:t>
            </a:r>
            <a:endParaRPr sz="1000">
              <a:latin typeface="SimSun"/>
              <a:cs typeface="SimSun"/>
            </a:endParaRPr>
          </a:p>
        </p:txBody>
      </p:sp>
      <p:grpSp>
        <p:nvGrpSpPr>
          <p:cNvPr id="22" name="object 22"/>
          <p:cNvGrpSpPr/>
          <p:nvPr/>
        </p:nvGrpSpPr>
        <p:grpSpPr>
          <a:xfrm>
            <a:off x="0" y="3309520"/>
            <a:ext cx="4608195" cy="146685"/>
            <a:chOff x="0" y="3309520"/>
            <a:chExt cx="4608195" cy="146685"/>
          </a:xfrm>
        </p:grpSpPr>
        <p:sp>
          <p:nvSpPr>
            <p:cNvPr id="23" name="object 23"/>
            <p:cNvSpPr/>
            <p:nvPr/>
          </p:nvSpPr>
          <p:spPr>
            <a:xfrm>
              <a:off x="0" y="3309520"/>
              <a:ext cx="1464945" cy="146685"/>
            </a:xfrm>
            <a:custGeom>
              <a:avLst/>
              <a:gdLst/>
              <a:ahLst/>
              <a:cxnLst/>
              <a:rect l="l" t="t" r="r" b="b"/>
              <a:pathLst>
                <a:path w="1464945" h="146685">
                  <a:moveTo>
                    <a:pt x="1464490" y="146530"/>
                  </a:moveTo>
                  <a:lnTo>
                    <a:pt x="1464490" y="0"/>
                  </a:lnTo>
                  <a:lnTo>
                    <a:pt x="0" y="0"/>
                  </a:lnTo>
                  <a:lnTo>
                    <a:pt x="0" y="146530"/>
                  </a:lnTo>
                  <a:lnTo>
                    <a:pt x="1464490" y="146530"/>
                  </a:lnTo>
                  <a:close/>
                </a:path>
              </a:pathLst>
            </a:custGeom>
            <a:solidFill>
              <a:srgbClr val="4681B4"/>
            </a:solidFill>
          </p:spPr>
          <p:txBody>
            <a:bodyPr wrap="square" lIns="0" tIns="0" rIns="0" bIns="0" rtlCol="0"/>
            <a:lstStyle/>
            <a:p>
              <a:endParaRPr/>
            </a:p>
          </p:txBody>
        </p:sp>
        <p:sp>
          <p:nvSpPr>
            <p:cNvPr id="24" name="object 24"/>
            <p:cNvSpPr/>
            <p:nvPr/>
          </p:nvSpPr>
          <p:spPr>
            <a:xfrm>
              <a:off x="1464490" y="3309520"/>
              <a:ext cx="2672715" cy="146685"/>
            </a:xfrm>
            <a:custGeom>
              <a:avLst/>
              <a:gdLst/>
              <a:ahLst/>
              <a:cxnLst/>
              <a:rect l="l" t="t" r="r" b="b"/>
              <a:pathLst>
                <a:path w="2672715" h="146685">
                  <a:moveTo>
                    <a:pt x="2672682" y="0"/>
                  </a:moveTo>
                  <a:lnTo>
                    <a:pt x="0" y="0"/>
                  </a:lnTo>
                  <a:lnTo>
                    <a:pt x="0" y="146530"/>
                  </a:lnTo>
                  <a:lnTo>
                    <a:pt x="2672682" y="146530"/>
                  </a:lnTo>
                  <a:lnTo>
                    <a:pt x="2672682" y="0"/>
                  </a:lnTo>
                  <a:close/>
                </a:path>
              </a:pathLst>
            </a:custGeom>
            <a:solidFill>
              <a:srgbClr val="1B4681"/>
            </a:solidFill>
          </p:spPr>
          <p:txBody>
            <a:bodyPr wrap="square" lIns="0" tIns="0" rIns="0" bIns="0" rtlCol="0"/>
            <a:lstStyle/>
            <a:p>
              <a:endParaRPr/>
            </a:p>
          </p:txBody>
        </p:sp>
        <p:sp>
          <p:nvSpPr>
            <p:cNvPr id="25" name="object 25"/>
            <p:cNvSpPr/>
            <p:nvPr/>
          </p:nvSpPr>
          <p:spPr>
            <a:xfrm>
              <a:off x="4137103" y="3309520"/>
              <a:ext cx="471170" cy="146685"/>
            </a:xfrm>
            <a:custGeom>
              <a:avLst/>
              <a:gdLst/>
              <a:ahLst/>
              <a:cxnLst/>
              <a:rect l="l" t="t" r="r" b="b"/>
              <a:pathLst>
                <a:path w="471170" h="146685">
                  <a:moveTo>
                    <a:pt x="470836" y="0"/>
                  </a:moveTo>
                  <a:lnTo>
                    <a:pt x="0" y="0"/>
                  </a:lnTo>
                  <a:lnTo>
                    <a:pt x="0" y="146530"/>
                  </a:lnTo>
                  <a:lnTo>
                    <a:pt x="470836" y="146530"/>
                  </a:lnTo>
                  <a:lnTo>
                    <a:pt x="470836" y="0"/>
                  </a:lnTo>
                  <a:close/>
                </a:path>
              </a:pathLst>
            </a:custGeom>
            <a:solidFill>
              <a:srgbClr val="0A2750"/>
            </a:solidFill>
          </p:spPr>
          <p:txBody>
            <a:bodyPr wrap="square" lIns="0" tIns="0" rIns="0" bIns="0" rtlCol="0"/>
            <a:lstStyle/>
            <a:p>
              <a:endParaRPr/>
            </a:p>
          </p:txBody>
        </p:sp>
      </p:grpSp>
      <p:sp>
        <p:nvSpPr>
          <p:cNvPr id="26" name="object 26"/>
          <p:cNvSpPr txBox="1">
            <a:spLocks noGrp="1"/>
          </p:cNvSpPr>
          <p:nvPr>
            <p:ph type="dt" sz="half" idx="6"/>
          </p:nvPr>
        </p:nvSpPr>
        <p:spPr>
          <a:prstGeom prst="rect">
            <a:avLst/>
          </a:prstGeom>
        </p:spPr>
        <p:txBody>
          <a:bodyPr vert="horz" wrap="square" lIns="0" tIns="1270" rIns="0" bIns="0" rtlCol="0">
            <a:spAutoFit/>
          </a:bodyPr>
          <a:lstStyle/>
          <a:p>
            <a:pPr marL="12700">
              <a:lnSpc>
                <a:spcPct val="100000"/>
              </a:lnSpc>
              <a:spcBef>
                <a:spcPts val="10"/>
              </a:spcBef>
            </a:pPr>
            <a:r>
              <a:rPr spc="35" dirty="0"/>
              <a:t>尚文轩 南开大学</a:t>
            </a:r>
          </a:p>
        </p:txBody>
      </p:sp>
      <p:sp>
        <p:nvSpPr>
          <p:cNvPr id="27" name="object 27"/>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spc="-30" dirty="0">
                <a:latin typeface="Times New Roman"/>
                <a:cs typeface="Times New Roman"/>
              </a:rPr>
              <a:t>OT-</a:t>
            </a:r>
            <a:r>
              <a:rPr spc="-20" dirty="0"/>
              <a:t>协程技术调研</a:t>
            </a:r>
          </a:p>
        </p:txBody>
      </p:sp>
      <p:sp>
        <p:nvSpPr>
          <p:cNvPr id="28" name="object 28"/>
          <p:cNvSpPr txBox="1">
            <a:spLocks noGrp="1"/>
          </p:cNvSpPr>
          <p:nvPr>
            <p:ph type="sldNum" sz="quarter" idx="7"/>
          </p:nvPr>
        </p:nvSpPr>
        <p:spPr>
          <a:prstGeom prst="rect">
            <a:avLst/>
          </a:prstGeom>
        </p:spPr>
        <p:txBody>
          <a:bodyPr vert="horz" wrap="square" lIns="0" tIns="3810" rIns="0" bIns="0" rtlCol="0">
            <a:spAutoFit/>
          </a:bodyPr>
          <a:lstStyle/>
          <a:p>
            <a:pPr marL="37465">
              <a:lnSpc>
                <a:spcPct val="100000"/>
              </a:lnSpc>
              <a:spcBef>
                <a:spcPts val="30"/>
              </a:spcBef>
            </a:pPr>
            <a:fld id="{81D60167-4931-47E6-BA6A-407CBD079E47}" type="slidenum">
              <a:rPr spc="-25" dirty="0"/>
              <a:t>12</a:t>
            </a:fld>
            <a:endParaRPr spc="-25" dirty="0"/>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8" name="图片 27">
            <a:extLst>
              <a:ext uri="{FF2B5EF4-FFF2-40B4-BE49-F238E27FC236}">
                <a16:creationId xmlns:a16="http://schemas.microsoft.com/office/drawing/2014/main" id="{4C5990DD-91CB-D358-5403-E0786D1B394B}"/>
              </a:ext>
            </a:extLst>
          </p:cNvPr>
          <p:cNvPicPr>
            <a:picLocks noChangeAspect="1"/>
          </p:cNvPicPr>
          <p:nvPr/>
        </p:nvPicPr>
        <p:blipFill>
          <a:blip r:embed="rId2"/>
          <a:stretch>
            <a:fillRect/>
          </a:stretch>
        </p:blipFill>
        <p:spPr>
          <a:xfrm>
            <a:off x="0" y="1"/>
            <a:ext cx="4610100" cy="250672"/>
          </a:xfrm>
          <a:prstGeom prst="rect">
            <a:avLst/>
          </a:prstGeom>
        </p:spPr>
      </p:pic>
      <p:sp>
        <p:nvSpPr>
          <p:cNvPr id="2" name="object 2"/>
          <p:cNvSpPr/>
          <p:nvPr/>
        </p:nvSpPr>
        <p:spPr>
          <a:xfrm>
            <a:off x="0" y="252052"/>
            <a:ext cx="4608195" cy="0"/>
          </a:xfrm>
          <a:custGeom>
            <a:avLst/>
            <a:gdLst/>
            <a:ahLst/>
            <a:cxnLst/>
            <a:rect l="l" t="t" r="r" b="b"/>
            <a:pathLst>
              <a:path w="4608195">
                <a:moveTo>
                  <a:pt x="0" y="0"/>
                </a:moveTo>
                <a:lnTo>
                  <a:pt x="4608060" y="0"/>
                </a:lnTo>
              </a:path>
            </a:pathLst>
          </a:custGeom>
          <a:ln w="12652">
            <a:solidFill>
              <a:srgbClr val="1B4681"/>
            </a:solidFill>
          </a:ln>
        </p:spPr>
        <p:txBody>
          <a:bodyPr wrap="square" lIns="0" tIns="0" rIns="0" bIns="0" rtlCol="0"/>
          <a:lstStyle/>
          <a:p>
            <a:endParaRPr/>
          </a:p>
        </p:txBody>
      </p:sp>
      <p:pic>
        <p:nvPicPr>
          <p:cNvPr id="3" name="object 3"/>
          <p:cNvPicPr/>
          <p:nvPr/>
        </p:nvPicPr>
        <p:blipFill>
          <a:blip r:embed="rId3" cstate="print"/>
          <a:stretch>
            <a:fillRect/>
          </a:stretch>
        </p:blipFill>
        <p:spPr>
          <a:xfrm>
            <a:off x="273121" y="614521"/>
            <a:ext cx="2347800" cy="1568686"/>
          </a:xfrm>
          <a:prstGeom prst="rect">
            <a:avLst/>
          </a:prstGeom>
        </p:spPr>
      </p:pic>
      <p:grpSp>
        <p:nvGrpSpPr>
          <p:cNvPr id="4" name="object 4"/>
          <p:cNvGrpSpPr/>
          <p:nvPr/>
        </p:nvGrpSpPr>
        <p:grpSpPr>
          <a:xfrm>
            <a:off x="3067995" y="679773"/>
            <a:ext cx="30480" cy="30480"/>
            <a:chOff x="3067995" y="679773"/>
            <a:chExt cx="30480" cy="30480"/>
          </a:xfrm>
        </p:grpSpPr>
        <p:sp>
          <p:nvSpPr>
            <p:cNvPr id="5" name="object 5"/>
            <p:cNvSpPr/>
            <p:nvPr/>
          </p:nvSpPr>
          <p:spPr>
            <a:xfrm>
              <a:off x="3070526" y="682304"/>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6" name="object 6"/>
            <p:cNvSpPr/>
            <p:nvPr/>
          </p:nvSpPr>
          <p:spPr>
            <a:xfrm>
              <a:off x="3070526" y="682304"/>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7" name="object 7"/>
          <p:cNvGrpSpPr/>
          <p:nvPr/>
        </p:nvGrpSpPr>
        <p:grpSpPr>
          <a:xfrm>
            <a:off x="3067995" y="1061878"/>
            <a:ext cx="30480" cy="30480"/>
            <a:chOff x="3067995" y="1061878"/>
            <a:chExt cx="30480" cy="30480"/>
          </a:xfrm>
        </p:grpSpPr>
        <p:sp>
          <p:nvSpPr>
            <p:cNvPr id="8" name="object 8"/>
            <p:cNvSpPr/>
            <p:nvPr/>
          </p:nvSpPr>
          <p:spPr>
            <a:xfrm>
              <a:off x="3070526" y="1064408"/>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9" name="object 9"/>
            <p:cNvSpPr/>
            <p:nvPr/>
          </p:nvSpPr>
          <p:spPr>
            <a:xfrm>
              <a:off x="3070526" y="1064408"/>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0" name="object 10"/>
          <p:cNvGrpSpPr/>
          <p:nvPr/>
        </p:nvGrpSpPr>
        <p:grpSpPr>
          <a:xfrm>
            <a:off x="3067995" y="1443983"/>
            <a:ext cx="30480" cy="30480"/>
            <a:chOff x="3067995" y="1443983"/>
            <a:chExt cx="30480" cy="30480"/>
          </a:xfrm>
        </p:grpSpPr>
        <p:sp>
          <p:nvSpPr>
            <p:cNvPr id="11" name="object 11"/>
            <p:cNvSpPr/>
            <p:nvPr/>
          </p:nvSpPr>
          <p:spPr>
            <a:xfrm>
              <a:off x="3070526" y="1446513"/>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2" name="object 12"/>
            <p:cNvSpPr/>
            <p:nvPr/>
          </p:nvSpPr>
          <p:spPr>
            <a:xfrm>
              <a:off x="3070526" y="1446513"/>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3" name="object 13"/>
          <p:cNvGrpSpPr/>
          <p:nvPr/>
        </p:nvGrpSpPr>
        <p:grpSpPr>
          <a:xfrm>
            <a:off x="3067995" y="1826088"/>
            <a:ext cx="30480" cy="30480"/>
            <a:chOff x="3067995" y="1826088"/>
            <a:chExt cx="30480" cy="30480"/>
          </a:xfrm>
        </p:grpSpPr>
        <p:sp>
          <p:nvSpPr>
            <p:cNvPr id="14" name="object 14"/>
            <p:cNvSpPr/>
            <p:nvPr/>
          </p:nvSpPr>
          <p:spPr>
            <a:xfrm>
              <a:off x="3070526" y="1828618"/>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5" name="object 15"/>
            <p:cNvSpPr/>
            <p:nvPr/>
          </p:nvSpPr>
          <p:spPr>
            <a:xfrm>
              <a:off x="3070526" y="1828618"/>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6" name="object 16"/>
          <p:cNvGrpSpPr/>
          <p:nvPr/>
        </p:nvGrpSpPr>
        <p:grpSpPr>
          <a:xfrm>
            <a:off x="2890545" y="2140201"/>
            <a:ext cx="1477645" cy="613410"/>
            <a:chOff x="2890545" y="2140201"/>
            <a:chExt cx="1477645" cy="613410"/>
          </a:xfrm>
        </p:grpSpPr>
        <p:sp>
          <p:nvSpPr>
            <p:cNvPr id="17" name="object 17"/>
            <p:cNvSpPr/>
            <p:nvPr/>
          </p:nvSpPr>
          <p:spPr>
            <a:xfrm>
              <a:off x="2944545" y="2206854"/>
              <a:ext cx="1369695" cy="505459"/>
            </a:xfrm>
            <a:custGeom>
              <a:avLst/>
              <a:gdLst/>
              <a:ahLst/>
              <a:cxnLst/>
              <a:rect l="l" t="t" r="r" b="b"/>
              <a:pathLst>
                <a:path w="1369695" h="505460">
                  <a:moveTo>
                    <a:pt x="1369477" y="0"/>
                  </a:moveTo>
                  <a:lnTo>
                    <a:pt x="0" y="0"/>
                  </a:lnTo>
                  <a:lnTo>
                    <a:pt x="0" y="504916"/>
                  </a:lnTo>
                  <a:lnTo>
                    <a:pt x="1369477" y="504916"/>
                  </a:lnTo>
                  <a:lnTo>
                    <a:pt x="1369477" y="0"/>
                  </a:lnTo>
                  <a:close/>
                </a:path>
              </a:pathLst>
            </a:custGeom>
            <a:solidFill>
              <a:srgbClr val="B2B2B2"/>
            </a:solidFill>
          </p:spPr>
          <p:txBody>
            <a:bodyPr wrap="square" lIns="0" tIns="0" rIns="0" bIns="0" rtlCol="0"/>
            <a:lstStyle/>
            <a:p>
              <a:endParaRPr/>
            </a:p>
          </p:txBody>
        </p:sp>
        <p:sp>
          <p:nvSpPr>
            <p:cNvPr id="18" name="object 18"/>
            <p:cNvSpPr/>
            <p:nvPr/>
          </p:nvSpPr>
          <p:spPr>
            <a:xfrm>
              <a:off x="2890545" y="2140201"/>
              <a:ext cx="1477645" cy="613410"/>
            </a:xfrm>
            <a:custGeom>
              <a:avLst/>
              <a:gdLst/>
              <a:ahLst/>
              <a:cxnLst/>
              <a:rect l="l" t="t" r="r" b="b"/>
              <a:pathLst>
                <a:path w="1477645" h="613410">
                  <a:moveTo>
                    <a:pt x="1423477" y="0"/>
                  </a:moveTo>
                  <a:lnTo>
                    <a:pt x="54000" y="0"/>
                  </a:lnTo>
                  <a:lnTo>
                    <a:pt x="32980" y="4243"/>
                  </a:lnTo>
                  <a:lnTo>
                    <a:pt x="15816" y="15816"/>
                  </a:lnTo>
                  <a:lnTo>
                    <a:pt x="4243" y="32980"/>
                  </a:lnTo>
                  <a:lnTo>
                    <a:pt x="0" y="54000"/>
                  </a:lnTo>
                  <a:lnTo>
                    <a:pt x="0" y="558916"/>
                  </a:lnTo>
                  <a:lnTo>
                    <a:pt x="4243" y="579936"/>
                  </a:lnTo>
                  <a:lnTo>
                    <a:pt x="15816" y="597101"/>
                  </a:lnTo>
                  <a:lnTo>
                    <a:pt x="32980" y="608673"/>
                  </a:lnTo>
                  <a:lnTo>
                    <a:pt x="54000" y="612917"/>
                  </a:lnTo>
                  <a:lnTo>
                    <a:pt x="1423477" y="612917"/>
                  </a:lnTo>
                  <a:lnTo>
                    <a:pt x="1444497" y="608673"/>
                  </a:lnTo>
                  <a:lnTo>
                    <a:pt x="1461661" y="597101"/>
                  </a:lnTo>
                  <a:lnTo>
                    <a:pt x="1473234" y="579936"/>
                  </a:lnTo>
                  <a:lnTo>
                    <a:pt x="1477478" y="558916"/>
                  </a:lnTo>
                  <a:lnTo>
                    <a:pt x="1477478" y="54000"/>
                  </a:lnTo>
                  <a:lnTo>
                    <a:pt x="1473234" y="32980"/>
                  </a:lnTo>
                  <a:lnTo>
                    <a:pt x="1461661" y="15816"/>
                  </a:lnTo>
                  <a:lnTo>
                    <a:pt x="1444497" y="4243"/>
                  </a:lnTo>
                  <a:lnTo>
                    <a:pt x="1423477" y="0"/>
                  </a:lnTo>
                  <a:close/>
                </a:path>
              </a:pathLst>
            </a:custGeom>
            <a:solidFill>
              <a:srgbClr val="BE581F"/>
            </a:solidFill>
          </p:spPr>
          <p:txBody>
            <a:bodyPr wrap="square" lIns="0" tIns="0" rIns="0" bIns="0" rtlCol="0"/>
            <a:lstStyle/>
            <a:p>
              <a:endParaRPr/>
            </a:p>
          </p:txBody>
        </p:sp>
        <p:sp>
          <p:nvSpPr>
            <p:cNvPr id="19" name="object 19"/>
            <p:cNvSpPr/>
            <p:nvPr/>
          </p:nvSpPr>
          <p:spPr>
            <a:xfrm>
              <a:off x="2890545" y="2352172"/>
              <a:ext cx="1477645" cy="401320"/>
            </a:xfrm>
            <a:custGeom>
              <a:avLst/>
              <a:gdLst/>
              <a:ahLst/>
              <a:cxnLst/>
              <a:rect l="l" t="t" r="r" b="b"/>
              <a:pathLst>
                <a:path w="1477645" h="401319">
                  <a:moveTo>
                    <a:pt x="1477478" y="0"/>
                  </a:moveTo>
                  <a:lnTo>
                    <a:pt x="0" y="0"/>
                  </a:lnTo>
                  <a:lnTo>
                    <a:pt x="0" y="346945"/>
                  </a:lnTo>
                  <a:lnTo>
                    <a:pt x="4243" y="367965"/>
                  </a:lnTo>
                  <a:lnTo>
                    <a:pt x="15816" y="385129"/>
                  </a:lnTo>
                  <a:lnTo>
                    <a:pt x="32980" y="396702"/>
                  </a:lnTo>
                  <a:lnTo>
                    <a:pt x="54000" y="400946"/>
                  </a:lnTo>
                  <a:lnTo>
                    <a:pt x="1423477" y="400946"/>
                  </a:lnTo>
                  <a:lnTo>
                    <a:pt x="1444497" y="396702"/>
                  </a:lnTo>
                  <a:lnTo>
                    <a:pt x="1461661" y="385129"/>
                  </a:lnTo>
                  <a:lnTo>
                    <a:pt x="1473234" y="367965"/>
                  </a:lnTo>
                  <a:lnTo>
                    <a:pt x="1477478" y="346945"/>
                  </a:lnTo>
                  <a:lnTo>
                    <a:pt x="1477478" y="0"/>
                  </a:lnTo>
                  <a:close/>
                </a:path>
              </a:pathLst>
            </a:custGeom>
            <a:solidFill>
              <a:srgbClr val="F8EEE8"/>
            </a:solidFill>
          </p:spPr>
          <p:txBody>
            <a:bodyPr wrap="square" lIns="0" tIns="0" rIns="0" bIns="0" rtlCol="0"/>
            <a:lstStyle/>
            <a:p>
              <a:endParaRPr/>
            </a:p>
          </p:txBody>
        </p:sp>
      </p:grpSp>
      <p:sp>
        <p:nvSpPr>
          <p:cNvPr id="20" name="object 20"/>
          <p:cNvSpPr txBox="1"/>
          <p:nvPr/>
        </p:nvSpPr>
        <p:spPr>
          <a:xfrm>
            <a:off x="105130" y="42861"/>
            <a:ext cx="4328160" cy="2676525"/>
          </a:xfrm>
          <a:prstGeom prst="rect">
            <a:avLst/>
          </a:prstGeom>
        </p:spPr>
        <p:txBody>
          <a:bodyPr vert="horz" wrap="square" lIns="0" tIns="11430" rIns="0" bIns="0" rtlCol="0">
            <a:spAutoFit/>
          </a:bodyPr>
          <a:lstStyle/>
          <a:p>
            <a:pPr marL="12700">
              <a:lnSpc>
                <a:spcPct val="100000"/>
              </a:lnSpc>
              <a:spcBef>
                <a:spcPts val="90"/>
              </a:spcBef>
            </a:pPr>
            <a:r>
              <a:rPr sz="1100" spc="-20" dirty="0">
                <a:solidFill>
                  <a:schemeClr val="bg1"/>
                </a:solidFill>
                <a:latin typeface="SimSun"/>
                <a:cs typeface="SimSun"/>
              </a:rPr>
              <a:t>实验二：</a:t>
            </a:r>
            <a:r>
              <a:rPr sz="1100" dirty="0">
                <a:solidFill>
                  <a:schemeClr val="bg1"/>
                </a:solidFill>
                <a:latin typeface="Times New Roman"/>
                <a:cs typeface="Times New Roman"/>
              </a:rPr>
              <a:t>Local</a:t>
            </a:r>
            <a:r>
              <a:rPr sz="1100" spc="-5" dirty="0">
                <a:solidFill>
                  <a:schemeClr val="bg1"/>
                </a:solidFill>
                <a:latin typeface="Times New Roman"/>
                <a:cs typeface="Times New Roman"/>
              </a:rPr>
              <a:t> </a:t>
            </a:r>
            <a:r>
              <a:rPr sz="1100" spc="-10" dirty="0">
                <a:solidFill>
                  <a:schemeClr val="bg1"/>
                </a:solidFill>
                <a:latin typeface="Times New Roman"/>
                <a:cs typeface="Times New Roman"/>
              </a:rPr>
              <a:t>HTTP</a:t>
            </a:r>
            <a:r>
              <a:rPr sz="1100" spc="-5" dirty="0">
                <a:solidFill>
                  <a:schemeClr val="bg1"/>
                </a:solidFill>
                <a:latin typeface="Times New Roman"/>
                <a:cs typeface="Times New Roman"/>
              </a:rPr>
              <a:t> </a:t>
            </a:r>
            <a:r>
              <a:rPr sz="1100" spc="-55" dirty="0">
                <a:solidFill>
                  <a:schemeClr val="bg1"/>
                </a:solidFill>
                <a:latin typeface="SimSun"/>
                <a:cs typeface="SimSun"/>
              </a:rPr>
              <a:t>更贴近真实网络 </a:t>
            </a:r>
            <a:r>
              <a:rPr sz="1100" dirty="0">
                <a:solidFill>
                  <a:schemeClr val="bg1"/>
                </a:solidFill>
                <a:latin typeface="Times New Roman"/>
                <a:cs typeface="Times New Roman"/>
              </a:rPr>
              <a:t>I/O</a:t>
            </a:r>
            <a:r>
              <a:rPr sz="1100" spc="-5" dirty="0">
                <a:solidFill>
                  <a:schemeClr val="bg1"/>
                </a:solidFill>
                <a:latin typeface="Times New Roman"/>
                <a:cs typeface="Times New Roman"/>
              </a:rPr>
              <a:t> </a:t>
            </a:r>
            <a:r>
              <a:rPr sz="1100" spc="-35" dirty="0">
                <a:solidFill>
                  <a:schemeClr val="bg1"/>
                </a:solidFill>
                <a:latin typeface="SimSun"/>
                <a:cs typeface="SimSun"/>
              </a:rPr>
              <a:t>场景</a:t>
            </a:r>
            <a:endParaRPr sz="1100" dirty="0">
              <a:solidFill>
                <a:schemeClr val="bg1"/>
              </a:solidFill>
              <a:latin typeface="SimSun"/>
              <a:cs typeface="SimSun"/>
            </a:endParaRPr>
          </a:p>
          <a:p>
            <a:pPr>
              <a:lnSpc>
                <a:spcPct val="100000"/>
              </a:lnSpc>
            </a:pPr>
            <a:endParaRPr sz="1100" dirty="0">
              <a:latin typeface="SimSun"/>
              <a:cs typeface="SimSun"/>
            </a:endParaRPr>
          </a:p>
          <a:p>
            <a:pPr>
              <a:lnSpc>
                <a:spcPct val="100000"/>
              </a:lnSpc>
              <a:spcBef>
                <a:spcPts val="95"/>
              </a:spcBef>
            </a:pPr>
            <a:endParaRPr sz="1100" dirty="0">
              <a:latin typeface="SimSun"/>
              <a:cs typeface="SimSun"/>
            </a:endParaRPr>
          </a:p>
          <a:p>
            <a:pPr marL="3061970">
              <a:lnSpc>
                <a:spcPct val="100000"/>
              </a:lnSpc>
            </a:pPr>
            <a:r>
              <a:rPr sz="1100" spc="-25" dirty="0">
                <a:latin typeface="SimSun"/>
                <a:cs typeface="SimSun"/>
              </a:rPr>
              <a:t>服务端：本地回环</a:t>
            </a:r>
            <a:endParaRPr sz="1100" dirty="0">
              <a:latin typeface="SimSun"/>
              <a:cs typeface="SimSun"/>
            </a:endParaRPr>
          </a:p>
          <a:p>
            <a:pPr marL="3061970">
              <a:lnSpc>
                <a:spcPct val="100000"/>
              </a:lnSpc>
              <a:spcBef>
                <a:spcPts val="35"/>
              </a:spcBef>
            </a:pPr>
            <a:r>
              <a:rPr sz="1100" spc="-20" dirty="0">
                <a:latin typeface="Times New Roman"/>
                <a:cs typeface="Times New Roman"/>
              </a:rPr>
              <a:t>HTTP</a:t>
            </a:r>
            <a:endParaRPr sz="1100" dirty="0">
              <a:latin typeface="Times New Roman"/>
              <a:cs typeface="Times New Roman"/>
            </a:endParaRPr>
          </a:p>
          <a:p>
            <a:pPr marL="3061970" marR="344170">
              <a:lnSpc>
                <a:spcPct val="102699"/>
              </a:lnSpc>
              <a:spcBef>
                <a:spcPts val="300"/>
              </a:spcBef>
            </a:pPr>
            <a:r>
              <a:rPr sz="1100" spc="-15" dirty="0">
                <a:latin typeface="SimSun"/>
                <a:cs typeface="SimSun"/>
              </a:rPr>
              <a:t>协程：</a:t>
            </a:r>
            <a:r>
              <a:rPr sz="1100" dirty="0">
                <a:latin typeface="Times New Roman"/>
                <a:cs typeface="Times New Roman"/>
              </a:rPr>
              <a:t>aiohttp</a:t>
            </a:r>
            <a:r>
              <a:rPr sz="1100" spc="-40" dirty="0">
                <a:latin typeface="Times New Roman"/>
                <a:cs typeface="Times New Roman"/>
              </a:rPr>
              <a:t> +</a:t>
            </a:r>
            <a:r>
              <a:rPr sz="1100" spc="-50" dirty="0">
                <a:latin typeface="Times New Roman"/>
                <a:cs typeface="Times New Roman"/>
              </a:rPr>
              <a:t> </a:t>
            </a:r>
            <a:r>
              <a:rPr sz="1100" spc="-10" dirty="0">
                <a:latin typeface="Times New Roman"/>
                <a:cs typeface="Times New Roman"/>
              </a:rPr>
              <a:t>asyncio</a:t>
            </a:r>
            <a:endParaRPr sz="1100" dirty="0">
              <a:latin typeface="Times New Roman"/>
              <a:cs typeface="Times New Roman"/>
            </a:endParaRPr>
          </a:p>
          <a:p>
            <a:pPr marL="3061970" marR="111125">
              <a:lnSpc>
                <a:spcPct val="102600"/>
              </a:lnSpc>
              <a:spcBef>
                <a:spcPts val="295"/>
              </a:spcBef>
            </a:pPr>
            <a:r>
              <a:rPr sz="1100" spc="-20" dirty="0">
                <a:latin typeface="SimSun"/>
                <a:cs typeface="SimSun"/>
              </a:rPr>
              <a:t>线程：</a:t>
            </a:r>
            <a:r>
              <a:rPr sz="1100" spc="-10" dirty="0">
                <a:latin typeface="Times New Roman"/>
                <a:cs typeface="Times New Roman"/>
              </a:rPr>
              <a:t>requests</a:t>
            </a:r>
            <a:r>
              <a:rPr sz="1100" spc="-15" dirty="0">
                <a:latin typeface="Times New Roman"/>
                <a:cs typeface="Times New Roman"/>
              </a:rPr>
              <a:t> +</a:t>
            </a:r>
            <a:r>
              <a:rPr sz="1100" spc="-50" dirty="0">
                <a:latin typeface="Times New Roman"/>
                <a:cs typeface="Times New Roman"/>
              </a:rPr>
              <a:t> </a:t>
            </a:r>
            <a:r>
              <a:rPr sz="1100" spc="-10" dirty="0">
                <a:latin typeface="Times New Roman"/>
                <a:cs typeface="Times New Roman"/>
              </a:rPr>
              <a:t>ThreadPoolExecutor</a:t>
            </a:r>
            <a:endParaRPr sz="1100" dirty="0">
              <a:latin typeface="Times New Roman"/>
              <a:cs typeface="Times New Roman"/>
            </a:endParaRPr>
          </a:p>
          <a:p>
            <a:pPr marL="3061970">
              <a:lnSpc>
                <a:spcPct val="100000"/>
              </a:lnSpc>
              <a:spcBef>
                <a:spcPts val="335"/>
              </a:spcBef>
            </a:pPr>
            <a:r>
              <a:rPr sz="1100" spc="15" dirty="0">
                <a:latin typeface="SimSun"/>
                <a:cs typeface="SimSun"/>
              </a:rPr>
              <a:t>显式限制连接数</a:t>
            </a:r>
            <a:r>
              <a:rPr sz="1100" spc="-50" dirty="0">
                <a:latin typeface="Times New Roman"/>
                <a:cs typeface="Times New Roman"/>
              </a:rPr>
              <a:t>/</a:t>
            </a:r>
            <a:endParaRPr sz="1100" dirty="0">
              <a:latin typeface="Times New Roman"/>
              <a:cs typeface="Times New Roman"/>
            </a:endParaRPr>
          </a:p>
          <a:p>
            <a:pPr marL="3061970">
              <a:lnSpc>
                <a:spcPct val="100000"/>
              </a:lnSpc>
              <a:spcBef>
                <a:spcPts val="35"/>
              </a:spcBef>
            </a:pPr>
            <a:r>
              <a:rPr sz="1100" spc="-35" dirty="0">
                <a:latin typeface="SimSun"/>
                <a:cs typeface="SimSun"/>
              </a:rPr>
              <a:t>并发数</a:t>
            </a:r>
            <a:endParaRPr sz="1100" dirty="0">
              <a:latin typeface="SimSun"/>
              <a:cs typeface="SimSun"/>
            </a:endParaRPr>
          </a:p>
          <a:p>
            <a:pPr marL="2846705">
              <a:lnSpc>
                <a:spcPct val="100000"/>
              </a:lnSpc>
              <a:spcBef>
                <a:spcPts val="560"/>
              </a:spcBef>
            </a:pPr>
            <a:r>
              <a:rPr sz="1200" spc="-30" dirty="0">
                <a:solidFill>
                  <a:srgbClr val="FFFFFF"/>
                </a:solidFill>
                <a:latin typeface="SimSun"/>
                <a:cs typeface="SimSun"/>
              </a:rPr>
              <a:t>实验结论</a:t>
            </a:r>
            <a:endParaRPr sz="1200" dirty="0">
              <a:latin typeface="SimSun"/>
              <a:cs typeface="SimSun"/>
            </a:endParaRPr>
          </a:p>
          <a:p>
            <a:pPr marL="2846705">
              <a:lnSpc>
                <a:spcPts val="1260"/>
              </a:lnSpc>
              <a:spcBef>
                <a:spcPts val="434"/>
              </a:spcBef>
            </a:pPr>
            <a:r>
              <a:rPr sz="1100" dirty="0">
                <a:latin typeface="Times New Roman"/>
                <a:cs typeface="Times New Roman"/>
              </a:rPr>
              <a:t>3000</a:t>
            </a:r>
            <a:r>
              <a:rPr sz="1100" spc="-45" dirty="0">
                <a:latin typeface="Times New Roman"/>
                <a:cs typeface="Times New Roman"/>
              </a:rPr>
              <a:t> </a:t>
            </a:r>
            <a:r>
              <a:rPr sz="1100" spc="-100" dirty="0">
                <a:latin typeface="SimSun"/>
                <a:cs typeface="SimSun"/>
              </a:rPr>
              <a:t>请求、</a:t>
            </a:r>
            <a:r>
              <a:rPr sz="1100" dirty="0">
                <a:latin typeface="Times New Roman"/>
                <a:cs typeface="Times New Roman"/>
              </a:rPr>
              <a:t>10</a:t>
            </a:r>
            <a:r>
              <a:rPr sz="1100" spc="-45" dirty="0">
                <a:latin typeface="Times New Roman"/>
                <a:cs typeface="Times New Roman"/>
              </a:rPr>
              <a:t> </a:t>
            </a:r>
            <a:r>
              <a:rPr sz="1100" dirty="0">
                <a:latin typeface="Times New Roman"/>
                <a:cs typeface="Times New Roman"/>
              </a:rPr>
              <a:t>ms</a:t>
            </a:r>
            <a:r>
              <a:rPr sz="1100" spc="-45" dirty="0">
                <a:latin typeface="Times New Roman"/>
                <a:cs typeface="Times New Roman"/>
              </a:rPr>
              <a:t> </a:t>
            </a:r>
            <a:r>
              <a:rPr sz="1100" spc="-30" dirty="0">
                <a:latin typeface="SimSun"/>
                <a:cs typeface="SimSun"/>
              </a:rPr>
              <a:t>延迟：</a:t>
            </a:r>
            <a:endParaRPr sz="1100" dirty="0">
              <a:latin typeface="SimSun"/>
              <a:cs typeface="SimSun"/>
            </a:endParaRPr>
          </a:p>
          <a:p>
            <a:pPr marL="2846705">
              <a:lnSpc>
                <a:spcPts val="1260"/>
              </a:lnSpc>
            </a:pPr>
            <a:r>
              <a:rPr sz="1100" b="1" spc="-10" dirty="0">
                <a:solidFill>
                  <a:srgbClr val="1C4682"/>
                </a:solidFill>
                <a:latin typeface="Times New Roman"/>
                <a:cs typeface="Times New Roman"/>
              </a:rPr>
              <a:t>5.73</a:t>
            </a:r>
            <a:r>
              <a:rPr sz="1100" b="1" spc="-75" dirty="0">
                <a:solidFill>
                  <a:srgbClr val="1C4682"/>
                </a:solidFill>
                <a:latin typeface="Times New Roman"/>
                <a:cs typeface="Times New Roman"/>
              </a:rPr>
              <a:t> </a:t>
            </a:r>
            <a:r>
              <a:rPr sz="1000" spc="-25" dirty="0">
                <a:latin typeface="SimSun"/>
                <a:cs typeface="SimSun"/>
              </a:rPr>
              <a:t>倍优势</a:t>
            </a:r>
            <a:endParaRPr sz="1000" dirty="0">
              <a:latin typeface="SimSun"/>
              <a:cs typeface="SimSun"/>
            </a:endParaRPr>
          </a:p>
        </p:txBody>
      </p:sp>
      <p:grpSp>
        <p:nvGrpSpPr>
          <p:cNvPr id="21" name="object 21"/>
          <p:cNvGrpSpPr/>
          <p:nvPr/>
        </p:nvGrpSpPr>
        <p:grpSpPr>
          <a:xfrm>
            <a:off x="0" y="3309520"/>
            <a:ext cx="4608195" cy="146685"/>
            <a:chOff x="0" y="3309520"/>
            <a:chExt cx="4608195" cy="146685"/>
          </a:xfrm>
        </p:grpSpPr>
        <p:sp>
          <p:nvSpPr>
            <p:cNvPr id="22" name="object 22"/>
            <p:cNvSpPr/>
            <p:nvPr/>
          </p:nvSpPr>
          <p:spPr>
            <a:xfrm>
              <a:off x="0" y="3309520"/>
              <a:ext cx="1464945" cy="146685"/>
            </a:xfrm>
            <a:custGeom>
              <a:avLst/>
              <a:gdLst/>
              <a:ahLst/>
              <a:cxnLst/>
              <a:rect l="l" t="t" r="r" b="b"/>
              <a:pathLst>
                <a:path w="1464945" h="146685">
                  <a:moveTo>
                    <a:pt x="1464490" y="146530"/>
                  </a:moveTo>
                  <a:lnTo>
                    <a:pt x="1464490" y="0"/>
                  </a:lnTo>
                  <a:lnTo>
                    <a:pt x="0" y="0"/>
                  </a:lnTo>
                  <a:lnTo>
                    <a:pt x="0" y="146530"/>
                  </a:lnTo>
                  <a:lnTo>
                    <a:pt x="1464490" y="146530"/>
                  </a:lnTo>
                  <a:close/>
                </a:path>
              </a:pathLst>
            </a:custGeom>
            <a:solidFill>
              <a:srgbClr val="4681B4"/>
            </a:solidFill>
          </p:spPr>
          <p:txBody>
            <a:bodyPr wrap="square" lIns="0" tIns="0" rIns="0" bIns="0" rtlCol="0"/>
            <a:lstStyle/>
            <a:p>
              <a:endParaRPr/>
            </a:p>
          </p:txBody>
        </p:sp>
        <p:sp>
          <p:nvSpPr>
            <p:cNvPr id="23" name="object 23"/>
            <p:cNvSpPr/>
            <p:nvPr/>
          </p:nvSpPr>
          <p:spPr>
            <a:xfrm>
              <a:off x="1464490" y="3309520"/>
              <a:ext cx="2672715" cy="146685"/>
            </a:xfrm>
            <a:custGeom>
              <a:avLst/>
              <a:gdLst/>
              <a:ahLst/>
              <a:cxnLst/>
              <a:rect l="l" t="t" r="r" b="b"/>
              <a:pathLst>
                <a:path w="2672715" h="146685">
                  <a:moveTo>
                    <a:pt x="2672682" y="0"/>
                  </a:moveTo>
                  <a:lnTo>
                    <a:pt x="0" y="0"/>
                  </a:lnTo>
                  <a:lnTo>
                    <a:pt x="0" y="146530"/>
                  </a:lnTo>
                  <a:lnTo>
                    <a:pt x="2672682" y="146530"/>
                  </a:lnTo>
                  <a:lnTo>
                    <a:pt x="2672682" y="0"/>
                  </a:lnTo>
                  <a:close/>
                </a:path>
              </a:pathLst>
            </a:custGeom>
            <a:solidFill>
              <a:srgbClr val="1B4681"/>
            </a:solidFill>
          </p:spPr>
          <p:txBody>
            <a:bodyPr wrap="square" lIns="0" tIns="0" rIns="0" bIns="0" rtlCol="0"/>
            <a:lstStyle/>
            <a:p>
              <a:endParaRPr/>
            </a:p>
          </p:txBody>
        </p:sp>
        <p:sp>
          <p:nvSpPr>
            <p:cNvPr id="24" name="object 24"/>
            <p:cNvSpPr/>
            <p:nvPr/>
          </p:nvSpPr>
          <p:spPr>
            <a:xfrm>
              <a:off x="4137103" y="3309520"/>
              <a:ext cx="471170" cy="146685"/>
            </a:xfrm>
            <a:custGeom>
              <a:avLst/>
              <a:gdLst/>
              <a:ahLst/>
              <a:cxnLst/>
              <a:rect l="l" t="t" r="r" b="b"/>
              <a:pathLst>
                <a:path w="471170" h="146685">
                  <a:moveTo>
                    <a:pt x="470836" y="0"/>
                  </a:moveTo>
                  <a:lnTo>
                    <a:pt x="0" y="0"/>
                  </a:lnTo>
                  <a:lnTo>
                    <a:pt x="0" y="146530"/>
                  </a:lnTo>
                  <a:lnTo>
                    <a:pt x="470836" y="146530"/>
                  </a:lnTo>
                  <a:lnTo>
                    <a:pt x="470836" y="0"/>
                  </a:lnTo>
                  <a:close/>
                </a:path>
              </a:pathLst>
            </a:custGeom>
            <a:solidFill>
              <a:srgbClr val="0A2750"/>
            </a:solidFill>
          </p:spPr>
          <p:txBody>
            <a:bodyPr wrap="square" lIns="0" tIns="0" rIns="0" bIns="0" rtlCol="0"/>
            <a:lstStyle/>
            <a:p>
              <a:endParaRPr/>
            </a:p>
          </p:txBody>
        </p:sp>
      </p:grpSp>
      <p:sp>
        <p:nvSpPr>
          <p:cNvPr id="25" name="object 25"/>
          <p:cNvSpPr txBox="1">
            <a:spLocks noGrp="1"/>
          </p:cNvSpPr>
          <p:nvPr>
            <p:ph type="dt" sz="half" idx="6"/>
          </p:nvPr>
        </p:nvSpPr>
        <p:spPr>
          <a:prstGeom prst="rect">
            <a:avLst/>
          </a:prstGeom>
        </p:spPr>
        <p:txBody>
          <a:bodyPr vert="horz" wrap="square" lIns="0" tIns="1270" rIns="0" bIns="0" rtlCol="0">
            <a:spAutoFit/>
          </a:bodyPr>
          <a:lstStyle/>
          <a:p>
            <a:pPr marL="12700">
              <a:lnSpc>
                <a:spcPct val="100000"/>
              </a:lnSpc>
              <a:spcBef>
                <a:spcPts val="10"/>
              </a:spcBef>
            </a:pPr>
            <a:r>
              <a:rPr spc="35" dirty="0"/>
              <a:t>尚文轩 南开大学</a:t>
            </a:r>
          </a:p>
        </p:txBody>
      </p:sp>
      <p:sp>
        <p:nvSpPr>
          <p:cNvPr id="26" name="object 26"/>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spc="-30" dirty="0">
                <a:latin typeface="Times New Roman"/>
                <a:cs typeface="Times New Roman"/>
              </a:rPr>
              <a:t>OT-</a:t>
            </a:r>
            <a:r>
              <a:rPr spc="-20" dirty="0"/>
              <a:t>协程技术调研</a:t>
            </a:r>
          </a:p>
        </p:txBody>
      </p:sp>
      <p:sp>
        <p:nvSpPr>
          <p:cNvPr id="27" name="object 27"/>
          <p:cNvSpPr txBox="1">
            <a:spLocks noGrp="1"/>
          </p:cNvSpPr>
          <p:nvPr>
            <p:ph type="sldNum" sz="quarter" idx="7"/>
          </p:nvPr>
        </p:nvSpPr>
        <p:spPr>
          <a:prstGeom prst="rect">
            <a:avLst/>
          </a:prstGeom>
        </p:spPr>
        <p:txBody>
          <a:bodyPr vert="horz" wrap="square" lIns="0" tIns="3810" rIns="0" bIns="0" rtlCol="0">
            <a:spAutoFit/>
          </a:bodyPr>
          <a:lstStyle/>
          <a:p>
            <a:pPr marL="37465">
              <a:lnSpc>
                <a:spcPct val="100000"/>
              </a:lnSpc>
              <a:spcBef>
                <a:spcPts val="30"/>
              </a:spcBef>
            </a:pPr>
            <a:fld id="{81D60167-4931-47E6-BA6A-407CBD079E47}" type="slidenum">
              <a:rPr spc="-25" dirty="0"/>
              <a:t>13</a:t>
            </a:fld>
            <a:endParaRPr spc="-25" dirty="0"/>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6" name="图片 25">
            <a:extLst>
              <a:ext uri="{FF2B5EF4-FFF2-40B4-BE49-F238E27FC236}">
                <a16:creationId xmlns:a16="http://schemas.microsoft.com/office/drawing/2014/main" id="{F23BFC3E-D46C-8F99-B4FE-257E5DD78787}"/>
              </a:ext>
            </a:extLst>
          </p:cNvPr>
          <p:cNvPicPr>
            <a:picLocks noChangeAspect="1"/>
          </p:cNvPicPr>
          <p:nvPr/>
        </p:nvPicPr>
        <p:blipFill>
          <a:blip r:embed="rId2"/>
          <a:stretch>
            <a:fillRect/>
          </a:stretch>
        </p:blipFill>
        <p:spPr>
          <a:xfrm>
            <a:off x="0" y="1"/>
            <a:ext cx="4610100" cy="250672"/>
          </a:xfrm>
          <a:prstGeom prst="rect">
            <a:avLst/>
          </a:prstGeom>
        </p:spPr>
      </p:pic>
      <p:sp>
        <p:nvSpPr>
          <p:cNvPr id="2" name="object 2" descr="$PPTXTitle"/>
          <p:cNvSpPr txBox="1">
            <a:spLocks noGrp="1"/>
          </p:cNvSpPr>
          <p:nvPr>
            <p:ph type="title"/>
          </p:nvPr>
        </p:nvSpPr>
        <p:spPr>
          <a:xfrm>
            <a:off x="105130" y="42861"/>
            <a:ext cx="2107565" cy="180819"/>
          </a:xfrm>
          <a:prstGeom prst="rect">
            <a:avLst/>
          </a:prstGeom>
        </p:spPr>
        <p:txBody>
          <a:bodyPr vert="horz" wrap="square" lIns="0" tIns="11430" rIns="0" bIns="0" rtlCol="0">
            <a:spAutoFit/>
          </a:bodyPr>
          <a:lstStyle/>
          <a:p>
            <a:pPr marL="12700">
              <a:lnSpc>
                <a:spcPct val="100000"/>
              </a:lnSpc>
              <a:spcBef>
                <a:spcPts val="90"/>
              </a:spcBef>
            </a:pPr>
            <a:r>
              <a:rPr spc="-20" dirty="0">
                <a:solidFill>
                  <a:schemeClr val="bg1"/>
                </a:solidFill>
              </a:rPr>
              <a:t>实验三：</a:t>
            </a:r>
            <a:r>
              <a:rPr spc="-10" dirty="0">
                <a:solidFill>
                  <a:schemeClr val="bg1"/>
                </a:solidFill>
                <a:latin typeface="Times New Roman"/>
                <a:cs typeface="Times New Roman"/>
              </a:rPr>
              <a:t>CPU-</a:t>
            </a:r>
            <a:r>
              <a:rPr dirty="0">
                <a:solidFill>
                  <a:schemeClr val="bg1"/>
                </a:solidFill>
                <a:latin typeface="Times New Roman"/>
                <a:cs typeface="Times New Roman"/>
              </a:rPr>
              <a:t>bound</a:t>
            </a:r>
            <a:r>
              <a:rPr spc="50" dirty="0">
                <a:solidFill>
                  <a:schemeClr val="bg1"/>
                </a:solidFill>
                <a:latin typeface="Times New Roman"/>
                <a:cs typeface="Times New Roman"/>
              </a:rPr>
              <a:t> </a:t>
            </a:r>
            <a:r>
              <a:rPr spc="-25" dirty="0">
                <a:solidFill>
                  <a:schemeClr val="bg1"/>
                </a:solidFill>
              </a:rPr>
              <a:t>说明协程边界</a:t>
            </a:r>
          </a:p>
        </p:txBody>
      </p:sp>
      <p:sp>
        <p:nvSpPr>
          <p:cNvPr id="3" name="object 3"/>
          <p:cNvSpPr/>
          <p:nvPr/>
        </p:nvSpPr>
        <p:spPr>
          <a:xfrm>
            <a:off x="0" y="252052"/>
            <a:ext cx="4608195" cy="0"/>
          </a:xfrm>
          <a:custGeom>
            <a:avLst/>
            <a:gdLst/>
            <a:ahLst/>
            <a:cxnLst/>
            <a:rect l="l" t="t" r="r" b="b"/>
            <a:pathLst>
              <a:path w="4608195">
                <a:moveTo>
                  <a:pt x="0" y="0"/>
                </a:moveTo>
                <a:lnTo>
                  <a:pt x="4608060" y="0"/>
                </a:lnTo>
              </a:path>
            </a:pathLst>
          </a:custGeom>
          <a:ln w="12652">
            <a:solidFill>
              <a:srgbClr val="1B4681"/>
            </a:solidFill>
          </a:ln>
        </p:spPr>
        <p:txBody>
          <a:bodyPr wrap="square" lIns="0" tIns="0" rIns="0" bIns="0" rtlCol="0"/>
          <a:lstStyle/>
          <a:p>
            <a:endParaRPr/>
          </a:p>
        </p:txBody>
      </p:sp>
      <p:pic>
        <p:nvPicPr>
          <p:cNvPr id="4" name="object 4"/>
          <p:cNvPicPr/>
          <p:nvPr/>
        </p:nvPicPr>
        <p:blipFill>
          <a:blip r:embed="rId3" cstate="print"/>
          <a:stretch>
            <a:fillRect/>
          </a:stretch>
        </p:blipFill>
        <p:spPr>
          <a:xfrm>
            <a:off x="273755" y="621580"/>
            <a:ext cx="2344821" cy="1598742"/>
          </a:xfrm>
          <a:prstGeom prst="rect">
            <a:avLst/>
          </a:prstGeom>
        </p:spPr>
      </p:pic>
      <p:grpSp>
        <p:nvGrpSpPr>
          <p:cNvPr id="5" name="object 5"/>
          <p:cNvGrpSpPr/>
          <p:nvPr/>
        </p:nvGrpSpPr>
        <p:grpSpPr>
          <a:xfrm>
            <a:off x="3067995" y="686148"/>
            <a:ext cx="30480" cy="30480"/>
            <a:chOff x="3067995" y="686148"/>
            <a:chExt cx="30480" cy="30480"/>
          </a:xfrm>
        </p:grpSpPr>
        <p:sp>
          <p:nvSpPr>
            <p:cNvPr id="6" name="object 6"/>
            <p:cNvSpPr/>
            <p:nvPr/>
          </p:nvSpPr>
          <p:spPr>
            <a:xfrm>
              <a:off x="3070526" y="688679"/>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7" name="object 7"/>
            <p:cNvSpPr/>
            <p:nvPr/>
          </p:nvSpPr>
          <p:spPr>
            <a:xfrm>
              <a:off x="3070526" y="688679"/>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8" name="object 8"/>
          <p:cNvGrpSpPr/>
          <p:nvPr/>
        </p:nvGrpSpPr>
        <p:grpSpPr>
          <a:xfrm>
            <a:off x="3067995" y="1068266"/>
            <a:ext cx="30480" cy="30480"/>
            <a:chOff x="3067995" y="1068266"/>
            <a:chExt cx="30480" cy="30480"/>
          </a:xfrm>
        </p:grpSpPr>
        <p:sp>
          <p:nvSpPr>
            <p:cNvPr id="9" name="object 9"/>
            <p:cNvSpPr/>
            <p:nvPr/>
          </p:nvSpPr>
          <p:spPr>
            <a:xfrm>
              <a:off x="3070526" y="1070797"/>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0" name="object 10"/>
            <p:cNvSpPr/>
            <p:nvPr/>
          </p:nvSpPr>
          <p:spPr>
            <a:xfrm>
              <a:off x="3070526" y="1070797"/>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1" name="object 11"/>
          <p:cNvGrpSpPr/>
          <p:nvPr/>
        </p:nvGrpSpPr>
        <p:grpSpPr>
          <a:xfrm>
            <a:off x="3067995" y="1450371"/>
            <a:ext cx="30480" cy="30480"/>
            <a:chOff x="3067995" y="1450371"/>
            <a:chExt cx="30480" cy="30480"/>
          </a:xfrm>
        </p:grpSpPr>
        <p:sp>
          <p:nvSpPr>
            <p:cNvPr id="12" name="object 12"/>
            <p:cNvSpPr/>
            <p:nvPr/>
          </p:nvSpPr>
          <p:spPr>
            <a:xfrm>
              <a:off x="3070526" y="1452901"/>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3" name="object 13"/>
            <p:cNvSpPr/>
            <p:nvPr/>
          </p:nvSpPr>
          <p:spPr>
            <a:xfrm>
              <a:off x="3070526" y="1452901"/>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4" name="object 14"/>
          <p:cNvGrpSpPr/>
          <p:nvPr/>
        </p:nvGrpSpPr>
        <p:grpSpPr>
          <a:xfrm>
            <a:off x="2890545" y="1764465"/>
            <a:ext cx="1477645" cy="979169"/>
            <a:chOff x="2890545" y="1764465"/>
            <a:chExt cx="1477645" cy="979169"/>
          </a:xfrm>
        </p:grpSpPr>
        <p:sp>
          <p:nvSpPr>
            <p:cNvPr id="15" name="object 15"/>
            <p:cNvSpPr/>
            <p:nvPr/>
          </p:nvSpPr>
          <p:spPr>
            <a:xfrm>
              <a:off x="2944545" y="1831118"/>
              <a:ext cx="1369695" cy="871219"/>
            </a:xfrm>
            <a:custGeom>
              <a:avLst/>
              <a:gdLst/>
              <a:ahLst/>
              <a:cxnLst/>
              <a:rect l="l" t="t" r="r" b="b"/>
              <a:pathLst>
                <a:path w="1369695" h="871219">
                  <a:moveTo>
                    <a:pt x="1369477" y="0"/>
                  </a:moveTo>
                  <a:lnTo>
                    <a:pt x="0" y="0"/>
                  </a:lnTo>
                  <a:lnTo>
                    <a:pt x="0" y="871076"/>
                  </a:lnTo>
                  <a:lnTo>
                    <a:pt x="1369477" y="871076"/>
                  </a:lnTo>
                  <a:lnTo>
                    <a:pt x="1369477" y="0"/>
                  </a:lnTo>
                  <a:close/>
                </a:path>
              </a:pathLst>
            </a:custGeom>
            <a:solidFill>
              <a:srgbClr val="B2B2B2"/>
            </a:solidFill>
          </p:spPr>
          <p:txBody>
            <a:bodyPr wrap="square" lIns="0" tIns="0" rIns="0" bIns="0" rtlCol="0"/>
            <a:lstStyle/>
            <a:p>
              <a:endParaRPr/>
            </a:p>
          </p:txBody>
        </p:sp>
        <p:sp>
          <p:nvSpPr>
            <p:cNvPr id="16" name="object 16"/>
            <p:cNvSpPr/>
            <p:nvPr/>
          </p:nvSpPr>
          <p:spPr>
            <a:xfrm>
              <a:off x="2890545" y="1764465"/>
              <a:ext cx="1477645" cy="979169"/>
            </a:xfrm>
            <a:custGeom>
              <a:avLst/>
              <a:gdLst/>
              <a:ahLst/>
              <a:cxnLst/>
              <a:rect l="l" t="t" r="r" b="b"/>
              <a:pathLst>
                <a:path w="1477645" h="979169">
                  <a:moveTo>
                    <a:pt x="1423477" y="0"/>
                  </a:moveTo>
                  <a:lnTo>
                    <a:pt x="54000" y="0"/>
                  </a:lnTo>
                  <a:lnTo>
                    <a:pt x="32980" y="4243"/>
                  </a:lnTo>
                  <a:lnTo>
                    <a:pt x="15816" y="15816"/>
                  </a:lnTo>
                  <a:lnTo>
                    <a:pt x="4243" y="32981"/>
                  </a:lnTo>
                  <a:lnTo>
                    <a:pt x="0" y="54000"/>
                  </a:lnTo>
                  <a:lnTo>
                    <a:pt x="0" y="925077"/>
                  </a:lnTo>
                  <a:lnTo>
                    <a:pt x="4243" y="946096"/>
                  </a:lnTo>
                  <a:lnTo>
                    <a:pt x="15816" y="963261"/>
                  </a:lnTo>
                  <a:lnTo>
                    <a:pt x="32980" y="974834"/>
                  </a:lnTo>
                  <a:lnTo>
                    <a:pt x="54000" y="979077"/>
                  </a:lnTo>
                  <a:lnTo>
                    <a:pt x="1423477" y="979077"/>
                  </a:lnTo>
                  <a:lnTo>
                    <a:pt x="1444497" y="974834"/>
                  </a:lnTo>
                  <a:lnTo>
                    <a:pt x="1461661" y="963261"/>
                  </a:lnTo>
                  <a:lnTo>
                    <a:pt x="1473234" y="946096"/>
                  </a:lnTo>
                  <a:lnTo>
                    <a:pt x="1477478" y="925077"/>
                  </a:lnTo>
                  <a:lnTo>
                    <a:pt x="1477478" y="54000"/>
                  </a:lnTo>
                  <a:lnTo>
                    <a:pt x="1473234" y="32981"/>
                  </a:lnTo>
                  <a:lnTo>
                    <a:pt x="1461661" y="15816"/>
                  </a:lnTo>
                  <a:lnTo>
                    <a:pt x="1444497" y="4243"/>
                  </a:lnTo>
                  <a:lnTo>
                    <a:pt x="1423477" y="0"/>
                  </a:lnTo>
                  <a:close/>
                </a:path>
              </a:pathLst>
            </a:custGeom>
            <a:solidFill>
              <a:srgbClr val="96321E"/>
            </a:solidFill>
          </p:spPr>
          <p:txBody>
            <a:bodyPr wrap="square" lIns="0" tIns="0" rIns="0" bIns="0" rtlCol="0"/>
            <a:lstStyle/>
            <a:p>
              <a:endParaRPr/>
            </a:p>
          </p:txBody>
        </p:sp>
        <p:sp>
          <p:nvSpPr>
            <p:cNvPr id="17" name="object 17"/>
            <p:cNvSpPr/>
            <p:nvPr/>
          </p:nvSpPr>
          <p:spPr>
            <a:xfrm>
              <a:off x="2890545" y="1976436"/>
              <a:ext cx="1477645" cy="767715"/>
            </a:xfrm>
            <a:custGeom>
              <a:avLst/>
              <a:gdLst/>
              <a:ahLst/>
              <a:cxnLst/>
              <a:rect l="l" t="t" r="r" b="b"/>
              <a:pathLst>
                <a:path w="1477645" h="767714">
                  <a:moveTo>
                    <a:pt x="1477478" y="0"/>
                  </a:moveTo>
                  <a:lnTo>
                    <a:pt x="0" y="0"/>
                  </a:lnTo>
                  <a:lnTo>
                    <a:pt x="0" y="713106"/>
                  </a:lnTo>
                  <a:lnTo>
                    <a:pt x="4243" y="734125"/>
                  </a:lnTo>
                  <a:lnTo>
                    <a:pt x="15816" y="751290"/>
                  </a:lnTo>
                  <a:lnTo>
                    <a:pt x="32980" y="762862"/>
                  </a:lnTo>
                  <a:lnTo>
                    <a:pt x="54000" y="767106"/>
                  </a:lnTo>
                  <a:lnTo>
                    <a:pt x="1423477" y="767106"/>
                  </a:lnTo>
                  <a:lnTo>
                    <a:pt x="1444497" y="762862"/>
                  </a:lnTo>
                  <a:lnTo>
                    <a:pt x="1461661" y="751290"/>
                  </a:lnTo>
                  <a:lnTo>
                    <a:pt x="1473234" y="734125"/>
                  </a:lnTo>
                  <a:lnTo>
                    <a:pt x="1477478" y="713106"/>
                  </a:lnTo>
                  <a:lnTo>
                    <a:pt x="1477478" y="0"/>
                  </a:lnTo>
                  <a:close/>
                </a:path>
              </a:pathLst>
            </a:custGeom>
            <a:solidFill>
              <a:srgbClr val="F4EAE8"/>
            </a:solidFill>
          </p:spPr>
          <p:txBody>
            <a:bodyPr wrap="square" lIns="0" tIns="0" rIns="0" bIns="0" rtlCol="0"/>
            <a:lstStyle/>
            <a:p>
              <a:endParaRPr/>
            </a:p>
          </p:txBody>
        </p:sp>
      </p:grpSp>
      <p:sp>
        <p:nvSpPr>
          <p:cNvPr id="18" name="object 18"/>
          <p:cNvSpPr txBox="1"/>
          <p:nvPr/>
        </p:nvSpPr>
        <p:spPr>
          <a:xfrm>
            <a:off x="2939148" y="586967"/>
            <a:ext cx="1480820" cy="2122170"/>
          </a:xfrm>
          <a:prstGeom prst="rect">
            <a:avLst/>
          </a:prstGeom>
        </p:spPr>
        <p:txBody>
          <a:bodyPr vert="horz" wrap="square" lIns="0" tIns="6985" rIns="0" bIns="0" rtlCol="0">
            <a:spAutoFit/>
          </a:bodyPr>
          <a:lstStyle/>
          <a:p>
            <a:pPr marL="227965" marR="73660">
              <a:lnSpc>
                <a:spcPct val="102600"/>
              </a:lnSpc>
              <a:spcBef>
                <a:spcPts val="55"/>
              </a:spcBef>
            </a:pPr>
            <a:r>
              <a:rPr sz="1100" spc="-65" dirty="0">
                <a:latin typeface="SimSun"/>
                <a:cs typeface="SimSun"/>
              </a:rPr>
              <a:t>任务改为纯 </a:t>
            </a:r>
            <a:r>
              <a:rPr sz="1100" dirty="0">
                <a:latin typeface="Times New Roman"/>
                <a:cs typeface="Times New Roman"/>
              </a:rPr>
              <a:t>CPU</a:t>
            </a:r>
            <a:r>
              <a:rPr sz="1100" spc="-70" dirty="0">
                <a:latin typeface="Times New Roman"/>
                <a:cs typeface="Times New Roman"/>
              </a:rPr>
              <a:t> </a:t>
            </a:r>
            <a:r>
              <a:rPr sz="1100" spc="-50" dirty="0">
                <a:latin typeface="SimSun"/>
                <a:cs typeface="SimSun"/>
              </a:rPr>
              <a:t>循环</a:t>
            </a:r>
            <a:endParaRPr sz="1100">
              <a:latin typeface="SimSun"/>
              <a:cs typeface="SimSun"/>
            </a:endParaRPr>
          </a:p>
          <a:p>
            <a:pPr marL="227965" marR="43815">
              <a:lnSpc>
                <a:spcPct val="102600"/>
              </a:lnSpc>
              <a:spcBef>
                <a:spcPts val="300"/>
              </a:spcBef>
            </a:pPr>
            <a:r>
              <a:rPr sz="1100" dirty="0">
                <a:latin typeface="SimSun"/>
                <a:cs typeface="SimSun"/>
              </a:rPr>
              <a:t>对比：单线程</a:t>
            </a:r>
            <a:r>
              <a:rPr sz="1100" spc="-35" dirty="0">
                <a:latin typeface="Times New Roman"/>
                <a:cs typeface="Times New Roman"/>
              </a:rPr>
              <a:t>/ </a:t>
            </a:r>
            <a:r>
              <a:rPr sz="1100" spc="-35" dirty="0">
                <a:latin typeface="SimSun"/>
                <a:cs typeface="SimSun"/>
              </a:rPr>
              <a:t>线程</a:t>
            </a:r>
            <a:r>
              <a:rPr sz="1100" spc="254" dirty="0">
                <a:latin typeface="SimSun"/>
                <a:cs typeface="SimSun"/>
              </a:rPr>
              <a:t>池</a:t>
            </a:r>
            <a:r>
              <a:rPr sz="1100" spc="-10" dirty="0">
                <a:latin typeface="Times New Roman"/>
                <a:cs typeface="Times New Roman"/>
              </a:rPr>
              <a:t>/ </a:t>
            </a:r>
            <a:r>
              <a:rPr sz="1100" dirty="0">
                <a:latin typeface="Times New Roman"/>
                <a:cs typeface="Times New Roman"/>
              </a:rPr>
              <a:t>asyncio</a:t>
            </a:r>
            <a:r>
              <a:rPr sz="1100" spc="-15" dirty="0">
                <a:latin typeface="Times New Roman"/>
                <a:cs typeface="Times New Roman"/>
              </a:rPr>
              <a:t> </a:t>
            </a:r>
            <a:r>
              <a:rPr sz="1100" spc="-35" dirty="0">
                <a:latin typeface="SimSun"/>
                <a:cs typeface="SimSun"/>
              </a:rPr>
              <a:t>包装</a:t>
            </a:r>
            <a:endParaRPr sz="1100">
              <a:latin typeface="SimSun"/>
              <a:cs typeface="SimSun"/>
            </a:endParaRPr>
          </a:p>
          <a:p>
            <a:pPr marL="227965" marR="135890">
              <a:lnSpc>
                <a:spcPct val="102600"/>
              </a:lnSpc>
              <a:spcBef>
                <a:spcPts val="300"/>
              </a:spcBef>
            </a:pPr>
            <a:r>
              <a:rPr sz="1100" spc="-25" dirty="0">
                <a:latin typeface="SimSun"/>
                <a:cs typeface="SimSun"/>
              </a:rPr>
              <a:t>三者耗时接近，没</a:t>
            </a:r>
            <a:r>
              <a:rPr sz="1100" spc="-30" dirty="0">
                <a:latin typeface="SimSun"/>
                <a:cs typeface="SimSun"/>
              </a:rPr>
              <a:t>有稳定赢家</a:t>
            </a:r>
            <a:endParaRPr sz="1100">
              <a:latin typeface="SimSun"/>
              <a:cs typeface="SimSun"/>
            </a:endParaRPr>
          </a:p>
          <a:p>
            <a:pPr marL="12700">
              <a:lnSpc>
                <a:spcPct val="100000"/>
              </a:lnSpc>
              <a:spcBef>
                <a:spcPts val="555"/>
              </a:spcBef>
            </a:pPr>
            <a:r>
              <a:rPr sz="1200" spc="-30" dirty="0">
                <a:solidFill>
                  <a:srgbClr val="FFFFFF"/>
                </a:solidFill>
                <a:latin typeface="SimSun"/>
                <a:cs typeface="SimSun"/>
              </a:rPr>
              <a:t>实验结论</a:t>
            </a:r>
            <a:endParaRPr sz="1200">
              <a:latin typeface="SimSun"/>
              <a:cs typeface="SimSun"/>
            </a:endParaRPr>
          </a:p>
          <a:p>
            <a:pPr marL="12700" marR="5080">
              <a:lnSpc>
                <a:spcPct val="102600"/>
              </a:lnSpc>
              <a:spcBef>
                <a:spcPts val="409"/>
              </a:spcBef>
            </a:pPr>
            <a:r>
              <a:rPr sz="1100" spc="70" dirty="0">
                <a:latin typeface="SimSun"/>
                <a:cs typeface="SimSun"/>
              </a:rPr>
              <a:t>协程不是通用计算加</a:t>
            </a:r>
            <a:r>
              <a:rPr sz="1100" spc="-85" dirty="0">
                <a:latin typeface="SimSun"/>
                <a:cs typeface="SimSun"/>
              </a:rPr>
              <a:t>速器；瓶颈在“算”时，</a:t>
            </a:r>
            <a:r>
              <a:rPr sz="1100" spc="70" dirty="0">
                <a:latin typeface="SimSun"/>
                <a:cs typeface="SimSun"/>
              </a:rPr>
              <a:t>应考虑并行计算与底</a:t>
            </a:r>
            <a:r>
              <a:rPr sz="1100" spc="-30" dirty="0">
                <a:latin typeface="SimSun"/>
                <a:cs typeface="SimSun"/>
              </a:rPr>
              <a:t>层优化。</a:t>
            </a:r>
            <a:endParaRPr sz="1100">
              <a:latin typeface="SimSun"/>
              <a:cs typeface="SimSun"/>
            </a:endParaRPr>
          </a:p>
        </p:txBody>
      </p:sp>
      <p:grpSp>
        <p:nvGrpSpPr>
          <p:cNvPr id="19" name="object 19"/>
          <p:cNvGrpSpPr/>
          <p:nvPr/>
        </p:nvGrpSpPr>
        <p:grpSpPr>
          <a:xfrm>
            <a:off x="0" y="3309520"/>
            <a:ext cx="4608195" cy="146685"/>
            <a:chOff x="0" y="3309520"/>
            <a:chExt cx="4608195" cy="146685"/>
          </a:xfrm>
        </p:grpSpPr>
        <p:sp>
          <p:nvSpPr>
            <p:cNvPr id="20" name="object 20"/>
            <p:cNvSpPr/>
            <p:nvPr/>
          </p:nvSpPr>
          <p:spPr>
            <a:xfrm>
              <a:off x="0" y="3309520"/>
              <a:ext cx="1464945" cy="146685"/>
            </a:xfrm>
            <a:custGeom>
              <a:avLst/>
              <a:gdLst/>
              <a:ahLst/>
              <a:cxnLst/>
              <a:rect l="l" t="t" r="r" b="b"/>
              <a:pathLst>
                <a:path w="1464945" h="146685">
                  <a:moveTo>
                    <a:pt x="1464490" y="146530"/>
                  </a:moveTo>
                  <a:lnTo>
                    <a:pt x="1464490" y="0"/>
                  </a:lnTo>
                  <a:lnTo>
                    <a:pt x="0" y="0"/>
                  </a:lnTo>
                  <a:lnTo>
                    <a:pt x="0" y="146530"/>
                  </a:lnTo>
                  <a:lnTo>
                    <a:pt x="1464490" y="146530"/>
                  </a:lnTo>
                  <a:close/>
                </a:path>
              </a:pathLst>
            </a:custGeom>
            <a:solidFill>
              <a:srgbClr val="4681B4"/>
            </a:solidFill>
          </p:spPr>
          <p:txBody>
            <a:bodyPr wrap="square" lIns="0" tIns="0" rIns="0" bIns="0" rtlCol="0"/>
            <a:lstStyle/>
            <a:p>
              <a:endParaRPr/>
            </a:p>
          </p:txBody>
        </p:sp>
        <p:sp>
          <p:nvSpPr>
            <p:cNvPr id="21" name="object 21"/>
            <p:cNvSpPr/>
            <p:nvPr/>
          </p:nvSpPr>
          <p:spPr>
            <a:xfrm>
              <a:off x="1464490" y="3309520"/>
              <a:ext cx="2672715" cy="146685"/>
            </a:xfrm>
            <a:custGeom>
              <a:avLst/>
              <a:gdLst/>
              <a:ahLst/>
              <a:cxnLst/>
              <a:rect l="l" t="t" r="r" b="b"/>
              <a:pathLst>
                <a:path w="2672715" h="146685">
                  <a:moveTo>
                    <a:pt x="2672682" y="0"/>
                  </a:moveTo>
                  <a:lnTo>
                    <a:pt x="0" y="0"/>
                  </a:lnTo>
                  <a:lnTo>
                    <a:pt x="0" y="146530"/>
                  </a:lnTo>
                  <a:lnTo>
                    <a:pt x="2672682" y="146530"/>
                  </a:lnTo>
                  <a:lnTo>
                    <a:pt x="2672682" y="0"/>
                  </a:lnTo>
                  <a:close/>
                </a:path>
              </a:pathLst>
            </a:custGeom>
            <a:solidFill>
              <a:srgbClr val="1B4681"/>
            </a:solidFill>
          </p:spPr>
          <p:txBody>
            <a:bodyPr wrap="square" lIns="0" tIns="0" rIns="0" bIns="0" rtlCol="0"/>
            <a:lstStyle/>
            <a:p>
              <a:endParaRPr/>
            </a:p>
          </p:txBody>
        </p:sp>
        <p:sp>
          <p:nvSpPr>
            <p:cNvPr id="22" name="object 22"/>
            <p:cNvSpPr/>
            <p:nvPr/>
          </p:nvSpPr>
          <p:spPr>
            <a:xfrm>
              <a:off x="4137103" y="3309520"/>
              <a:ext cx="471170" cy="146685"/>
            </a:xfrm>
            <a:custGeom>
              <a:avLst/>
              <a:gdLst/>
              <a:ahLst/>
              <a:cxnLst/>
              <a:rect l="l" t="t" r="r" b="b"/>
              <a:pathLst>
                <a:path w="471170" h="146685">
                  <a:moveTo>
                    <a:pt x="470836" y="0"/>
                  </a:moveTo>
                  <a:lnTo>
                    <a:pt x="0" y="0"/>
                  </a:lnTo>
                  <a:lnTo>
                    <a:pt x="0" y="146530"/>
                  </a:lnTo>
                  <a:lnTo>
                    <a:pt x="470836" y="146530"/>
                  </a:lnTo>
                  <a:lnTo>
                    <a:pt x="470836" y="0"/>
                  </a:lnTo>
                  <a:close/>
                </a:path>
              </a:pathLst>
            </a:custGeom>
            <a:solidFill>
              <a:srgbClr val="0A2750"/>
            </a:solidFill>
          </p:spPr>
          <p:txBody>
            <a:bodyPr wrap="square" lIns="0" tIns="0" rIns="0" bIns="0" rtlCol="0"/>
            <a:lstStyle/>
            <a:p>
              <a:endParaRPr/>
            </a:p>
          </p:txBody>
        </p:sp>
      </p:grpSp>
      <p:sp>
        <p:nvSpPr>
          <p:cNvPr id="23" name="object 23"/>
          <p:cNvSpPr txBox="1">
            <a:spLocks noGrp="1"/>
          </p:cNvSpPr>
          <p:nvPr>
            <p:ph type="dt" sz="half" idx="6"/>
          </p:nvPr>
        </p:nvSpPr>
        <p:spPr>
          <a:prstGeom prst="rect">
            <a:avLst/>
          </a:prstGeom>
        </p:spPr>
        <p:txBody>
          <a:bodyPr vert="horz" wrap="square" lIns="0" tIns="1270" rIns="0" bIns="0" rtlCol="0">
            <a:spAutoFit/>
          </a:bodyPr>
          <a:lstStyle/>
          <a:p>
            <a:pPr marL="12700">
              <a:lnSpc>
                <a:spcPct val="100000"/>
              </a:lnSpc>
              <a:spcBef>
                <a:spcPts val="10"/>
              </a:spcBef>
            </a:pPr>
            <a:r>
              <a:rPr spc="35" dirty="0"/>
              <a:t>尚文轩 南开大学</a:t>
            </a:r>
          </a:p>
        </p:txBody>
      </p:sp>
      <p:sp>
        <p:nvSpPr>
          <p:cNvPr id="24" name="object 24"/>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spc="-30" dirty="0">
                <a:latin typeface="Times New Roman"/>
                <a:cs typeface="Times New Roman"/>
              </a:rPr>
              <a:t>OT-</a:t>
            </a:r>
            <a:r>
              <a:rPr spc="-20" dirty="0"/>
              <a:t>协程技术调研</a:t>
            </a:r>
          </a:p>
        </p:txBody>
      </p:sp>
      <p:sp>
        <p:nvSpPr>
          <p:cNvPr id="25" name="object 25"/>
          <p:cNvSpPr txBox="1">
            <a:spLocks noGrp="1"/>
          </p:cNvSpPr>
          <p:nvPr>
            <p:ph type="sldNum" sz="quarter" idx="7"/>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14</a:t>
            </a:fld>
            <a:endParaRPr spc="-25" dirty="0"/>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9" name="图片 28">
            <a:extLst>
              <a:ext uri="{FF2B5EF4-FFF2-40B4-BE49-F238E27FC236}">
                <a16:creationId xmlns:a16="http://schemas.microsoft.com/office/drawing/2014/main" id="{88406532-6229-53EC-48C3-C9BA6A4FA344}"/>
              </a:ext>
            </a:extLst>
          </p:cNvPr>
          <p:cNvPicPr>
            <a:picLocks noChangeAspect="1"/>
          </p:cNvPicPr>
          <p:nvPr/>
        </p:nvPicPr>
        <p:blipFill>
          <a:blip r:embed="rId2"/>
          <a:stretch>
            <a:fillRect/>
          </a:stretch>
        </p:blipFill>
        <p:spPr>
          <a:xfrm>
            <a:off x="0" y="-8061"/>
            <a:ext cx="4610100" cy="258733"/>
          </a:xfrm>
          <a:prstGeom prst="rect">
            <a:avLst/>
          </a:prstGeom>
        </p:spPr>
      </p:pic>
      <p:sp>
        <p:nvSpPr>
          <p:cNvPr id="2" name="object 2" descr="$PPTXTitle"/>
          <p:cNvSpPr txBox="1">
            <a:spLocks noGrp="1"/>
          </p:cNvSpPr>
          <p:nvPr>
            <p:ph type="title"/>
          </p:nvPr>
        </p:nvSpPr>
        <p:spPr>
          <a:xfrm>
            <a:off x="105130" y="34949"/>
            <a:ext cx="1976755" cy="180819"/>
          </a:xfrm>
          <a:prstGeom prst="rect">
            <a:avLst/>
          </a:prstGeom>
        </p:spPr>
        <p:txBody>
          <a:bodyPr vert="horz" wrap="square" lIns="0" tIns="11430" rIns="0" bIns="0" rtlCol="0">
            <a:spAutoFit/>
          </a:bodyPr>
          <a:lstStyle/>
          <a:p>
            <a:pPr marL="12700">
              <a:lnSpc>
                <a:spcPct val="100000"/>
              </a:lnSpc>
              <a:spcBef>
                <a:spcPts val="90"/>
              </a:spcBef>
            </a:pPr>
            <a:r>
              <a:rPr spc="-20" dirty="0">
                <a:solidFill>
                  <a:schemeClr val="bg1"/>
                </a:solidFill>
              </a:rPr>
              <a:t>实验四：</a:t>
            </a:r>
            <a:r>
              <a:rPr dirty="0">
                <a:solidFill>
                  <a:schemeClr val="bg1"/>
                </a:solidFill>
                <a:latin typeface="Times New Roman"/>
                <a:cs typeface="Times New Roman"/>
              </a:rPr>
              <a:t>Python</a:t>
            </a:r>
            <a:r>
              <a:rPr spc="30" dirty="0">
                <a:solidFill>
                  <a:schemeClr val="bg1"/>
                </a:solidFill>
                <a:latin typeface="Times New Roman"/>
                <a:cs typeface="Times New Roman"/>
              </a:rPr>
              <a:t> </a:t>
            </a:r>
            <a:r>
              <a:rPr spc="-25" dirty="0">
                <a:solidFill>
                  <a:schemeClr val="bg1"/>
                </a:solidFill>
              </a:rPr>
              <a:t>高并发扩展观察</a:t>
            </a:r>
          </a:p>
        </p:txBody>
      </p:sp>
      <p:sp>
        <p:nvSpPr>
          <p:cNvPr id="3" name="object 3"/>
          <p:cNvSpPr/>
          <p:nvPr/>
        </p:nvSpPr>
        <p:spPr>
          <a:xfrm>
            <a:off x="0" y="252052"/>
            <a:ext cx="4608195" cy="0"/>
          </a:xfrm>
          <a:custGeom>
            <a:avLst/>
            <a:gdLst/>
            <a:ahLst/>
            <a:cxnLst/>
            <a:rect l="l" t="t" r="r" b="b"/>
            <a:pathLst>
              <a:path w="4608195">
                <a:moveTo>
                  <a:pt x="0" y="0"/>
                </a:moveTo>
                <a:lnTo>
                  <a:pt x="4608060" y="0"/>
                </a:lnTo>
              </a:path>
            </a:pathLst>
          </a:custGeom>
          <a:ln w="12652">
            <a:solidFill>
              <a:srgbClr val="1B4681"/>
            </a:solidFill>
          </a:ln>
        </p:spPr>
        <p:txBody>
          <a:bodyPr wrap="square" lIns="0" tIns="0" rIns="0" bIns="0" rtlCol="0"/>
          <a:lstStyle/>
          <a:p>
            <a:endParaRPr/>
          </a:p>
        </p:txBody>
      </p:sp>
      <p:pic>
        <p:nvPicPr>
          <p:cNvPr id="4" name="object 4"/>
          <p:cNvPicPr/>
          <p:nvPr/>
        </p:nvPicPr>
        <p:blipFill>
          <a:blip r:embed="rId3" cstate="print"/>
          <a:stretch>
            <a:fillRect/>
          </a:stretch>
        </p:blipFill>
        <p:spPr>
          <a:xfrm>
            <a:off x="287650" y="324954"/>
            <a:ext cx="1587758" cy="1041894"/>
          </a:xfrm>
          <a:prstGeom prst="rect">
            <a:avLst/>
          </a:prstGeom>
        </p:spPr>
      </p:pic>
      <p:sp>
        <p:nvSpPr>
          <p:cNvPr id="5" name="object 5"/>
          <p:cNvSpPr txBox="1"/>
          <p:nvPr/>
        </p:nvSpPr>
        <p:spPr>
          <a:xfrm>
            <a:off x="1917039" y="1250802"/>
            <a:ext cx="257810" cy="177800"/>
          </a:xfrm>
          <a:prstGeom prst="rect">
            <a:avLst/>
          </a:prstGeom>
        </p:spPr>
        <p:txBody>
          <a:bodyPr vert="horz" wrap="square" lIns="0" tIns="12065" rIns="0" bIns="0" rtlCol="0">
            <a:spAutoFit/>
          </a:bodyPr>
          <a:lstStyle/>
          <a:p>
            <a:pPr marL="12700">
              <a:lnSpc>
                <a:spcPct val="100000"/>
              </a:lnSpc>
              <a:spcBef>
                <a:spcPts val="95"/>
              </a:spcBef>
            </a:pPr>
            <a:r>
              <a:rPr sz="1000" spc="-25" dirty="0">
                <a:latin typeface="Times New Roman"/>
                <a:cs typeface="Times New Roman"/>
              </a:rPr>
              <a:t>QPS</a:t>
            </a:r>
            <a:endParaRPr sz="1000">
              <a:latin typeface="Times New Roman"/>
              <a:cs typeface="Times New Roman"/>
            </a:endParaRPr>
          </a:p>
        </p:txBody>
      </p:sp>
      <p:pic>
        <p:nvPicPr>
          <p:cNvPr id="6" name="object 6"/>
          <p:cNvPicPr/>
          <p:nvPr/>
        </p:nvPicPr>
        <p:blipFill>
          <a:blip r:embed="rId4" cstate="print"/>
          <a:stretch>
            <a:fillRect/>
          </a:stretch>
        </p:blipFill>
        <p:spPr>
          <a:xfrm>
            <a:off x="2459161" y="325256"/>
            <a:ext cx="1589521" cy="1055376"/>
          </a:xfrm>
          <a:prstGeom prst="rect">
            <a:avLst/>
          </a:prstGeom>
        </p:spPr>
      </p:pic>
      <p:sp>
        <p:nvSpPr>
          <p:cNvPr id="7" name="object 7"/>
          <p:cNvSpPr txBox="1"/>
          <p:nvPr/>
        </p:nvSpPr>
        <p:spPr>
          <a:xfrm>
            <a:off x="4090568" y="1264886"/>
            <a:ext cx="278765" cy="177800"/>
          </a:xfrm>
          <a:prstGeom prst="rect">
            <a:avLst/>
          </a:prstGeom>
        </p:spPr>
        <p:txBody>
          <a:bodyPr vert="horz" wrap="square" lIns="0" tIns="12065" rIns="0" bIns="0" rtlCol="0">
            <a:spAutoFit/>
          </a:bodyPr>
          <a:lstStyle/>
          <a:p>
            <a:pPr marL="12700">
              <a:lnSpc>
                <a:spcPct val="100000"/>
              </a:lnSpc>
              <a:spcBef>
                <a:spcPts val="95"/>
              </a:spcBef>
            </a:pPr>
            <a:r>
              <a:rPr sz="1000" spc="-30" dirty="0">
                <a:latin typeface="SimSun"/>
                <a:cs typeface="SimSun"/>
              </a:rPr>
              <a:t>峰值</a:t>
            </a:r>
            <a:endParaRPr sz="1000">
              <a:latin typeface="SimSun"/>
              <a:cs typeface="SimSun"/>
            </a:endParaRPr>
          </a:p>
        </p:txBody>
      </p:sp>
      <p:grpSp>
        <p:nvGrpSpPr>
          <p:cNvPr id="8" name="object 8"/>
          <p:cNvGrpSpPr/>
          <p:nvPr/>
        </p:nvGrpSpPr>
        <p:grpSpPr>
          <a:xfrm>
            <a:off x="537457" y="1719103"/>
            <a:ext cx="30480" cy="30480"/>
            <a:chOff x="537457" y="1719103"/>
            <a:chExt cx="30480" cy="30480"/>
          </a:xfrm>
        </p:grpSpPr>
        <p:sp>
          <p:nvSpPr>
            <p:cNvPr id="9" name="object 9"/>
            <p:cNvSpPr/>
            <p:nvPr/>
          </p:nvSpPr>
          <p:spPr>
            <a:xfrm>
              <a:off x="539987" y="1721633"/>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0" name="object 10"/>
            <p:cNvSpPr/>
            <p:nvPr/>
          </p:nvSpPr>
          <p:spPr>
            <a:xfrm>
              <a:off x="539987" y="1721633"/>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1" name="object 11"/>
          <p:cNvGrpSpPr/>
          <p:nvPr/>
        </p:nvGrpSpPr>
        <p:grpSpPr>
          <a:xfrm>
            <a:off x="537457" y="1929136"/>
            <a:ext cx="30480" cy="30480"/>
            <a:chOff x="537457" y="1929136"/>
            <a:chExt cx="30480" cy="30480"/>
          </a:xfrm>
        </p:grpSpPr>
        <p:sp>
          <p:nvSpPr>
            <p:cNvPr id="12" name="object 12"/>
            <p:cNvSpPr/>
            <p:nvPr/>
          </p:nvSpPr>
          <p:spPr>
            <a:xfrm>
              <a:off x="539987" y="1931666"/>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3" name="object 13"/>
            <p:cNvSpPr/>
            <p:nvPr/>
          </p:nvSpPr>
          <p:spPr>
            <a:xfrm>
              <a:off x="539987" y="1931666"/>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4" name="object 14"/>
          <p:cNvGrpSpPr/>
          <p:nvPr/>
        </p:nvGrpSpPr>
        <p:grpSpPr>
          <a:xfrm>
            <a:off x="537457" y="2139168"/>
            <a:ext cx="30480" cy="30480"/>
            <a:chOff x="537457" y="2139168"/>
            <a:chExt cx="30480" cy="30480"/>
          </a:xfrm>
        </p:grpSpPr>
        <p:sp>
          <p:nvSpPr>
            <p:cNvPr id="15" name="object 15"/>
            <p:cNvSpPr/>
            <p:nvPr/>
          </p:nvSpPr>
          <p:spPr>
            <a:xfrm>
              <a:off x="539987" y="2141699"/>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6" name="object 16"/>
            <p:cNvSpPr/>
            <p:nvPr/>
          </p:nvSpPr>
          <p:spPr>
            <a:xfrm>
              <a:off x="539987" y="2141699"/>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7" name="object 17"/>
          <p:cNvGrpSpPr/>
          <p:nvPr/>
        </p:nvGrpSpPr>
        <p:grpSpPr>
          <a:xfrm>
            <a:off x="359994" y="2448941"/>
            <a:ext cx="3888104" cy="635000"/>
            <a:chOff x="359994" y="2448941"/>
            <a:chExt cx="3888104" cy="635000"/>
          </a:xfrm>
        </p:grpSpPr>
        <p:sp>
          <p:nvSpPr>
            <p:cNvPr id="18" name="object 18"/>
            <p:cNvSpPr/>
            <p:nvPr/>
          </p:nvSpPr>
          <p:spPr>
            <a:xfrm>
              <a:off x="413994" y="2515594"/>
              <a:ext cx="3780154" cy="527050"/>
            </a:xfrm>
            <a:custGeom>
              <a:avLst/>
              <a:gdLst/>
              <a:ahLst/>
              <a:cxnLst/>
              <a:rect l="l" t="t" r="r" b="b"/>
              <a:pathLst>
                <a:path w="3780154" h="527050">
                  <a:moveTo>
                    <a:pt x="3780050" y="0"/>
                  </a:moveTo>
                  <a:lnTo>
                    <a:pt x="0" y="0"/>
                  </a:lnTo>
                  <a:lnTo>
                    <a:pt x="0" y="526922"/>
                  </a:lnTo>
                  <a:lnTo>
                    <a:pt x="3780050" y="526922"/>
                  </a:lnTo>
                  <a:lnTo>
                    <a:pt x="3780050" y="0"/>
                  </a:lnTo>
                  <a:close/>
                </a:path>
              </a:pathLst>
            </a:custGeom>
            <a:solidFill>
              <a:srgbClr val="B2B2B2"/>
            </a:solidFill>
          </p:spPr>
          <p:txBody>
            <a:bodyPr wrap="square" lIns="0" tIns="0" rIns="0" bIns="0" rtlCol="0"/>
            <a:lstStyle/>
            <a:p>
              <a:endParaRPr/>
            </a:p>
          </p:txBody>
        </p:sp>
        <p:sp>
          <p:nvSpPr>
            <p:cNvPr id="19" name="object 19"/>
            <p:cNvSpPr/>
            <p:nvPr/>
          </p:nvSpPr>
          <p:spPr>
            <a:xfrm>
              <a:off x="359994" y="2448941"/>
              <a:ext cx="3888104" cy="635000"/>
            </a:xfrm>
            <a:custGeom>
              <a:avLst/>
              <a:gdLst/>
              <a:ahLst/>
              <a:cxnLst/>
              <a:rect l="l" t="t" r="r" b="b"/>
              <a:pathLst>
                <a:path w="3888104" h="635000">
                  <a:moveTo>
                    <a:pt x="3834050" y="0"/>
                  </a:moveTo>
                  <a:lnTo>
                    <a:pt x="54000" y="0"/>
                  </a:lnTo>
                  <a:lnTo>
                    <a:pt x="32980" y="4243"/>
                  </a:lnTo>
                  <a:lnTo>
                    <a:pt x="15816" y="15816"/>
                  </a:lnTo>
                  <a:lnTo>
                    <a:pt x="4243" y="32980"/>
                  </a:lnTo>
                  <a:lnTo>
                    <a:pt x="0" y="54000"/>
                  </a:lnTo>
                  <a:lnTo>
                    <a:pt x="0" y="580923"/>
                  </a:lnTo>
                  <a:lnTo>
                    <a:pt x="4243" y="601942"/>
                  </a:lnTo>
                  <a:lnTo>
                    <a:pt x="15816" y="619107"/>
                  </a:lnTo>
                  <a:lnTo>
                    <a:pt x="32980" y="630679"/>
                  </a:lnTo>
                  <a:lnTo>
                    <a:pt x="54000" y="634923"/>
                  </a:lnTo>
                  <a:lnTo>
                    <a:pt x="3834050" y="634923"/>
                  </a:lnTo>
                  <a:lnTo>
                    <a:pt x="3855070" y="630679"/>
                  </a:lnTo>
                  <a:lnTo>
                    <a:pt x="3872235" y="619107"/>
                  </a:lnTo>
                  <a:lnTo>
                    <a:pt x="3883807" y="601942"/>
                  </a:lnTo>
                  <a:lnTo>
                    <a:pt x="3888051" y="580923"/>
                  </a:lnTo>
                  <a:lnTo>
                    <a:pt x="3888051" y="54000"/>
                  </a:lnTo>
                  <a:lnTo>
                    <a:pt x="3883807" y="32980"/>
                  </a:lnTo>
                  <a:lnTo>
                    <a:pt x="3872235" y="15816"/>
                  </a:lnTo>
                  <a:lnTo>
                    <a:pt x="3855070" y="4243"/>
                  </a:lnTo>
                  <a:lnTo>
                    <a:pt x="3834050" y="0"/>
                  </a:lnTo>
                  <a:close/>
                </a:path>
              </a:pathLst>
            </a:custGeom>
            <a:solidFill>
              <a:srgbClr val="BE581F"/>
            </a:solidFill>
          </p:spPr>
          <p:txBody>
            <a:bodyPr wrap="square" lIns="0" tIns="0" rIns="0" bIns="0" rtlCol="0"/>
            <a:lstStyle/>
            <a:p>
              <a:endParaRPr/>
            </a:p>
          </p:txBody>
        </p:sp>
        <p:sp>
          <p:nvSpPr>
            <p:cNvPr id="20" name="object 20"/>
            <p:cNvSpPr/>
            <p:nvPr/>
          </p:nvSpPr>
          <p:spPr>
            <a:xfrm>
              <a:off x="359994" y="2660912"/>
              <a:ext cx="3888104" cy="423545"/>
            </a:xfrm>
            <a:custGeom>
              <a:avLst/>
              <a:gdLst/>
              <a:ahLst/>
              <a:cxnLst/>
              <a:rect l="l" t="t" r="r" b="b"/>
              <a:pathLst>
                <a:path w="3888104" h="423544">
                  <a:moveTo>
                    <a:pt x="3888051" y="0"/>
                  </a:moveTo>
                  <a:lnTo>
                    <a:pt x="0" y="0"/>
                  </a:lnTo>
                  <a:lnTo>
                    <a:pt x="0" y="368952"/>
                  </a:lnTo>
                  <a:lnTo>
                    <a:pt x="4243" y="389971"/>
                  </a:lnTo>
                  <a:lnTo>
                    <a:pt x="15816" y="407136"/>
                  </a:lnTo>
                  <a:lnTo>
                    <a:pt x="32980" y="418708"/>
                  </a:lnTo>
                  <a:lnTo>
                    <a:pt x="54000" y="422952"/>
                  </a:lnTo>
                  <a:lnTo>
                    <a:pt x="3834050" y="422952"/>
                  </a:lnTo>
                  <a:lnTo>
                    <a:pt x="3855070" y="418708"/>
                  </a:lnTo>
                  <a:lnTo>
                    <a:pt x="3872235" y="407136"/>
                  </a:lnTo>
                  <a:lnTo>
                    <a:pt x="3883807" y="389971"/>
                  </a:lnTo>
                  <a:lnTo>
                    <a:pt x="3888051" y="368952"/>
                  </a:lnTo>
                  <a:lnTo>
                    <a:pt x="3888051" y="0"/>
                  </a:lnTo>
                  <a:close/>
                </a:path>
              </a:pathLst>
            </a:custGeom>
            <a:solidFill>
              <a:srgbClr val="F8EEE8"/>
            </a:solidFill>
          </p:spPr>
          <p:txBody>
            <a:bodyPr wrap="square" lIns="0" tIns="0" rIns="0" bIns="0" rtlCol="0"/>
            <a:lstStyle/>
            <a:p>
              <a:endParaRPr/>
            </a:p>
          </p:txBody>
        </p:sp>
      </p:grpSp>
      <p:sp>
        <p:nvSpPr>
          <p:cNvPr id="21" name="object 21"/>
          <p:cNvSpPr txBox="1"/>
          <p:nvPr/>
        </p:nvSpPr>
        <p:spPr>
          <a:xfrm>
            <a:off x="408597" y="1369832"/>
            <a:ext cx="3852545" cy="1679575"/>
          </a:xfrm>
          <a:prstGeom prst="rect">
            <a:avLst/>
          </a:prstGeom>
        </p:spPr>
        <p:txBody>
          <a:bodyPr vert="horz" wrap="square" lIns="0" tIns="59055" rIns="0" bIns="0" rtlCol="0">
            <a:spAutoFit/>
          </a:bodyPr>
          <a:lstStyle/>
          <a:p>
            <a:pPr marR="744220" algn="r">
              <a:lnSpc>
                <a:spcPct val="100000"/>
              </a:lnSpc>
              <a:spcBef>
                <a:spcPts val="465"/>
              </a:spcBef>
            </a:pPr>
            <a:r>
              <a:rPr sz="1000" spc="-25" dirty="0">
                <a:latin typeface="Times New Roman"/>
                <a:cs typeface="Times New Roman"/>
              </a:rPr>
              <a:t>RSS</a:t>
            </a:r>
            <a:endParaRPr sz="1000">
              <a:latin typeface="Times New Roman"/>
              <a:cs typeface="Times New Roman"/>
            </a:endParaRPr>
          </a:p>
          <a:p>
            <a:pPr marL="227965" marR="474980">
              <a:lnSpc>
                <a:spcPct val="125299"/>
              </a:lnSpc>
              <a:spcBef>
                <a:spcPts val="60"/>
              </a:spcBef>
            </a:pPr>
            <a:r>
              <a:rPr sz="1100" spc="-100" dirty="0">
                <a:latin typeface="SimSun"/>
                <a:cs typeface="SimSun"/>
              </a:rPr>
              <a:t>固定 </a:t>
            </a:r>
            <a:r>
              <a:rPr sz="1100" dirty="0">
                <a:latin typeface="Times New Roman"/>
                <a:cs typeface="Times New Roman"/>
              </a:rPr>
              <a:t>10000</a:t>
            </a:r>
            <a:r>
              <a:rPr sz="1100" spc="15" dirty="0">
                <a:latin typeface="Times New Roman"/>
                <a:cs typeface="Times New Roman"/>
              </a:rPr>
              <a:t> </a:t>
            </a:r>
            <a:r>
              <a:rPr sz="1100" spc="-20" dirty="0">
                <a:latin typeface="SimSun"/>
                <a:cs typeface="SimSun"/>
              </a:rPr>
              <a:t>个任务、</a:t>
            </a:r>
            <a:r>
              <a:rPr sz="1100" dirty="0">
                <a:latin typeface="Times New Roman"/>
                <a:cs typeface="Times New Roman"/>
              </a:rPr>
              <a:t>50</a:t>
            </a:r>
            <a:r>
              <a:rPr sz="1100" spc="20" dirty="0">
                <a:latin typeface="Times New Roman"/>
                <a:cs typeface="Times New Roman"/>
              </a:rPr>
              <a:t> </a:t>
            </a:r>
            <a:r>
              <a:rPr sz="1100" dirty="0">
                <a:latin typeface="Times New Roman"/>
                <a:cs typeface="Times New Roman"/>
              </a:rPr>
              <a:t>ms</a:t>
            </a:r>
            <a:r>
              <a:rPr sz="1100" spc="15" dirty="0">
                <a:latin typeface="Times New Roman"/>
                <a:cs typeface="Times New Roman"/>
              </a:rPr>
              <a:t> </a:t>
            </a:r>
            <a:r>
              <a:rPr sz="1100" spc="-25" dirty="0">
                <a:latin typeface="SimSun"/>
                <a:cs typeface="SimSun"/>
              </a:rPr>
              <a:t>等待，逐步提高并发度。</a:t>
            </a:r>
            <a:r>
              <a:rPr sz="1100" spc="-50" dirty="0">
                <a:latin typeface="SimSun"/>
                <a:cs typeface="SimSun"/>
              </a:rPr>
              <a:t> </a:t>
            </a:r>
            <a:r>
              <a:rPr sz="1100" dirty="0">
                <a:latin typeface="Times New Roman"/>
                <a:cs typeface="Times New Roman"/>
              </a:rPr>
              <a:t>asyncio</a:t>
            </a:r>
            <a:r>
              <a:rPr sz="1100" spc="20" dirty="0">
                <a:latin typeface="Times New Roman"/>
                <a:cs typeface="Times New Roman"/>
              </a:rPr>
              <a:t> </a:t>
            </a:r>
            <a:r>
              <a:rPr sz="1100" spc="-140" dirty="0">
                <a:latin typeface="SimSun"/>
                <a:cs typeface="SimSun"/>
              </a:rPr>
              <a:t>在 </a:t>
            </a:r>
            <a:r>
              <a:rPr sz="1100" dirty="0">
                <a:latin typeface="Times New Roman"/>
                <a:cs typeface="Times New Roman"/>
              </a:rPr>
              <a:t>500</a:t>
            </a:r>
            <a:r>
              <a:rPr sz="1100" spc="20" dirty="0">
                <a:latin typeface="Times New Roman"/>
                <a:cs typeface="Times New Roman"/>
              </a:rPr>
              <a:t> </a:t>
            </a:r>
            <a:r>
              <a:rPr sz="1100" spc="-40" dirty="0">
                <a:latin typeface="SimSun"/>
                <a:cs typeface="SimSun"/>
              </a:rPr>
              <a:t>并发后吞吐反超，并保持更高 </a:t>
            </a:r>
            <a:r>
              <a:rPr sz="1100" spc="-25" dirty="0">
                <a:latin typeface="Times New Roman"/>
                <a:cs typeface="Times New Roman"/>
              </a:rPr>
              <a:t>QPS</a:t>
            </a:r>
            <a:r>
              <a:rPr sz="1100" spc="-50" dirty="0">
                <a:latin typeface="SimSun"/>
                <a:cs typeface="SimSun"/>
              </a:rPr>
              <a:t>。</a:t>
            </a:r>
            <a:endParaRPr sz="1100">
              <a:latin typeface="SimSun"/>
              <a:cs typeface="SimSun"/>
            </a:endParaRPr>
          </a:p>
          <a:p>
            <a:pPr marL="227965">
              <a:lnSpc>
                <a:spcPct val="100000"/>
              </a:lnSpc>
              <a:spcBef>
                <a:spcPts val="334"/>
              </a:spcBef>
            </a:pPr>
            <a:r>
              <a:rPr sz="1100" spc="-40" dirty="0">
                <a:latin typeface="SimSun"/>
                <a:cs typeface="SimSun"/>
              </a:rPr>
              <a:t>线程池内存随并发上升到 </a:t>
            </a:r>
            <a:r>
              <a:rPr sz="1100" dirty="0">
                <a:latin typeface="Times New Roman"/>
                <a:cs typeface="Times New Roman"/>
              </a:rPr>
              <a:t>300</a:t>
            </a:r>
            <a:r>
              <a:rPr sz="1100" spc="15" dirty="0">
                <a:latin typeface="Times New Roman"/>
                <a:cs typeface="Times New Roman"/>
              </a:rPr>
              <a:t> </a:t>
            </a:r>
            <a:r>
              <a:rPr sz="1100" dirty="0">
                <a:latin typeface="Times New Roman"/>
                <a:cs typeface="Times New Roman"/>
              </a:rPr>
              <a:t>MB</a:t>
            </a:r>
            <a:r>
              <a:rPr sz="1100" spc="20" dirty="0">
                <a:latin typeface="Times New Roman"/>
                <a:cs typeface="Times New Roman"/>
              </a:rPr>
              <a:t> </a:t>
            </a:r>
            <a:r>
              <a:rPr sz="1100" spc="-20" dirty="0">
                <a:latin typeface="SimSun"/>
                <a:cs typeface="SimSun"/>
              </a:rPr>
              <a:t>以上；</a:t>
            </a:r>
            <a:r>
              <a:rPr sz="1100" spc="-10" dirty="0">
                <a:latin typeface="Times New Roman"/>
                <a:cs typeface="Times New Roman"/>
              </a:rPr>
              <a:t>asyncio</a:t>
            </a:r>
            <a:r>
              <a:rPr sz="1100" spc="20" dirty="0">
                <a:latin typeface="Times New Roman"/>
                <a:cs typeface="Times New Roman"/>
              </a:rPr>
              <a:t> </a:t>
            </a:r>
            <a:r>
              <a:rPr sz="1100" spc="-30" dirty="0">
                <a:latin typeface="SimSun"/>
                <a:cs typeface="SimSun"/>
              </a:rPr>
              <a:t>基本稳定在</a:t>
            </a:r>
            <a:endParaRPr sz="1100">
              <a:latin typeface="SimSun"/>
              <a:cs typeface="SimSun"/>
            </a:endParaRPr>
          </a:p>
          <a:p>
            <a:pPr marL="227965">
              <a:lnSpc>
                <a:spcPct val="100000"/>
              </a:lnSpc>
              <a:spcBef>
                <a:spcPts val="35"/>
              </a:spcBef>
            </a:pPr>
            <a:r>
              <a:rPr sz="1100" dirty="0">
                <a:latin typeface="Times New Roman"/>
                <a:cs typeface="Times New Roman"/>
              </a:rPr>
              <a:t>90</a:t>
            </a:r>
            <a:r>
              <a:rPr sz="1100" spc="-15" dirty="0">
                <a:latin typeface="Times New Roman"/>
                <a:cs typeface="Times New Roman"/>
              </a:rPr>
              <a:t> </a:t>
            </a:r>
            <a:r>
              <a:rPr sz="1100" dirty="0">
                <a:latin typeface="Times New Roman"/>
                <a:cs typeface="Times New Roman"/>
              </a:rPr>
              <a:t>MB</a:t>
            </a:r>
            <a:r>
              <a:rPr sz="1100" spc="-10" dirty="0">
                <a:latin typeface="Times New Roman"/>
                <a:cs typeface="Times New Roman"/>
              </a:rPr>
              <a:t> </a:t>
            </a:r>
            <a:r>
              <a:rPr sz="1100" spc="-35" dirty="0">
                <a:latin typeface="SimSun"/>
                <a:cs typeface="SimSun"/>
              </a:rPr>
              <a:t>左右。</a:t>
            </a:r>
            <a:endParaRPr sz="1100">
              <a:latin typeface="SimSun"/>
              <a:cs typeface="SimSun"/>
            </a:endParaRPr>
          </a:p>
          <a:p>
            <a:pPr marL="12700">
              <a:lnSpc>
                <a:spcPct val="100000"/>
              </a:lnSpc>
              <a:spcBef>
                <a:spcPts val="520"/>
              </a:spcBef>
            </a:pPr>
            <a:r>
              <a:rPr sz="1200" spc="-30" dirty="0">
                <a:solidFill>
                  <a:srgbClr val="FFFFFF"/>
                </a:solidFill>
                <a:latin typeface="SimSun"/>
                <a:cs typeface="SimSun"/>
              </a:rPr>
              <a:t>实验结论</a:t>
            </a:r>
            <a:endParaRPr sz="1200">
              <a:latin typeface="SimSun"/>
              <a:cs typeface="SimSun"/>
            </a:endParaRPr>
          </a:p>
          <a:p>
            <a:pPr marL="12700" marR="66040">
              <a:lnSpc>
                <a:spcPct val="102600"/>
              </a:lnSpc>
              <a:spcBef>
                <a:spcPts val="409"/>
              </a:spcBef>
            </a:pPr>
            <a:r>
              <a:rPr sz="1100" dirty="0">
                <a:latin typeface="Times New Roman"/>
                <a:cs typeface="Times New Roman"/>
              </a:rPr>
              <a:t>Python </a:t>
            </a:r>
            <a:r>
              <a:rPr sz="1100" spc="-25" dirty="0">
                <a:latin typeface="SimSun"/>
                <a:cs typeface="SimSun"/>
              </a:rPr>
              <a:t>中，轻量事件循环模型在中高并发区间表现出更高吞吐和更平稳的资源占用。</a:t>
            </a:r>
            <a:endParaRPr sz="1100">
              <a:latin typeface="SimSun"/>
              <a:cs typeface="SimSun"/>
            </a:endParaRPr>
          </a:p>
        </p:txBody>
      </p:sp>
      <p:grpSp>
        <p:nvGrpSpPr>
          <p:cNvPr id="22" name="object 22"/>
          <p:cNvGrpSpPr/>
          <p:nvPr/>
        </p:nvGrpSpPr>
        <p:grpSpPr>
          <a:xfrm>
            <a:off x="0" y="3309520"/>
            <a:ext cx="4608195" cy="146685"/>
            <a:chOff x="0" y="3309520"/>
            <a:chExt cx="4608195" cy="146685"/>
          </a:xfrm>
        </p:grpSpPr>
        <p:sp>
          <p:nvSpPr>
            <p:cNvPr id="23" name="object 23"/>
            <p:cNvSpPr/>
            <p:nvPr/>
          </p:nvSpPr>
          <p:spPr>
            <a:xfrm>
              <a:off x="0" y="3309520"/>
              <a:ext cx="1464945" cy="146685"/>
            </a:xfrm>
            <a:custGeom>
              <a:avLst/>
              <a:gdLst/>
              <a:ahLst/>
              <a:cxnLst/>
              <a:rect l="l" t="t" r="r" b="b"/>
              <a:pathLst>
                <a:path w="1464945" h="146685">
                  <a:moveTo>
                    <a:pt x="1464490" y="146530"/>
                  </a:moveTo>
                  <a:lnTo>
                    <a:pt x="1464490" y="0"/>
                  </a:lnTo>
                  <a:lnTo>
                    <a:pt x="0" y="0"/>
                  </a:lnTo>
                  <a:lnTo>
                    <a:pt x="0" y="146530"/>
                  </a:lnTo>
                  <a:lnTo>
                    <a:pt x="1464490" y="146530"/>
                  </a:lnTo>
                  <a:close/>
                </a:path>
              </a:pathLst>
            </a:custGeom>
            <a:solidFill>
              <a:srgbClr val="4681B4"/>
            </a:solidFill>
          </p:spPr>
          <p:txBody>
            <a:bodyPr wrap="square" lIns="0" tIns="0" rIns="0" bIns="0" rtlCol="0"/>
            <a:lstStyle/>
            <a:p>
              <a:endParaRPr/>
            </a:p>
          </p:txBody>
        </p:sp>
        <p:sp>
          <p:nvSpPr>
            <p:cNvPr id="24" name="object 24"/>
            <p:cNvSpPr/>
            <p:nvPr/>
          </p:nvSpPr>
          <p:spPr>
            <a:xfrm>
              <a:off x="1464490" y="3309520"/>
              <a:ext cx="2672715" cy="146685"/>
            </a:xfrm>
            <a:custGeom>
              <a:avLst/>
              <a:gdLst/>
              <a:ahLst/>
              <a:cxnLst/>
              <a:rect l="l" t="t" r="r" b="b"/>
              <a:pathLst>
                <a:path w="2672715" h="146685">
                  <a:moveTo>
                    <a:pt x="2672682" y="0"/>
                  </a:moveTo>
                  <a:lnTo>
                    <a:pt x="0" y="0"/>
                  </a:lnTo>
                  <a:lnTo>
                    <a:pt x="0" y="146530"/>
                  </a:lnTo>
                  <a:lnTo>
                    <a:pt x="2672682" y="146530"/>
                  </a:lnTo>
                  <a:lnTo>
                    <a:pt x="2672682" y="0"/>
                  </a:lnTo>
                  <a:close/>
                </a:path>
              </a:pathLst>
            </a:custGeom>
            <a:solidFill>
              <a:srgbClr val="1B4681"/>
            </a:solidFill>
          </p:spPr>
          <p:txBody>
            <a:bodyPr wrap="square" lIns="0" tIns="0" rIns="0" bIns="0" rtlCol="0"/>
            <a:lstStyle/>
            <a:p>
              <a:endParaRPr/>
            </a:p>
          </p:txBody>
        </p:sp>
        <p:sp>
          <p:nvSpPr>
            <p:cNvPr id="25" name="object 25"/>
            <p:cNvSpPr/>
            <p:nvPr/>
          </p:nvSpPr>
          <p:spPr>
            <a:xfrm>
              <a:off x="4137103" y="3309520"/>
              <a:ext cx="471170" cy="146685"/>
            </a:xfrm>
            <a:custGeom>
              <a:avLst/>
              <a:gdLst/>
              <a:ahLst/>
              <a:cxnLst/>
              <a:rect l="l" t="t" r="r" b="b"/>
              <a:pathLst>
                <a:path w="471170" h="146685">
                  <a:moveTo>
                    <a:pt x="470836" y="0"/>
                  </a:moveTo>
                  <a:lnTo>
                    <a:pt x="0" y="0"/>
                  </a:lnTo>
                  <a:lnTo>
                    <a:pt x="0" y="146530"/>
                  </a:lnTo>
                  <a:lnTo>
                    <a:pt x="470836" y="146530"/>
                  </a:lnTo>
                  <a:lnTo>
                    <a:pt x="470836" y="0"/>
                  </a:lnTo>
                  <a:close/>
                </a:path>
              </a:pathLst>
            </a:custGeom>
            <a:solidFill>
              <a:srgbClr val="0A2750"/>
            </a:solidFill>
          </p:spPr>
          <p:txBody>
            <a:bodyPr wrap="square" lIns="0" tIns="0" rIns="0" bIns="0" rtlCol="0"/>
            <a:lstStyle/>
            <a:p>
              <a:endParaRPr/>
            </a:p>
          </p:txBody>
        </p:sp>
      </p:grpSp>
      <p:sp>
        <p:nvSpPr>
          <p:cNvPr id="26" name="object 26"/>
          <p:cNvSpPr txBox="1">
            <a:spLocks noGrp="1"/>
          </p:cNvSpPr>
          <p:nvPr>
            <p:ph type="dt" sz="half" idx="6"/>
          </p:nvPr>
        </p:nvSpPr>
        <p:spPr>
          <a:prstGeom prst="rect">
            <a:avLst/>
          </a:prstGeom>
        </p:spPr>
        <p:txBody>
          <a:bodyPr vert="horz" wrap="square" lIns="0" tIns="1270" rIns="0" bIns="0" rtlCol="0">
            <a:spAutoFit/>
          </a:bodyPr>
          <a:lstStyle/>
          <a:p>
            <a:pPr marL="12700">
              <a:lnSpc>
                <a:spcPct val="100000"/>
              </a:lnSpc>
              <a:spcBef>
                <a:spcPts val="10"/>
              </a:spcBef>
            </a:pPr>
            <a:r>
              <a:rPr spc="35" dirty="0"/>
              <a:t>尚文轩 南开大学</a:t>
            </a:r>
          </a:p>
        </p:txBody>
      </p:sp>
      <p:sp>
        <p:nvSpPr>
          <p:cNvPr id="27" name="object 27"/>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spc="-30" dirty="0">
                <a:latin typeface="Times New Roman"/>
                <a:cs typeface="Times New Roman"/>
              </a:rPr>
              <a:t>OT-</a:t>
            </a:r>
            <a:r>
              <a:rPr spc="-20" dirty="0"/>
              <a:t>协程技术调研</a:t>
            </a:r>
          </a:p>
        </p:txBody>
      </p:sp>
      <p:sp>
        <p:nvSpPr>
          <p:cNvPr id="28" name="object 28"/>
          <p:cNvSpPr txBox="1">
            <a:spLocks noGrp="1"/>
          </p:cNvSpPr>
          <p:nvPr>
            <p:ph type="sldNum" sz="quarter" idx="7"/>
          </p:nvPr>
        </p:nvSpPr>
        <p:spPr>
          <a:prstGeom prst="rect">
            <a:avLst/>
          </a:prstGeom>
        </p:spPr>
        <p:txBody>
          <a:bodyPr vert="horz" wrap="square" lIns="0" tIns="3810" rIns="0" bIns="0" rtlCol="0">
            <a:spAutoFit/>
          </a:bodyPr>
          <a:lstStyle/>
          <a:p>
            <a:pPr marL="38100">
              <a:lnSpc>
                <a:spcPct val="100000"/>
              </a:lnSpc>
              <a:spcBef>
                <a:spcPts val="30"/>
              </a:spcBef>
            </a:pPr>
            <a:fld id="{81D60167-4931-47E6-BA6A-407CBD079E47}" type="slidenum">
              <a:rPr spc="-25" dirty="0"/>
              <a:t>15</a:t>
            </a:fld>
            <a:endParaRPr spc="-25" dirty="0"/>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9" name="图片 28">
            <a:extLst>
              <a:ext uri="{FF2B5EF4-FFF2-40B4-BE49-F238E27FC236}">
                <a16:creationId xmlns:a16="http://schemas.microsoft.com/office/drawing/2014/main" id="{777143B8-8F29-BCE9-E05E-39BCBA6CDEFB}"/>
              </a:ext>
            </a:extLst>
          </p:cNvPr>
          <p:cNvPicPr>
            <a:picLocks noChangeAspect="1"/>
          </p:cNvPicPr>
          <p:nvPr/>
        </p:nvPicPr>
        <p:blipFill>
          <a:blip r:embed="rId2"/>
          <a:stretch>
            <a:fillRect/>
          </a:stretch>
        </p:blipFill>
        <p:spPr>
          <a:xfrm>
            <a:off x="0" y="-2681"/>
            <a:ext cx="4610100" cy="253354"/>
          </a:xfrm>
          <a:prstGeom prst="rect">
            <a:avLst/>
          </a:prstGeom>
        </p:spPr>
      </p:pic>
      <p:sp>
        <p:nvSpPr>
          <p:cNvPr id="2" name="object 2" descr="$PPTXTitle"/>
          <p:cNvSpPr txBox="1">
            <a:spLocks noGrp="1"/>
          </p:cNvSpPr>
          <p:nvPr>
            <p:ph type="title"/>
          </p:nvPr>
        </p:nvSpPr>
        <p:spPr>
          <a:xfrm>
            <a:off x="105130" y="42594"/>
            <a:ext cx="2142490" cy="180819"/>
          </a:xfrm>
          <a:prstGeom prst="rect">
            <a:avLst/>
          </a:prstGeom>
        </p:spPr>
        <p:txBody>
          <a:bodyPr vert="horz" wrap="square" lIns="0" tIns="11430" rIns="0" bIns="0" rtlCol="0">
            <a:spAutoFit/>
          </a:bodyPr>
          <a:lstStyle/>
          <a:p>
            <a:pPr marL="12700">
              <a:lnSpc>
                <a:spcPct val="100000"/>
              </a:lnSpc>
              <a:spcBef>
                <a:spcPts val="90"/>
              </a:spcBef>
            </a:pPr>
            <a:r>
              <a:rPr spc="-20" dirty="0">
                <a:solidFill>
                  <a:schemeClr val="bg1"/>
                </a:solidFill>
              </a:rPr>
              <a:t>实验五：</a:t>
            </a:r>
            <a:r>
              <a:rPr dirty="0">
                <a:solidFill>
                  <a:schemeClr val="bg1"/>
                </a:solidFill>
                <a:latin typeface="Times New Roman"/>
                <a:cs typeface="Times New Roman"/>
              </a:rPr>
              <a:t>Java</a:t>
            </a:r>
            <a:r>
              <a:rPr spc="15" dirty="0">
                <a:solidFill>
                  <a:schemeClr val="bg1"/>
                </a:solidFill>
                <a:latin typeface="Times New Roman"/>
                <a:cs typeface="Times New Roman"/>
              </a:rPr>
              <a:t> </a:t>
            </a:r>
            <a:r>
              <a:rPr dirty="0">
                <a:solidFill>
                  <a:schemeClr val="bg1"/>
                </a:solidFill>
                <a:latin typeface="Times New Roman"/>
                <a:cs typeface="Times New Roman"/>
              </a:rPr>
              <a:t>21</a:t>
            </a:r>
            <a:r>
              <a:rPr spc="20" dirty="0">
                <a:solidFill>
                  <a:schemeClr val="bg1"/>
                </a:solidFill>
                <a:latin typeface="Times New Roman"/>
                <a:cs typeface="Times New Roman"/>
              </a:rPr>
              <a:t> </a:t>
            </a:r>
            <a:r>
              <a:rPr spc="-25" dirty="0">
                <a:solidFill>
                  <a:schemeClr val="bg1"/>
                </a:solidFill>
              </a:rPr>
              <a:t>虚拟线程扩展观察</a:t>
            </a:r>
          </a:p>
        </p:txBody>
      </p:sp>
      <p:sp>
        <p:nvSpPr>
          <p:cNvPr id="3" name="object 3"/>
          <p:cNvSpPr/>
          <p:nvPr/>
        </p:nvSpPr>
        <p:spPr>
          <a:xfrm>
            <a:off x="0" y="252052"/>
            <a:ext cx="4608195" cy="0"/>
          </a:xfrm>
          <a:custGeom>
            <a:avLst/>
            <a:gdLst/>
            <a:ahLst/>
            <a:cxnLst/>
            <a:rect l="l" t="t" r="r" b="b"/>
            <a:pathLst>
              <a:path w="4608195">
                <a:moveTo>
                  <a:pt x="0" y="0"/>
                </a:moveTo>
                <a:lnTo>
                  <a:pt x="4608060" y="0"/>
                </a:lnTo>
              </a:path>
            </a:pathLst>
          </a:custGeom>
          <a:ln w="12652">
            <a:solidFill>
              <a:srgbClr val="1B4681"/>
            </a:solidFill>
          </a:ln>
        </p:spPr>
        <p:txBody>
          <a:bodyPr wrap="square" lIns="0" tIns="0" rIns="0" bIns="0" rtlCol="0"/>
          <a:lstStyle/>
          <a:p>
            <a:endParaRPr/>
          </a:p>
        </p:txBody>
      </p:sp>
      <p:pic>
        <p:nvPicPr>
          <p:cNvPr id="4" name="object 4"/>
          <p:cNvPicPr/>
          <p:nvPr/>
        </p:nvPicPr>
        <p:blipFill>
          <a:blip r:embed="rId3" cstate="print"/>
          <a:stretch>
            <a:fillRect/>
          </a:stretch>
        </p:blipFill>
        <p:spPr>
          <a:xfrm>
            <a:off x="287328" y="318387"/>
            <a:ext cx="1587184" cy="1028751"/>
          </a:xfrm>
          <a:prstGeom prst="rect">
            <a:avLst/>
          </a:prstGeom>
        </p:spPr>
      </p:pic>
      <p:sp>
        <p:nvSpPr>
          <p:cNvPr id="5" name="object 5"/>
          <p:cNvSpPr txBox="1"/>
          <p:nvPr/>
        </p:nvSpPr>
        <p:spPr>
          <a:xfrm>
            <a:off x="1917039" y="1230800"/>
            <a:ext cx="257810" cy="177800"/>
          </a:xfrm>
          <a:prstGeom prst="rect">
            <a:avLst/>
          </a:prstGeom>
        </p:spPr>
        <p:txBody>
          <a:bodyPr vert="horz" wrap="square" lIns="0" tIns="12065" rIns="0" bIns="0" rtlCol="0">
            <a:spAutoFit/>
          </a:bodyPr>
          <a:lstStyle/>
          <a:p>
            <a:pPr marL="12700">
              <a:lnSpc>
                <a:spcPct val="100000"/>
              </a:lnSpc>
              <a:spcBef>
                <a:spcPts val="95"/>
              </a:spcBef>
            </a:pPr>
            <a:r>
              <a:rPr sz="1000" spc="-25" dirty="0">
                <a:latin typeface="Times New Roman"/>
                <a:cs typeface="Times New Roman"/>
              </a:rPr>
              <a:t>QPS</a:t>
            </a:r>
            <a:endParaRPr sz="1000">
              <a:latin typeface="Times New Roman"/>
              <a:cs typeface="Times New Roman"/>
            </a:endParaRPr>
          </a:p>
        </p:txBody>
      </p:sp>
      <p:pic>
        <p:nvPicPr>
          <p:cNvPr id="6" name="object 6"/>
          <p:cNvPicPr/>
          <p:nvPr/>
        </p:nvPicPr>
        <p:blipFill>
          <a:blip r:embed="rId4" cstate="print"/>
          <a:stretch>
            <a:fillRect/>
          </a:stretch>
        </p:blipFill>
        <p:spPr>
          <a:xfrm>
            <a:off x="2457987" y="318944"/>
            <a:ext cx="1590695" cy="1055376"/>
          </a:xfrm>
          <a:prstGeom prst="rect">
            <a:avLst/>
          </a:prstGeom>
        </p:spPr>
      </p:pic>
      <p:sp>
        <p:nvSpPr>
          <p:cNvPr id="7" name="object 7"/>
          <p:cNvSpPr txBox="1"/>
          <p:nvPr/>
        </p:nvSpPr>
        <p:spPr>
          <a:xfrm>
            <a:off x="4090568" y="1258575"/>
            <a:ext cx="278765" cy="177800"/>
          </a:xfrm>
          <a:prstGeom prst="rect">
            <a:avLst/>
          </a:prstGeom>
        </p:spPr>
        <p:txBody>
          <a:bodyPr vert="horz" wrap="square" lIns="0" tIns="12065" rIns="0" bIns="0" rtlCol="0">
            <a:spAutoFit/>
          </a:bodyPr>
          <a:lstStyle/>
          <a:p>
            <a:pPr marL="12700">
              <a:lnSpc>
                <a:spcPct val="100000"/>
              </a:lnSpc>
              <a:spcBef>
                <a:spcPts val="95"/>
              </a:spcBef>
            </a:pPr>
            <a:r>
              <a:rPr sz="1000" spc="-30" dirty="0">
                <a:latin typeface="SimSun"/>
                <a:cs typeface="SimSun"/>
              </a:rPr>
              <a:t>已用</a:t>
            </a:r>
            <a:endParaRPr sz="1000">
              <a:latin typeface="SimSun"/>
              <a:cs typeface="SimSun"/>
            </a:endParaRPr>
          </a:p>
        </p:txBody>
      </p:sp>
      <p:grpSp>
        <p:nvGrpSpPr>
          <p:cNvPr id="8" name="object 8"/>
          <p:cNvGrpSpPr/>
          <p:nvPr/>
        </p:nvGrpSpPr>
        <p:grpSpPr>
          <a:xfrm>
            <a:off x="537457" y="1723713"/>
            <a:ext cx="30480" cy="30480"/>
            <a:chOff x="537457" y="1723713"/>
            <a:chExt cx="30480" cy="30480"/>
          </a:xfrm>
        </p:grpSpPr>
        <p:sp>
          <p:nvSpPr>
            <p:cNvPr id="9" name="object 9"/>
            <p:cNvSpPr/>
            <p:nvPr/>
          </p:nvSpPr>
          <p:spPr>
            <a:xfrm>
              <a:off x="539987" y="1726244"/>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0" name="object 10"/>
            <p:cNvSpPr/>
            <p:nvPr/>
          </p:nvSpPr>
          <p:spPr>
            <a:xfrm>
              <a:off x="539987" y="1726244"/>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1" name="object 11"/>
          <p:cNvGrpSpPr/>
          <p:nvPr/>
        </p:nvGrpSpPr>
        <p:grpSpPr>
          <a:xfrm>
            <a:off x="537457" y="1933746"/>
            <a:ext cx="30480" cy="30480"/>
            <a:chOff x="537457" y="1933746"/>
            <a:chExt cx="30480" cy="30480"/>
          </a:xfrm>
        </p:grpSpPr>
        <p:sp>
          <p:nvSpPr>
            <p:cNvPr id="12" name="object 12"/>
            <p:cNvSpPr/>
            <p:nvPr/>
          </p:nvSpPr>
          <p:spPr>
            <a:xfrm>
              <a:off x="539987" y="1936276"/>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3" name="object 13"/>
            <p:cNvSpPr/>
            <p:nvPr/>
          </p:nvSpPr>
          <p:spPr>
            <a:xfrm>
              <a:off x="539987" y="1936276"/>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4" name="object 14"/>
          <p:cNvGrpSpPr/>
          <p:nvPr/>
        </p:nvGrpSpPr>
        <p:grpSpPr>
          <a:xfrm>
            <a:off x="537457" y="2143778"/>
            <a:ext cx="30480" cy="30480"/>
            <a:chOff x="537457" y="2143778"/>
            <a:chExt cx="30480" cy="30480"/>
          </a:xfrm>
        </p:grpSpPr>
        <p:sp>
          <p:nvSpPr>
            <p:cNvPr id="15" name="object 15"/>
            <p:cNvSpPr/>
            <p:nvPr/>
          </p:nvSpPr>
          <p:spPr>
            <a:xfrm>
              <a:off x="539987" y="2146309"/>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6" name="object 16"/>
            <p:cNvSpPr/>
            <p:nvPr/>
          </p:nvSpPr>
          <p:spPr>
            <a:xfrm>
              <a:off x="539987" y="2146309"/>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7" name="object 17"/>
          <p:cNvGrpSpPr/>
          <p:nvPr/>
        </p:nvGrpSpPr>
        <p:grpSpPr>
          <a:xfrm>
            <a:off x="359994" y="2457886"/>
            <a:ext cx="3888104" cy="635635"/>
            <a:chOff x="359994" y="2457886"/>
            <a:chExt cx="3888104" cy="635635"/>
          </a:xfrm>
        </p:grpSpPr>
        <p:sp>
          <p:nvSpPr>
            <p:cNvPr id="18" name="object 18"/>
            <p:cNvSpPr/>
            <p:nvPr/>
          </p:nvSpPr>
          <p:spPr>
            <a:xfrm>
              <a:off x="413994" y="2524540"/>
              <a:ext cx="3780154" cy="527685"/>
            </a:xfrm>
            <a:custGeom>
              <a:avLst/>
              <a:gdLst/>
              <a:ahLst/>
              <a:cxnLst/>
              <a:rect l="l" t="t" r="r" b="b"/>
              <a:pathLst>
                <a:path w="3780154" h="527685">
                  <a:moveTo>
                    <a:pt x="3780050" y="0"/>
                  </a:moveTo>
                  <a:lnTo>
                    <a:pt x="0" y="0"/>
                  </a:lnTo>
                  <a:lnTo>
                    <a:pt x="0" y="527463"/>
                  </a:lnTo>
                  <a:lnTo>
                    <a:pt x="3780050" y="527463"/>
                  </a:lnTo>
                  <a:lnTo>
                    <a:pt x="3780050" y="0"/>
                  </a:lnTo>
                  <a:close/>
                </a:path>
              </a:pathLst>
            </a:custGeom>
            <a:solidFill>
              <a:srgbClr val="B2B2B2"/>
            </a:solidFill>
          </p:spPr>
          <p:txBody>
            <a:bodyPr wrap="square" lIns="0" tIns="0" rIns="0" bIns="0" rtlCol="0"/>
            <a:lstStyle/>
            <a:p>
              <a:endParaRPr/>
            </a:p>
          </p:txBody>
        </p:sp>
        <p:sp>
          <p:nvSpPr>
            <p:cNvPr id="19" name="object 19"/>
            <p:cNvSpPr/>
            <p:nvPr/>
          </p:nvSpPr>
          <p:spPr>
            <a:xfrm>
              <a:off x="359994" y="2457886"/>
              <a:ext cx="3888104" cy="635635"/>
            </a:xfrm>
            <a:custGeom>
              <a:avLst/>
              <a:gdLst/>
              <a:ahLst/>
              <a:cxnLst/>
              <a:rect l="l" t="t" r="r" b="b"/>
              <a:pathLst>
                <a:path w="3888104" h="635635">
                  <a:moveTo>
                    <a:pt x="3834050" y="0"/>
                  </a:moveTo>
                  <a:lnTo>
                    <a:pt x="54000" y="0"/>
                  </a:lnTo>
                  <a:lnTo>
                    <a:pt x="32980" y="4243"/>
                  </a:lnTo>
                  <a:lnTo>
                    <a:pt x="15816" y="15816"/>
                  </a:lnTo>
                  <a:lnTo>
                    <a:pt x="4243" y="32980"/>
                  </a:lnTo>
                  <a:lnTo>
                    <a:pt x="0" y="54000"/>
                  </a:lnTo>
                  <a:lnTo>
                    <a:pt x="0" y="581464"/>
                  </a:lnTo>
                  <a:lnTo>
                    <a:pt x="4243" y="602483"/>
                  </a:lnTo>
                  <a:lnTo>
                    <a:pt x="15816" y="619648"/>
                  </a:lnTo>
                  <a:lnTo>
                    <a:pt x="32980" y="631221"/>
                  </a:lnTo>
                  <a:lnTo>
                    <a:pt x="54000" y="635464"/>
                  </a:lnTo>
                  <a:lnTo>
                    <a:pt x="3834050" y="635464"/>
                  </a:lnTo>
                  <a:lnTo>
                    <a:pt x="3855070" y="631221"/>
                  </a:lnTo>
                  <a:lnTo>
                    <a:pt x="3872235" y="619648"/>
                  </a:lnTo>
                  <a:lnTo>
                    <a:pt x="3883807" y="602483"/>
                  </a:lnTo>
                  <a:lnTo>
                    <a:pt x="3888051" y="581464"/>
                  </a:lnTo>
                  <a:lnTo>
                    <a:pt x="3888051" y="54000"/>
                  </a:lnTo>
                  <a:lnTo>
                    <a:pt x="3883807" y="32980"/>
                  </a:lnTo>
                  <a:lnTo>
                    <a:pt x="3872235" y="15816"/>
                  </a:lnTo>
                  <a:lnTo>
                    <a:pt x="3855070" y="4243"/>
                  </a:lnTo>
                  <a:lnTo>
                    <a:pt x="3834050" y="0"/>
                  </a:lnTo>
                  <a:close/>
                </a:path>
              </a:pathLst>
            </a:custGeom>
            <a:solidFill>
              <a:srgbClr val="BE581F"/>
            </a:solidFill>
          </p:spPr>
          <p:txBody>
            <a:bodyPr wrap="square" lIns="0" tIns="0" rIns="0" bIns="0" rtlCol="0"/>
            <a:lstStyle/>
            <a:p>
              <a:endParaRPr/>
            </a:p>
          </p:txBody>
        </p:sp>
        <p:sp>
          <p:nvSpPr>
            <p:cNvPr id="20" name="object 20"/>
            <p:cNvSpPr/>
            <p:nvPr/>
          </p:nvSpPr>
          <p:spPr>
            <a:xfrm>
              <a:off x="359994" y="2669857"/>
              <a:ext cx="3888104" cy="423545"/>
            </a:xfrm>
            <a:custGeom>
              <a:avLst/>
              <a:gdLst/>
              <a:ahLst/>
              <a:cxnLst/>
              <a:rect l="l" t="t" r="r" b="b"/>
              <a:pathLst>
                <a:path w="3888104" h="423544">
                  <a:moveTo>
                    <a:pt x="3888051" y="0"/>
                  </a:moveTo>
                  <a:lnTo>
                    <a:pt x="0" y="0"/>
                  </a:lnTo>
                  <a:lnTo>
                    <a:pt x="0" y="369493"/>
                  </a:lnTo>
                  <a:lnTo>
                    <a:pt x="4243" y="390512"/>
                  </a:lnTo>
                  <a:lnTo>
                    <a:pt x="15816" y="407677"/>
                  </a:lnTo>
                  <a:lnTo>
                    <a:pt x="32980" y="419250"/>
                  </a:lnTo>
                  <a:lnTo>
                    <a:pt x="54000" y="423493"/>
                  </a:lnTo>
                  <a:lnTo>
                    <a:pt x="3834050" y="423493"/>
                  </a:lnTo>
                  <a:lnTo>
                    <a:pt x="3855070" y="419250"/>
                  </a:lnTo>
                  <a:lnTo>
                    <a:pt x="3872235" y="407677"/>
                  </a:lnTo>
                  <a:lnTo>
                    <a:pt x="3883807" y="390512"/>
                  </a:lnTo>
                  <a:lnTo>
                    <a:pt x="3888051" y="369493"/>
                  </a:lnTo>
                  <a:lnTo>
                    <a:pt x="3888051" y="0"/>
                  </a:lnTo>
                  <a:close/>
                </a:path>
              </a:pathLst>
            </a:custGeom>
            <a:solidFill>
              <a:srgbClr val="F8EEE8"/>
            </a:solidFill>
          </p:spPr>
          <p:txBody>
            <a:bodyPr wrap="square" lIns="0" tIns="0" rIns="0" bIns="0" rtlCol="0"/>
            <a:lstStyle/>
            <a:p>
              <a:endParaRPr/>
            </a:p>
          </p:txBody>
        </p:sp>
      </p:grpSp>
      <p:sp>
        <p:nvSpPr>
          <p:cNvPr id="21" name="object 21"/>
          <p:cNvSpPr txBox="1"/>
          <p:nvPr/>
        </p:nvSpPr>
        <p:spPr>
          <a:xfrm>
            <a:off x="408597" y="1353522"/>
            <a:ext cx="3852545" cy="1704339"/>
          </a:xfrm>
          <a:prstGeom prst="rect">
            <a:avLst/>
          </a:prstGeom>
        </p:spPr>
        <p:txBody>
          <a:bodyPr vert="horz" wrap="square" lIns="0" tIns="69215" rIns="0" bIns="0" rtlCol="0">
            <a:spAutoFit/>
          </a:bodyPr>
          <a:lstStyle/>
          <a:p>
            <a:pPr marR="666750" algn="r">
              <a:lnSpc>
                <a:spcPct val="100000"/>
              </a:lnSpc>
              <a:spcBef>
                <a:spcPts val="545"/>
              </a:spcBef>
            </a:pPr>
            <a:r>
              <a:rPr sz="1000" spc="-25" dirty="0">
                <a:latin typeface="SimSun"/>
                <a:cs typeface="SimSun"/>
              </a:rPr>
              <a:t>堆内存</a:t>
            </a:r>
            <a:endParaRPr sz="1000">
              <a:latin typeface="SimSun"/>
              <a:cs typeface="SimSun"/>
            </a:endParaRPr>
          </a:p>
          <a:p>
            <a:pPr marL="227965">
              <a:lnSpc>
                <a:spcPct val="100000"/>
              </a:lnSpc>
              <a:spcBef>
                <a:spcPts val="480"/>
              </a:spcBef>
            </a:pPr>
            <a:r>
              <a:rPr sz="1100" dirty="0">
                <a:latin typeface="Times New Roman"/>
                <a:cs typeface="Times New Roman"/>
              </a:rPr>
              <a:t>platform</a:t>
            </a:r>
            <a:r>
              <a:rPr sz="1100" spc="-25" dirty="0">
                <a:latin typeface="Times New Roman"/>
                <a:cs typeface="Times New Roman"/>
              </a:rPr>
              <a:t> </a:t>
            </a:r>
            <a:r>
              <a:rPr sz="1100" dirty="0">
                <a:latin typeface="Times New Roman"/>
                <a:cs typeface="Times New Roman"/>
              </a:rPr>
              <a:t>thread</a:t>
            </a:r>
            <a:r>
              <a:rPr sz="1100" spc="-20" dirty="0">
                <a:latin typeface="Times New Roman"/>
                <a:cs typeface="Times New Roman"/>
              </a:rPr>
              <a:t> </a:t>
            </a:r>
            <a:r>
              <a:rPr sz="1100" spc="254" dirty="0">
                <a:latin typeface="SimSun"/>
                <a:cs typeface="SimSun"/>
              </a:rPr>
              <a:t>与</a:t>
            </a:r>
            <a:r>
              <a:rPr sz="1100" dirty="0">
                <a:latin typeface="Times New Roman"/>
                <a:cs typeface="Times New Roman"/>
              </a:rPr>
              <a:t>virtual</a:t>
            </a:r>
            <a:r>
              <a:rPr sz="1100" spc="-20" dirty="0">
                <a:latin typeface="Times New Roman"/>
                <a:cs typeface="Times New Roman"/>
              </a:rPr>
              <a:t> </a:t>
            </a:r>
            <a:r>
              <a:rPr sz="1100" dirty="0">
                <a:latin typeface="Times New Roman"/>
                <a:cs typeface="Times New Roman"/>
              </a:rPr>
              <a:t>thread</a:t>
            </a:r>
            <a:r>
              <a:rPr sz="1100" spc="-20" dirty="0">
                <a:latin typeface="Times New Roman"/>
                <a:cs typeface="Times New Roman"/>
              </a:rPr>
              <a:t> </a:t>
            </a:r>
            <a:r>
              <a:rPr sz="1100" spc="-25" dirty="0">
                <a:latin typeface="SimSun"/>
                <a:cs typeface="SimSun"/>
              </a:rPr>
              <a:t>在低并发接近。</a:t>
            </a:r>
            <a:endParaRPr sz="1100">
              <a:latin typeface="SimSun"/>
              <a:cs typeface="SimSun"/>
            </a:endParaRPr>
          </a:p>
          <a:p>
            <a:pPr marL="227965">
              <a:lnSpc>
                <a:spcPct val="100000"/>
              </a:lnSpc>
              <a:spcBef>
                <a:spcPts val="330"/>
              </a:spcBef>
            </a:pPr>
            <a:r>
              <a:rPr sz="1100" spc="-110" dirty="0">
                <a:latin typeface="SimSun"/>
                <a:cs typeface="SimSun"/>
              </a:rPr>
              <a:t>并发 </a:t>
            </a:r>
            <a:r>
              <a:rPr sz="1100" dirty="0">
                <a:latin typeface="Times New Roman"/>
                <a:cs typeface="Times New Roman"/>
              </a:rPr>
              <a:t>1000 </a:t>
            </a:r>
            <a:r>
              <a:rPr sz="1100" spc="-15" dirty="0">
                <a:latin typeface="SimSun"/>
                <a:cs typeface="SimSun"/>
              </a:rPr>
              <a:t>之后，</a:t>
            </a:r>
            <a:r>
              <a:rPr sz="1100" dirty="0">
                <a:latin typeface="Times New Roman"/>
                <a:cs typeface="Times New Roman"/>
              </a:rPr>
              <a:t>virtual thread </a:t>
            </a:r>
            <a:r>
              <a:rPr sz="1100" spc="-25" dirty="0">
                <a:latin typeface="SimSun"/>
                <a:cs typeface="SimSun"/>
              </a:rPr>
              <a:t>吞吐优势逐渐拉大。</a:t>
            </a:r>
            <a:endParaRPr sz="1100">
              <a:latin typeface="SimSun"/>
              <a:cs typeface="SimSun"/>
            </a:endParaRPr>
          </a:p>
          <a:p>
            <a:pPr marL="227965" marR="5080">
              <a:lnSpc>
                <a:spcPct val="102600"/>
              </a:lnSpc>
              <a:spcBef>
                <a:spcPts val="300"/>
              </a:spcBef>
            </a:pPr>
            <a:r>
              <a:rPr sz="1100" dirty="0">
                <a:latin typeface="Times New Roman"/>
                <a:cs typeface="Times New Roman"/>
              </a:rPr>
              <a:t>Java</a:t>
            </a:r>
            <a:r>
              <a:rPr sz="1100" spc="-30" dirty="0">
                <a:latin typeface="Times New Roman"/>
                <a:cs typeface="Times New Roman"/>
              </a:rPr>
              <a:t> </a:t>
            </a:r>
            <a:r>
              <a:rPr sz="1100" spc="65" dirty="0">
                <a:latin typeface="SimSun"/>
                <a:cs typeface="SimSun"/>
              </a:rPr>
              <a:t>内存受</a:t>
            </a:r>
            <a:r>
              <a:rPr sz="1100" dirty="0">
                <a:latin typeface="Times New Roman"/>
                <a:cs typeface="Times New Roman"/>
              </a:rPr>
              <a:t>GC</a:t>
            </a:r>
            <a:r>
              <a:rPr sz="1100" spc="-30" dirty="0">
                <a:latin typeface="Times New Roman"/>
                <a:cs typeface="Times New Roman"/>
              </a:rPr>
              <a:t> </a:t>
            </a:r>
            <a:r>
              <a:rPr sz="1100" spc="-30" dirty="0">
                <a:latin typeface="SimSun"/>
                <a:cs typeface="SimSun"/>
              </a:rPr>
              <a:t>影响，适合看趋势，不宜与</a:t>
            </a:r>
            <a:r>
              <a:rPr sz="1100" dirty="0">
                <a:latin typeface="Times New Roman"/>
                <a:cs typeface="Times New Roman"/>
              </a:rPr>
              <a:t>Python</a:t>
            </a:r>
            <a:r>
              <a:rPr sz="1100" spc="-30" dirty="0">
                <a:latin typeface="Times New Roman"/>
                <a:cs typeface="Times New Roman"/>
              </a:rPr>
              <a:t> </a:t>
            </a:r>
            <a:r>
              <a:rPr sz="1100" dirty="0">
                <a:latin typeface="Times New Roman"/>
                <a:cs typeface="Times New Roman"/>
              </a:rPr>
              <a:t>RSS</a:t>
            </a:r>
            <a:r>
              <a:rPr sz="1100" spc="-30" dirty="0">
                <a:latin typeface="Times New Roman"/>
                <a:cs typeface="Times New Roman"/>
              </a:rPr>
              <a:t> </a:t>
            </a:r>
            <a:r>
              <a:rPr sz="1100" spc="-35" dirty="0">
                <a:latin typeface="SimSun"/>
                <a:cs typeface="SimSun"/>
              </a:rPr>
              <a:t>绝对</a:t>
            </a:r>
            <a:r>
              <a:rPr sz="1100" spc="-25" dirty="0">
                <a:latin typeface="SimSun"/>
                <a:cs typeface="SimSun"/>
              </a:rPr>
              <a:t>值横向比较。</a:t>
            </a:r>
            <a:endParaRPr sz="1100">
              <a:latin typeface="SimSun"/>
              <a:cs typeface="SimSun"/>
            </a:endParaRPr>
          </a:p>
          <a:p>
            <a:pPr marL="12700">
              <a:lnSpc>
                <a:spcPct val="100000"/>
              </a:lnSpc>
              <a:spcBef>
                <a:spcPts val="560"/>
              </a:spcBef>
            </a:pPr>
            <a:r>
              <a:rPr sz="1200" spc="-30" dirty="0">
                <a:solidFill>
                  <a:srgbClr val="FFFFFF"/>
                </a:solidFill>
                <a:latin typeface="SimSun"/>
                <a:cs typeface="SimSun"/>
              </a:rPr>
              <a:t>实验结论</a:t>
            </a:r>
            <a:endParaRPr sz="1200">
              <a:latin typeface="SimSun"/>
              <a:cs typeface="SimSun"/>
            </a:endParaRPr>
          </a:p>
          <a:p>
            <a:pPr marL="12700" marR="66040">
              <a:lnSpc>
                <a:spcPct val="102600"/>
              </a:lnSpc>
              <a:spcBef>
                <a:spcPts val="405"/>
              </a:spcBef>
            </a:pPr>
            <a:r>
              <a:rPr sz="1100" dirty="0">
                <a:latin typeface="Times New Roman"/>
                <a:cs typeface="Times New Roman"/>
              </a:rPr>
              <a:t>Java 21 </a:t>
            </a:r>
            <a:r>
              <a:rPr sz="1100" spc="-45" dirty="0">
                <a:latin typeface="SimSun"/>
                <a:cs typeface="SimSun"/>
              </a:rPr>
              <a:t>表明，即使保留线程式编程风格，轻量级并发执行单元</a:t>
            </a:r>
            <a:r>
              <a:rPr sz="1100" spc="-25" dirty="0">
                <a:latin typeface="SimSun"/>
                <a:cs typeface="SimSun"/>
              </a:rPr>
              <a:t>在高并发等待型任务中仍可获得较好的伸缩性。</a:t>
            </a:r>
            <a:endParaRPr sz="1100">
              <a:latin typeface="SimSun"/>
              <a:cs typeface="SimSun"/>
            </a:endParaRPr>
          </a:p>
        </p:txBody>
      </p:sp>
      <p:grpSp>
        <p:nvGrpSpPr>
          <p:cNvPr id="22" name="object 22"/>
          <p:cNvGrpSpPr/>
          <p:nvPr/>
        </p:nvGrpSpPr>
        <p:grpSpPr>
          <a:xfrm>
            <a:off x="0" y="3309520"/>
            <a:ext cx="4608195" cy="146685"/>
            <a:chOff x="0" y="3309520"/>
            <a:chExt cx="4608195" cy="146685"/>
          </a:xfrm>
        </p:grpSpPr>
        <p:sp>
          <p:nvSpPr>
            <p:cNvPr id="23" name="object 23"/>
            <p:cNvSpPr/>
            <p:nvPr/>
          </p:nvSpPr>
          <p:spPr>
            <a:xfrm>
              <a:off x="0" y="3309520"/>
              <a:ext cx="1464945" cy="146685"/>
            </a:xfrm>
            <a:custGeom>
              <a:avLst/>
              <a:gdLst/>
              <a:ahLst/>
              <a:cxnLst/>
              <a:rect l="l" t="t" r="r" b="b"/>
              <a:pathLst>
                <a:path w="1464945" h="146685">
                  <a:moveTo>
                    <a:pt x="1464490" y="146530"/>
                  </a:moveTo>
                  <a:lnTo>
                    <a:pt x="1464490" y="0"/>
                  </a:lnTo>
                  <a:lnTo>
                    <a:pt x="0" y="0"/>
                  </a:lnTo>
                  <a:lnTo>
                    <a:pt x="0" y="146530"/>
                  </a:lnTo>
                  <a:lnTo>
                    <a:pt x="1464490" y="146530"/>
                  </a:lnTo>
                  <a:close/>
                </a:path>
              </a:pathLst>
            </a:custGeom>
            <a:solidFill>
              <a:srgbClr val="4681B4"/>
            </a:solidFill>
          </p:spPr>
          <p:txBody>
            <a:bodyPr wrap="square" lIns="0" tIns="0" rIns="0" bIns="0" rtlCol="0"/>
            <a:lstStyle/>
            <a:p>
              <a:endParaRPr/>
            </a:p>
          </p:txBody>
        </p:sp>
        <p:sp>
          <p:nvSpPr>
            <p:cNvPr id="24" name="object 24"/>
            <p:cNvSpPr/>
            <p:nvPr/>
          </p:nvSpPr>
          <p:spPr>
            <a:xfrm>
              <a:off x="1464490" y="3309520"/>
              <a:ext cx="2672715" cy="146685"/>
            </a:xfrm>
            <a:custGeom>
              <a:avLst/>
              <a:gdLst/>
              <a:ahLst/>
              <a:cxnLst/>
              <a:rect l="l" t="t" r="r" b="b"/>
              <a:pathLst>
                <a:path w="2672715" h="146685">
                  <a:moveTo>
                    <a:pt x="2672682" y="0"/>
                  </a:moveTo>
                  <a:lnTo>
                    <a:pt x="0" y="0"/>
                  </a:lnTo>
                  <a:lnTo>
                    <a:pt x="0" y="146530"/>
                  </a:lnTo>
                  <a:lnTo>
                    <a:pt x="2672682" y="146530"/>
                  </a:lnTo>
                  <a:lnTo>
                    <a:pt x="2672682" y="0"/>
                  </a:lnTo>
                  <a:close/>
                </a:path>
              </a:pathLst>
            </a:custGeom>
            <a:solidFill>
              <a:srgbClr val="1B4681"/>
            </a:solidFill>
          </p:spPr>
          <p:txBody>
            <a:bodyPr wrap="square" lIns="0" tIns="0" rIns="0" bIns="0" rtlCol="0"/>
            <a:lstStyle/>
            <a:p>
              <a:endParaRPr/>
            </a:p>
          </p:txBody>
        </p:sp>
        <p:sp>
          <p:nvSpPr>
            <p:cNvPr id="25" name="object 25"/>
            <p:cNvSpPr/>
            <p:nvPr/>
          </p:nvSpPr>
          <p:spPr>
            <a:xfrm>
              <a:off x="4137103" y="3309520"/>
              <a:ext cx="471170" cy="146685"/>
            </a:xfrm>
            <a:custGeom>
              <a:avLst/>
              <a:gdLst/>
              <a:ahLst/>
              <a:cxnLst/>
              <a:rect l="l" t="t" r="r" b="b"/>
              <a:pathLst>
                <a:path w="471170" h="146685">
                  <a:moveTo>
                    <a:pt x="470836" y="0"/>
                  </a:moveTo>
                  <a:lnTo>
                    <a:pt x="0" y="0"/>
                  </a:lnTo>
                  <a:lnTo>
                    <a:pt x="0" y="146530"/>
                  </a:lnTo>
                  <a:lnTo>
                    <a:pt x="470836" y="146530"/>
                  </a:lnTo>
                  <a:lnTo>
                    <a:pt x="470836" y="0"/>
                  </a:lnTo>
                  <a:close/>
                </a:path>
              </a:pathLst>
            </a:custGeom>
            <a:solidFill>
              <a:srgbClr val="0A2750"/>
            </a:solidFill>
          </p:spPr>
          <p:txBody>
            <a:bodyPr wrap="square" lIns="0" tIns="0" rIns="0" bIns="0" rtlCol="0"/>
            <a:lstStyle/>
            <a:p>
              <a:endParaRPr/>
            </a:p>
          </p:txBody>
        </p:sp>
      </p:grpSp>
      <p:sp>
        <p:nvSpPr>
          <p:cNvPr id="26" name="object 26"/>
          <p:cNvSpPr txBox="1">
            <a:spLocks noGrp="1"/>
          </p:cNvSpPr>
          <p:nvPr>
            <p:ph type="dt" sz="half" idx="6"/>
          </p:nvPr>
        </p:nvSpPr>
        <p:spPr>
          <a:prstGeom prst="rect">
            <a:avLst/>
          </a:prstGeom>
        </p:spPr>
        <p:txBody>
          <a:bodyPr vert="horz" wrap="square" lIns="0" tIns="1270" rIns="0" bIns="0" rtlCol="0">
            <a:spAutoFit/>
          </a:bodyPr>
          <a:lstStyle/>
          <a:p>
            <a:pPr marL="12700">
              <a:lnSpc>
                <a:spcPct val="100000"/>
              </a:lnSpc>
              <a:spcBef>
                <a:spcPts val="10"/>
              </a:spcBef>
            </a:pPr>
            <a:r>
              <a:rPr spc="35" dirty="0"/>
              <a:t>尚文轩 南开大学</a:t>
            </a:r>
          </a:p>
        </p:txBody>
      </p:sp>
      <p:sp>
        <p:nvSpPr>
          <p:cNvPr id="27" name="object 27"/>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spc="-30" dirty="0">
                <a:latin typeface="Times New Roman"/>
                <a:cs typeface="Times New Roman"/>
              </a:rPr>
              <a:t>OT-</a:t>
            </a:r>
            <a:r>
              <a:rPr spc="-20" dirty="0"/>
              <a:t>协程技术调研</a:t>
            </a:r>
          </a:p>
        </p:txBody>
      </p:sp>
      <p:sp>
        <p:nvSpPr>
          <p:cNvPr id="28" name="object 28"/>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25" dirty="0"/>
              <a:t>16</a:t>
            </a:fld>
            <a:endParaRPr spc="-25" dirty="0"/>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8" name="图片 37">
            <a:extLst>
              <a:ext uri="{FF2B5EF4-FFF2-40B4-BE49-F238E27FC236}">
                <a16:creationId xmlns:a16="http://schemas.microsoft.com/office/drawing/2014/main" id="{62149A83-445F-D2EA-8178-ECA6CE9AAB38}"/>
              </a:ext>
            </a:extLst>
          </p:cNvPr>
          <p:cNvPicPr>
            <a:picLocks noChangeAspect="1"/>
          </p:cNvPicPr>
          <p:nvPr/>
        </p:nvPicPr>
        <p:blipFill>
          <a:blip r:embed="rId2"/>
          <a:stretch>
            <a:fillRect/>
          </a:stretch>
        </p:blipFill>
        <p:spPr>
          <a:xfrm>
            <a:off x="0" y="1"/>
            <a:ext cx="4610100" cy="250672"/>
          </a:xfrm>
          <a:prstGeom prst="rect">
            <a:avLst/>
          </a:prstGeom>
        </p:spPr>
      </p:pic>
      <p:sp>
        <p:nvSpPr>
          <p:cNvPr id="2" name="object 2" descr="$PPTXTitle"/>
          <p:cNvSpPr txBox="1">
            <a:spLocks noGrp="1"/>
          </p:cNvSpPr>
          <p:nvPr>
            <p:ph type="title"/>
          </p:nvPr>
        </p:nvSpPr>
        <p:spPr>
          <a:xfrm>
            <a:off x="105130" y="42594"/>
            <a:ext cx="2796540" cy="180819"/>
          </a:xfrm>
          <a:prstGeom prst="rect">
            <a:avLst/>
          </a:prstGeom>
        </p:spPr>
        <p:txBody>
          <a:bodyPr vert="horz" wrap="square" lIns="0" tIns="11430" rIns="0" bIns="0" rtlCol="0">
            <a:spAutoFit/>
          </a:bodyPr>
          <a:lstStyle/>
          <a:p>
            <a:pPr marL="12700">
              <a:lnSpc>
                <a:spcPct val="100000"/>
              </a:lnSpc>
              <a:spcBef>
                <a:spcPts val="90"/>
              </a:spcBef>
            </a:pPr>
            <a:r>
              <a:rPr spc="-25" dirty="0">
                <a:solidFill>
                  <a:schemeClr val="bg1"/>
                </a:solidFill>
              </a:rPr>
              <a:t>为何高并发场景下会出现平台、波动或回落？</a:t>
            </a:r>
          </a:p>
        </p:txBody>
      </p:sp>
      <p:sp>
        <p:nvSpPr>
          <p:cNvPr id="3" name="object 3"/>
          <p:cNvSpPr/>
          <p:nvPr/>
        </p:nvSpPr>
        <p:spPr>
          <a:xfrm>
            <a:off x="0" y="252052"/>
            <a:ext cx="4608195" cy="0"/>
          </a:xfrm>
          <a:custGeom>
            <a:avLst/>
            <a:gdLst/>
            <a:ahLst/>
            <a:cxnLst/>
            <a:rect l="l" t="t" r="r" b="b"/>
            <a:pathLst>
              <a:path w="4608195">
                <a:moveTo>
                  <a:pt x="0" y="0"/>
                </a:moveTo>
                <a:lnTo>
                  <a:pt x="4608060" y="0"/>
                </a:lnTo>
              </a:path>
            </a:pathLst>
          </a:custGeom>
          <a:ln w="12652">
            <a:solidFill>
              <a:srgbClr val="1B4681"/>
            </a:solidFill>
          </a:ln>
        </p:spPr>
        <p:txBody>
          <a:bodyPr wrap="square" lIns="0" tIns="0" rIns="0" bIns="0" rtlCol="0"/>
          <a:lstStyle/>
          <a:p>
            <a:endParaRPr/>
          </a:p>
        </p:txBody>
      </p:sp>
      <p:grpSp>
        <p:nvGrpSpPr>
          <p:cNvPr id="4" name="object 4"/>
          <p:cNvGrpSpPr/>
          <p:nvPr/>
        </p:nvGrpSpPr>
        <p:grpSpPr>
          <a:xfrm>
            <a:off x="240004" y="560759"/>
            <a:ext cx="2021839" cy="1227455"/>
            <a:chOff x="240004" y="560759"/>
            <a:chExt cx="2021839" cy="1227455"/>
          </a:xfrm>
        </p:grpSpPr>
        <p:sp>
          <p:nvSpPr>
            <p:cNvPr id="5" name="object 5"/>
            <p:cNvSpPr/>
            <p:nvPr/>
          </p:nvSpPr>
          <p:spPr>
            <a:xfrm>
              <a:off x="294005" y="627412"/>
              <a:ext cx="1913889" cy="1119505"/>
            </a:xfrm>
            <a:custGeom>
              <a:avLst/>
              <a:gdLst/>
              <a:ahLst/>
              <a:cxnLst/>
              <a:rect l="l" t="t" r="r" b="b"/>
              <a:pathLst>
                <a:path w="1913889" h="1119505">
                  <a:moveTo>
                    <a:pt x="1913802" y="0"/>
                  </a:moveTo>
                  <a:lnTo>
                    <a:pt x="0" y="0"/>
                  </a:lnTo>
                  <a:lnTo>
                    <a:pt x="0" y="1119070"/>
                  </a:lnTo>
                  <a:lnTo>
                    <a:pt x="1913802" y="1119070"/>
                  </a:lnTo>
                  <a:lnTo>
                    <a:pt x="1913802" y="0"/>
                  </a:lnTo>
                  <a:close/>
                </a:path>
              </a:pathLst>
            </a:custGeom>
            <a:solidFill>
              <a:srgbClr val="B2B2B2"/>
            </a:solidFill>
          </p:spPr>
          <p:txBody>
            <a:bodyPr wrap="square" lIns="0" tIns="0" rIns="0" bIns="0" rtlCol="0"/>
            <a:lstStyle/>
            <a:p>
              <a:endParaRPr/>
            </a:p>
          </p:txBody>
        </p:sp>
        <p:sp>
          <p:nvSpPr>
            <p:cNvPr id="6" name="object 6"/>
            <p:cNvSpPr/>
            <p:nvPr/>
          </p:nvSpPr>
          <p:spPr>
            <a:xfrm>
              <a:off x="240004" y="560759"/>
              <a:ext cx="2021839" cy="1227455"/>
            </a:xfrm>
            <a:custGeom>
              <a:avLst/>
              <a:gdLst/>
              <a:ahLst/>
              <a:cxnLst/>
              <a:rect l="l" t="t" r="r" b="b"/>
              <a:pathLst>
                <a:path w="2021839" h="1227455">
                  <a:moveTo>
                    <a:pt x="1967802" y="0"/>
                  </a:moveTo>
                  <a:lnTo>
                    <a:pt x="54000" y="0"/>
                  </a:lnTo>
                  <a:lnTo>
                    <a:pt x="32980" y="4243"/>
                  </a:lnTo>
                  <a:lnTo>
                    <a:pt x="15816" y="15816"/>
                  </a:lnTo>
                  <a:lnTo>
                    <a:pt x="4243" y="32980"/>
                  </a:lnTo>
                  <a:lnTo>
                    <a:pt x="0" y="54000"/>
                  </a:lnTo>
                  <a:lnTo>
                    <a:pt x="0" y="1173070"/>
                  </a:lnTo>
                  <a:lnTo>
                    <a:pt x="4243" y="1194089"/>
                  </a:lnTo>
                  <a:lnTo>
                    <a:pt x="15816" y="1211254"/>
                  </a:lnTo>
                  <a:lnTo>
                    <a:pt x="32980" y="1222827"/>
                  </a:lnTo>
                  <a:lnTo>
                    <a:pt x="54000" y="1227070"/>
                  </a:lnTo>
                  <a:lnTo>
                    <a:pt x="1967802" y="1227070"/>
                  </a:lnTo>
                  <a:lnTo>
                    <a:pt x="1988822" y="1222827"/>
                  </a:lnTo>
                  <a:lnTo>
                    <a:pt x="2005986" y="1211254"/>
                  </a:lnTo>
                  <a:lnTo>
                    <a:pt x="2017559" y="1194089"/>
                  </a:lnTo>
                  <a:lnTo>
                    <a:pt x="2021803" y="1173070"/>
                  </a:lnTo>
                  <a:lnTo>
                    <a:pt x="2021803" y="54000"/>
                  </a:lnTo>
                  <a:lnTo>
                    <a:pt x="2017559" y="32980"/>
                  </a:lnTo>
                  <a:lnTo>
                    <a:pt x="2005986" y="15816"/>
                  </a:lnTo>
                  <a:lnTo>
                    <a:pt x="1988822" y="4243"/>
                  </a:lnTo>
                  <a:lnTo>
                    <a:pt x="1967802" y="0"/>
                  </a:lnTo>
                  <a:close/>
                </a:path>
              </a:pathLst>
            </a:custGeom>
            <a:solidFill>
              <a:srgbClr val="1B4681"/>
            </a:solidFill>
          </p:spPr>
          <p:txBody>
            <a:bodyPr wrap="square" lIns="0" tIns="0" rIns="0" bIns="0" rtlCol="0"/>
            <a:lstStyle/>
            <a:p>
              <a:endParaRPr/>
            </a:p>
          </p:txBody>
        </p:sp>
        <p:sp>
          <p:nvSpPr>
            <p:cNvPr id="7" name="object 7"/>
            <p:cNvSpPr/>
            <p:nvPr/>
          </p:nvSpPr>
          <p:spPr>
            <a:xfrm>
              <a:off x="240004" y="772730"/>
              <a:ext cx="2021839" cy="1015365"/>
            </a:xfrm>
            <a:custGeom>
              <a:avLst/>
              <a:gdLst/>
              <a:ahLst/>
              <a:cxnLst/>
              <a:rect l="l" t="t" r="r" b="b"/>
              <a:pathLst>
                <a:path w="2021839" h="1015364">
                  <a:moveTo>
                    <a:pt x="2021803" y="0"/>
                  </a:moveTo>
                  <a:lnTo>
                    <a:pt x="0" y="0"/>
                  </a:lnTo>
                  <a:lnTo>
                    <a:pt x="0" y="961099"/>
                  </a:lnTo>
                  <a:lnTo>
                    <a:pt x="4243" y="982118"/>
                  </a:lnTo>
                  <a:lnTo>
                    <a:pt x="15816" y="999283"/>
                  </a:lnTo>
                  <a:lnTo>
                    <a:pt x="32980" y="1010856"/>
                  </a:lnTo>
                  <a:lnTo>
                    <a:pt x="54000" y="1015099"/>
                  </a:lnTo>
                  <a:lnTo>
                    <a:pt x="1967802" y="1015099"/>
                  </a:lnTo>
                  <a:lnTo>
                    <a:pt x="1988822" y="1010856"/>
                  </a:lnTo>
                  <a:lnTo>
                    <a:pt x="2005986" y="999283"/>
                  </a:lnTo>
                  <a:lnTo>
                    <a:pt x="2017559" y="982118"/>
                  </a:lnTo>
                  <a:lnTo>
                    <a:pt x="2021803" y="961099"/>
                  </a:lnTo>
                  <a:lnTo>
                    <a:pt x="2021803" y="0"/>
                  </a:lnTo>
                  <a:close/>
                </a:path>
              </a:pathLst>
            </a:custGeom>
            <a:solidFill>
              <a:srgbClr val="E8ECF2"/>
            </a:solidFill>
          </p:spPr>
          <p:txBody>
            <a:bodyPr wrap="square" lIns="0" tIns="0" rIns="0" bIns="0" rtlCol="0"/>
            <a:lstStyle/>
            <a:p>
              <a:endParaRPr/>
            </a:p>
          </p:txBody>
        </p:sp>
        <p:sp>
          <p:nvSpPr>
            <p:cNvPr id="8" name="object 8"/>
            <p:cNvSpPr/>
            <p:nvPr/>
          </p:nvSpPr>
          <p:spPr>
            <a:xfrm>
              <a:off x="481288" y="898712"/>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9" name="object 9"/>
            <p:cNvSpPr/>
            <p:nvPr/>
          </p:nvSpPr>
          <p:spPr>
            <a:xfrm>
              <a:off x="481288" y="898712"/>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sp>
          <p:nvSpPr>
            <p:cNvPr id="10" name="object 10"/>
            <p:cNvSpPr/>
            <p:nvPr/>
          </p:nvSpPr>
          <p:spPr>
            <a:xfrm>
              <a:off x="481288" y="1280816"/>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1" name="object 11"/>
            <p:cNvSpPr/>
            <p:nvPr/>
          </p:nvSpPr>
          <p:spPr>
            <a:xfrm>
              <a:off x="481288" y="1280816"/>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sp>
          <p:nvSpPr>
            <p:cNvPr id="12" name="object 12"/>
            <p:cNvSpPr/>
            <p:nvPr/>
          </p:nvSpPr>
          <p:spPr>
            <a:xfrm>
              <a:off x="481288" y="1662934"/>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3" name="object 13"/>
            <p:cNvSpPr/>
            <p:nvPr/>
          </p:nvSpPr>
          <p:spPr>
            <a:xfrm>
              <a:off x="481288" y="1662934"/>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sp>
        <p:nvSpPr>
          <p:cNvPr id="14" name="object 14"/>
          <p:cNvSpPr txBox="1"/>
          <p:nvPr/>
        </p:nvSpPr>
        <p:spPr>
          <a:xfrm>
            <a:off x="288607" y="493189"/>
            <a:ext cx="1826895" cy="1259840"/>
          </a:xfrm>
          <a:prstGeom prst="rect">
            <a:avLst/>
          </a:prstGeom>
        </p:spPr>
        <p:txBody>
          <a:bodyPr vert="horz" wrap="square" lIns="0" tIns="75565" rIns="0" bIns="0" rtlCol="0">
            <a:spAutoFit/>
          </a:bodyPr>
          <a:lstStyle/>
          <a:p>
            <a:pPr marL="12700">
              <a:lnSpc>
                <a:spcPct val="100000"/>
              </a:lnSpc>
              <a:spcBef>
                <a:spcPts val="595"/>
              </a:spcBef>
            </a:pPr>
            <a:r>
              <a:rPr sz="1200" spc="-30" dirty="0">
                <a:solidFill>
                  <a:srgbClr val="FFFFFF"/>
                </a:solidFill>
                <a:latin typeface="SimSun"/>
                <a:cs typeface="SimSun"/>
              </a:rPr>
              <a:t>线程池侧</a:t>
            </a:r>
            <a:endParaRPr sz="1200">
              <a:latin typeface="SimSun"/>
              <a:cs typeface="SimSun"/>
            </a:endParaRPr>
          </a:p>
          <a:p>
            <a:pPr marL="289560" marR="5080">
              <a:lnSpc>
                <a:spcPct val="102600"/>
              </a:lnSpc>
              <a:spcBef>
                <a:spcPts val="409"/>
              </a:spcBef>
            </a:pPr>
            <a:r>
              <a:rPr sz="1100" spc="-25" dirty="0">
                <a:latin typeface="SimSun"/>
                <a:cs typeface="SimSun"/>
              </a:rPr>
              <a:t>并发度升高后，排队与调</a:t>
            </a:r>
            <a:r>
              <a:rPr sz="1100" spc="-30" dirty="0">
                <a:latin typeface="SimSun"/>
                <a:cs typeface="SimSun"/>
              </a:rPr>
              <a:t>度开销增加</a:t>
            </a:r>
            <a:endParaRPr sz="1100">
              <a:latin typeface="SimSun"/>
              <a:cs typeface="SimSun"/>
            </a:endParaRPr>
          </a:p>
          <a:p>
            <a:pPr marL="289560" marR="5080">
              <a:lnSpc>
                <a:spcPct val="102600"/>
              </a:lnSpc>
              <a:spcBef>
                <a:spcPts val="300"/>
              </a:spcBef>
            </a:pPr>
            <a:r>
              <a:rPr sz="1100" spc="-25" dirty="0">
                <a:latin typeface="SimSun"/>
                <a:cs typeface="SimSun"/>
              </a:rPr>
              <a:t>线程栈、线程对象与上下文切换成本上升</a:t>
            </a:r>
            <a:endParaRPr sz="1100">
              <a:latin typeface="SimSun"/>
              <a:cs typeface="SimSun"/>
            </a:endParaRPr>
          </a:p>
          <a:p>
            <a:pPr marL="289560">
              <a:lnSpc>
                <a:spcPct val="100000"/>
              </a:lnSpc>
              <a:spcBef>
                <a:spcPts val="335"/>
              </a:spcBef>
            </a:pPr>
            <a:r>
              <a:rPr sz="1100" spc="-25" dirty="0">
                <a:latin typeface="SimSun"/>
                <a:cs typeface="SimSun"/>
              </a:rPr>
              <a:t>资源竞争导致吞吐回落</a:t>
            </a:r>
            <a:endParaRPr sz="1100">
              <a:latin typeface="SimSun"/>
              <a:cs typeface="SimSun"/>
            </a:endParaRPr>
          </a:p>
        </p:txBody>
      </p:sp>
      <p:grpSp>
        <p:nvGrpSpPr>
          <p:cNvPr id="15" name="object 15"/>
          <p:cNvGrpSpPr/>
          <p:nvPr/>
        </p:nvGrpSpPr>
        <p:grpSpPr>
          <a:xfrm>
            <a:off x="2501773" y="560753"/>
            <a:ext cx="1866264" cy="1572260"/>
            <a:chOff x="2501773" y="560753"/>
            <a:chExt cx="1866264" cy="1572260"/>
          </a:xfrm>
        </p:grpSpPr>
        <p:sp>
          <p:nvSpPr>
            <p:cNvPr id="16" name="object 16"/>
            <p:cNvSpPr/>
            <p:nvPr/>
          </p:nvSpPr>
          <p:spPr>
            <a:xfrm>
              <a:off x="2555773" y="627406"/>
              <a:ext cx="1758314" cy="1464310"/>
            </a:xfrm>
            <a:custGeom>
              <a:avLst/>
              <a:gdLst/>
              <a:ahLst/>
              <a:cxnLst/>
              <a:rect l="l" t="t" r="r" b="b"/>
              <a:pathLst>
                <a:path w="1758314" h="1464310">
                  <a:moveTo>
                    <a:pt x="1758246" y="0"/>
                  </a:moveTo>
                  <a:lnTo>
                    <a:pt x="0" y="0"/>
                  </a:lnTo>
                  <a:lnTo>
                    <a:pt x="0" y="1463816"/>
                  </a:lnTo>
                  <a:lnTo>
                    <a:pt x="1758246" y="1463816"/>
                  </a:lnTo>
                  <a:lnTo>
                    <a:pt x="1758246" y="0"/>
                  </a:lnTo>
                  <a:close/>
                </a:path>
              </a:pathLst>
            </a:custGeom>
            <a:solidFill>
              <a:srgbClr val="B2B2B2"/>
            </a:solidFill>
          </p:spPr>
          <p:txBody>
            <a:bodyPr wrap="square" lIns="0" tIns="0" rIns="0" bIns="0" rtlCol="0"/>
            <a:lstStyle/>
            <a:p>
              <a:endParaRPr/>
            </a:p>
          </p:txBody>
        </p:sp>
        <p:sp>
          <p:nvSpPr>
            <p:cNvPr id="17" name="object 17"/>
            <p:cNvSpPr/>
            <p:nvPr/>
          </p:nvSpPr>
          <p:spPr>
            <a:xfrm>
              <a:off x="2501773" y="560753"/>
              <a:ext cx="1866264" cy="1572260"/>
            </a:xfrm>
            <a:custGeom>
              <a:avLst/>
              <a:gdLst/>
              <a:ahLst/>
              <a:cxnLst/>
              <a:rect l="l" t="t" r="r" b="b"/>
              <a:pathLst>
                <a:path w="1866264" h="1572260">
                  <a:moveTo>
                    <a:pt x="1812247" y="0"/>
                  </a:moveTo>
                  <a:lnTo>
                    <a:pt x="54000" y="0"/>
                  </a:lnTo>
                  <a:lnTo>
                    <a:pt x="32980" y="4243"/>
                  </a:lnTo>
                  <a:lnTo>
                    <a:pt x="15816" y="15816"/>
                  </a:lnTo>
                  <a:lnTo>
                    <a:pt x="4243" y="32981"/>
                  </a:lnTo>
                  <a:lnTo>
                    <a:pt x="0" y="54000"/>
                  </a:lnTo>
                  <a:lnTo>
                    <a:pt x="0" y="1517817"/>
                  </a:lnTo>
                  <a:lnTo>
                    <a:pt x="4243" y="1538837"/>
                  </a:lnTo>
                  <a:lnTo>
                    <a:pt x="15816" y="1556001"/>
                  </a:lnTo>
                  <a:lnTo>
                    <a:pt x="32980" y="1567574"/>
                  </a:lnTo>
                  <a:lnTo>
                    <a:pt x="54000" y="1571818"/>
                  </a:lnTo>
                  <a:lnTo>
                    <a:pt x="1812247" y="1571818"/>
                  </a:lnTo>
                  <a:lnTo>
                    <a:pt x="1833266" y="1567574"/>
                  </a:lnTo>
                  <a:lnTo>
                    <a:pt x="1850431" y="1556001"/>
                  </a:lnTo>
                  <a:lnTo>
                    <a:pt x="1862004" y="1538837"/>
                  </a:lnTo>
                  <a:lnTo>
                    <a:pt x="1866247" y="1517817"/>
                  </a:lnTo>
                  <a:lnTo>
                    <a:pt x="1866247" y="54000"/>
                  </a:lnTo>
                  <a:lnTo>
                    <a:pt x="1862004" y="32981"/>
                  </a:lnTo>
                  <a:lnTo>
                    <a:pt x="1850431" y="15816"/>
                  </a:lnTo>
                  <a:lnTo>
                    <a:pt x="1833266" y="4243"/>
                  </a:lnTo>
                  <a:lnTo>
                    <a:pt x="1812247" y="0"/>
                  </a:lnTo>
                  <a:close/>
                </a:path>
              </a:pathLst>
            </a:custGeom>
            <a:solidFill>
              <a:srgbClr val="1B4681"/>
            </a:solidFill>
          </p:spPr>
          <p:txBody>
            <a:bodyPr wrap="square" lIns="0" tIns="0" rIns="0" bIns="0" rtlCol="0"/>
            <a:lstStyle/>
            <a:p>
              <a:endParaRPr/>
            </a:p>
          </p:txBody>
        </p:sp>
        <p:sp>
          <p:nvSpPr>
            <p:cNvPr id="18" name="object 18"/>
            <p:cNvSpPr/>
            <p:nvPr/>
          </p:nvSpPr>
          <p:spPr>
            <a:xfrm>
              <a:off x="2501773" y="773317"/>
              <a:ext cx="1866264" cy="1359535"/>
            </a:xfrm>
            <a:custGeom>
              <a:avLst/>
              <a:gdLst/>
              <a:ahLst/>
              <a:cxnLst/>
              <a:rect l="l" t="t" r="r" b="b"/>
              <a:pathLst>
                <a:path w="1866264" h="1359535">
                  <a:moveTo>
                    <a:pt x="1866247" y="0"/>
                  </a:moveTo>
                  <a:lnTo>
                    <a:pt x="0" y="0"/>
                  </a:lnTo>
                  <a:lnTo>
                    <a:pt x="0" y="1305253"/>
                  </a:lnTo>
                  <a:lnTo>
                    <a:pt x="4243" y="1326272"/>
                  </a:lnTo>
                  <a:lnTo>
                    <a:pt x="15816" y="1343437"/>
                  </a:lnTo>
                  <a:lnTo>
                    <a:pt x="32980" y="1355010"/>
                  </a:lnTo>
                  <a:lnTo>
                    <a:pt x="54000" y="1359253"/>
                  </a:lnTo>
                  <a:lnTo>
                    <a:pt x="1812247" y="1359253"/>
                  </a:lnTo>
                  <a:lnTo>
                    <a:pt x="1833266" y="1355010"/>
                  </a:lnTo>
                  <a:lnTo>
                    <a:pt x="1850431" y="1343437"/>
                  </a:lnTo>
                  <a:lnTo>
                    <a:pt x="1862004" y="1326272"/>
                  </a:lnTo>
                  <a:lnTo>
                    <a:pt x="1866247" y="1305253"/>
                  </a:lnTo>
                  <a:lnTo>
                    <a:pt x="1866247" y="0"/>
                  </a:lnTo>
                  <a:close/>
                </a:path>
              </a:pathLst>
            </a:custGeom>
            <a:solidFill>
              <a:srgbClr val="E8ECF2"/>
            </a:solidFill>
          </p:spPr>
          <p:txBody>
            <a:bodyPr wrap="square" lIns="0" tIns="0" rIns="0" bIns="0" rtlCol="0"/>
            <a:lstStyle/>
            <a:p>
              <a:endParaRPr/>
            </a:p>
          </p:txBody>
        </p:sp>
        <p:sp>
          <p:nvSpPr>
            <p:cNvPr id="19" name="object 19"/>
            <p:cNvSpPr/>
            <p:nvPr/>
          </p:nvSpPr>
          <p:spPr>
            <a:xfrm>
              <a:off x="2743056" y="899308"/>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20" name="object 20"/>
            <p:cNvSpPr/>
            <p:nvPr/>
          </p:nvSpPr>
          <p:spPr>
            <a:xfrm>
              <a:off x="2743056" y="899308"/>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sp>
          <p:nvSpPr>
            <p:cNvPr id="21" name="object 21"/>
            <p:cNvSpPr/>
            <p:nvPr/>
          </p:nvSpPr>
          <p:spPr>
            <a:xfrm>
              <a:off x="2743056" y="1281413"/>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22" name="object 22"/>
            <p:cNvSpPr/>
            <p:nvPr/>
          </p:nvSpPr>
          <p:spPr>
            <a:xfrm>
              <a:off x="2743056" y="1281413"/>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sp>
          <p:nvSpPr>
            <p:cNvPr id="23" name="object 23"/>
            <p:cNvSpPr/>
            <p:nvPr/>
          </p:nvSpPr>
          <p:spPr>
            <a:xfrm>
              <a:off x="2743056" y="1835603"/>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24" name="object 24"/>
            <p:cNvSpPr/>
            <p:nvPr/>
          </p:nvSpPr>
          <p:spPr>
            <a:xfrm>
              <a:off x="2743056" y="1835603"/>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sp>
        <p:nvSpPr>
          <p:cNvPr id="25" name="object 25"/>
          <p:cNvSpPr txBox="1"/>
          <p:nvPr/>
        </p:nvSpPr>
        <p:spPr>
          <a:xfrm>
            <a:off x="2550375" y="492549"/>
            <a:ext cx="1696085" cy="1605280"/>
          </a:xfrm>
          <a:prstGeom prst="rect">
            <a:avLst/>
          </a:prstGeom>
        </p:spPr>
        <p:txBody>
          <a:bodyPr vert="horz" wrap="square" lIns="0" tIns="76200" rIns="0" bIns="0" rtlCol="0">
            <a:spAutoFit/>
          </a:bodyPr>
          <a:lstStyle/>
          <a:p>
            <a:pPr marL="12700">
              <a:lnSpc>
                <a:spcPct val="100000"/>
              </a:lnSpc>
              <a:spcBef>
                <a:spcPts val="600"/>
              </a:spcBef>
            </a:pPr>
            <a:r>
              <a:rPr sz="1200" spc="-110" dirty="0">
                <a:solidFill>
                  <a:srgbClr val="FFFFFF"/>
                </a:solidFill>
                <a:latin typeface="SimSun"/>
                <a:cs typeface="SimSun"/>
              </a:rPr>
              <a:t>协程 </a:t>
            </a:r>
            <a:r>
              <a:rPr sz="1200" spc="5" dirty="0">
                <a:solidFill>
                  <a:srgbClr val="FFFFFF"/>
                </a:solidFill>
                <a:latin typeface="Times New Roman"/>
                <a:cs typeface="Times New Roman"/>
              </a:rPr>
              <a:t>/ </a:t>
            </a:r>
            <a:r>
              <a:rPr sz="1200" spc="-30" dirty="0">
                <a:solidFill>
                  <a:srgbClr val="FFFFFF"/>
                </a:solidFill>
                <a:latin typeface="SimSun"/>
                <a:cs typeface="SimSun"/>
              </a:rPr>
              <a:t>虚拟线程侧</a:t>
            </a:r>
            <a:endParaRPr sz="1200">
              <a:latin typeface="SimSun"/>
              <a:cs typeface="SimSun"/>
            </a:endParaRPr>
          </a:p>
          <a:p>
            <a:pPr marL="289560" marR="12700">
              <a:lnSpc>
                <a:spcPct val="102600"/>
              </a:lnSpc>
              <a:spcBef>
                <a:spcPts val="415"/>
              </a:spcBef>
            </a:pPr>
            <a:r>
              <a:rPr sz="1100" spc="-25" dirty="0">
                <a:latin typeface="SimSun"/>
                <a:cs typeface="SimSun"/>
              </a:rPr>
              <a:t>任务创建、事件循环、调度器本身也有开销</a:t>
            </a:r>
            <a:endParaRPr sz="1100">
              <a:latin typeface="SimSun"/>
              <a:cs typeface="SimSun"/>
            </a:endParaRPr>
          </a:p>
          <a:p>
            <a:pPr marL="289560" marR="12700" algn="just">
              <a:lnSpc>
                <a:spcPct val="102600"/>
              </a:lnSpc>
              <a:spcBef>
                <a:spcPts val="300"/>
              </a:spcBef>
            </a:pPr>
            <a:r>
              <a:rPr sz="1100" spc="-25" dirty="0">
                <a:latin typeface="SimSun"/>
                <a:cs typeface="SimSun"/>
              </a:rPr>
              <a:t>轻量模型通常更晚达到瓶颈，但并不具备无限</a:t>
            </a:r>
            <a:r>
              <a:rPr sz="1100" spc="-35" dirty="0">
                <a:latin typeface="SimSun"/>
                <a:cs typeface="SimSun"/>
              </a:rPr>
              <a:t>扩展性</a:t>
            </a:r>
            <a:endParaRPr sz="1100">
              <a:latin typeface="SimSun"/>
              <a:cs typeface="SimSun"/>
            </a:endParaRPr>
          </a:p>
          <a:p>
            <a:pPr marL="289560" marR="5080" algn="just">
              <a:lnSpc>
                <a:spcPct val="102600"/>
              </a:lnSpc>
              <a:spcBef>
                <a:spcPts val="300"/>
              </a:spcBef>
            </a:pPr>
            <a:r>
              <a:rPr sz="1100" spc="70" dirty="0">
                <a:latin typeface="SimSun"/>
                <a:cs typeface="SimSun"/>
              </a:rPr>
              <a:t>内存与</a:t>
            </a:r>
            <a:r>
              <a:rPr sz="1100" dirty="0">
                <a:latin typeface="Times New Roman"/>
                <a:cs typeface="Times New Roman"/>
              </a:rPr>
              <a:t>P95</a:t>
            </a:r>
            <a:r>
              <a:rPr sz="1100" spc="-70" dirty="0">
                <a:latin typeface="Times New Roman"/>
                <a:cs typeface="Times New Roman"/>
              </a:rPr>
              <a:t> </a:t>
            </a:r>
            <a:r>
              <a:rPr sz="1100" spc="-30" dirty="0">
                <a:latin typeface="SimSun"/>
                <a:cs typeface="SimSun"/>
              </a:rPr>
              <a:t>需结合统计</a:t>
            </a:r>
            <a:r>
              <a:rPr sz="1100" spc="-25" dirty="0">
                <a:latin typeface="SimSun"/>
                <a:cs typeface="SimSun"/>
              </a:rPr>
              <a:t>口径谨慎解释</a:t>
            </a:r>
            <a:endParaRPr sz="1100">
              <a:latin typeface="SimSun"/>
              <a:cs typeface="SimSun"/>
            </a:endParaRPr>
          </a:p>
        </p:txBody>
      </p:sp>
      <p:grpSp>
        <p:nvGrpSpPr>
          <p:cNvPr id="26" name="object 26"/>
          <p:cNvGrpSpPr/>
          <p:nvPr/>
        </p:nvGrpSpPr>
        <p:grpSpPr>
          <a:xfrm>
            <a:off x="359994" y="2256965"/>
            <a:ext cx="3888104" cy="645795"/>
            <a:chOff x="359994" y="2256965"/>
            <a:chExt cx="3888104" cy="645795"/>
          </a:xfrm>
        </p:grpSpPr>
        <p:sp>
          <p:nvSpPr>
            <p:cNvPr id="27" name="object 27"/>
            <p:cNvSpPr/>
            <p:nvPr/>
          </p:nvSpPr>
          <p:spPr>
            <a:xfrm>
              <a:off x="413994" y="2323618"/>
              <a:ext cx="3780154" cy="537845"/>
            </a:xfrm>
            <a:custGeom>
              <a:avLst/>
              <a:gdLst/>
              <a:ahLst/>
              <a:cxnLst/>
              <a:rect l="l" t="t" r="r" b="b"/>
              <a:pathLst>
                <a:path w="3780154" h="537844">
                  <a:moveTo>
                    <a:pt x="3780050" y="0"/>
                  </a:moveTo>
                  <a:lnTo>
                    <a:pt x="0" y="0"/>
                  </a:lnTo>
                  <a:lnTo>
                    <a:pt x="0" y="537288"/>
                  </a:lnTo>
                  <a:lnTo>
                    <a:pt x="3780050" y="537288"/>
                  </a:lnTo>
                  <a:lnTo>
                    <a:pt x="3780050" y="0"/>
                  </a:lnTo>
                  <a:close/>
                </a:path>
              </a:pathLst>
            </a:custGeom>
            <a:solidFill>
              <a:srgbClr val="B2B2B2"/>
            </a:solidFill>
          </p:spPr>
          <p:txBody>
            <a:bodyPr wrap="square" lIns="0" tIns="0" rIns="0" bIns="0" rtlCol="0"/>
            <a:lstStyle/>
            <a:p>
              <a:endParaRPr/>
            </a:p>
          </p:txBody>
        </p:sp>
        <p:sp>
          <p:nvSpPr>
            <p:cNvPr id="28" name="object 28"/>
            <p:cNvSpPr/>
            <p:nvPr/>
          </p:nvSpPr>
          <p:spPr>
            <a:xfrm>
              <a:off x="359994" y="2256965"/>
              <a:ext cx="3888104" cy="645795"/>
            </a:xfrm>
            <a:custGeom>
              <a:avLst/>
              <a:gdLst/>
              <a:ahLst/>
              <a:cxnLst/>
              <a:rect l="l" t="t" r="r" b="b"/>
              <a:pathLst>
                <a:path w="3888104" h="645794">
                  <a:moveTo>
                    <a:pt x="3834050" y="0"/>
                  </a:moveTo>
                  <a:lnTo>
                    <a:pt x="54000" y="0"/>
                  </a:lnTo>
                  <a:lnTo>
                    <a:pt x="32980" y="4243"/>
                  </a:lnTo>
                  <a:lnTo>
                    <a:pt x="15816" y="15816"/>
                  </a:lnTo>
                  <a:lnTo>
                    <a:pt x="4243" y="32980"/>
                  </a:lnTo>
                  <a:lnTo>
                    <a:pt x="0" y="54000"/>
                  </a:lnTo>
                  <a:lnTo>
                    <a:pt x="0" y="591289"/>
                  </a:lnTo>
                  <a:lnTo>
                    <a:pt x="4243" y="612308"/>
                  </a:lnTo>
                  <a:lnTo>
                    <a:pt x="15816" y="629473"/>
                  </a:lnTo>
                  <a:lnTo>
                    <a:pt x="32980" y="641046"/>
                  </a:lnTo>
                  <a:lnTo>
                    <a:pt x="54000" y="645289"/>
                  </a:lnTo>
                  <a:lnTo>
                    <a:pt x="3834050" y="645289"/>
                  </a:lnTo>
                  <a:lnTo>
                    <a:pt x="3855070" y="641046"/>
                  </a:lnTo>
                  <a:lnTo>
                    <a:pt x="3872235" y="629473"/>
                  </a:lnTo>
                  <a:lnTo>
                    <a:pt x="3883807" y="612308"/>
                  </a:lnTo>
                  <a:lnTo>
                    <a:pt x="3888051" y="591289"/>
                  </a:lnTo>
                  <a:lnTo>
                    <a:pt x="3888051" y="54000"/>
                  </a:lnTo>
                  <a:lnTo>
                    <a:pt x="3883807" y="32980"/>
                  </a:lnTo>
                  <a:lnTo>
                    <a:pt x="3872235" y="15816"/>
                  </a:lnTo>
                  <a:lnTo>
                    <a:pt x="3855070" y="4243"/>
                  </a:lnTo>
                  <a:lnTo>
                    <a:pt x="3834050" y="0"/>
                  </a:lnTo>
                  <a:close/>
                </a:path>
              </a:pathLst>
            </a:custGeom>
            <a:solidFill>
              <a:srgbClr val="BE581F"/>
            </a:solidFill>
          </p:spPr>
          <p:txBody>
            <a:bodyPr wrap="square" lIns="0" tIns="0" rIns="0" bIns="0" rtlCol="0"/>
            <a:lstStyle/>
            <a:p>
              <a:endParaRPr/>
            </a:p>
          </p:txBody>
        </p:sp>
        <p:sp>
          <p:nvSpPr>
            <p:cNvPr id="29" name="object 29"/>
            <p:cNvSpPr/>
            <p:nvPr/>
          </p:nvSpPr>
          <p:spPr>
            <a:xfrm>
              <a:off x="359994" y="2468342"/>
              <a:ext cx="3888104" cy="434340"/>
            </a:xfrm>
            <a:custGeom>
              <a:avLst/>
              <a:gdLst/>
              <a:ahLst/>
              <a:cxnLst/>
              <a:rect l="l" t="t" r="r" b="b"/>
              <a:pathLst>
                <a:path w="3888104" h="434339">
                  <a:moveTo>
                    <a:pt x="3888051" y="0"/>
                  </a:moveTo>
                  <a:lnTo>
                    <a:pt x="0" y="0"/>
                  </a:lnTo>
                  <a:lnTo>
                    <a:pt x="0" y="379911"/>
                  </a:lnTo>
                  <a:lnTo>
                    <a:pt x="4243" y="400931"/>
                  </a:lnTo>
                  <a:lnTo>
                    <a:pt x="15816" y="418095"/>
                  </a:lnTo>
                  <a:lnTo>
                    <a:pt x="32980" y="429668"/>
                  </a:lnTo>
                  <a:lnTo>
                    <a:pt x="54000" y="433911"/>
                  </a:lnTo>
                  <a:lnTo>
                    <a:pt x="3834050" y="433911"/>
                  </a:lnTo>
                  <a:lnTo>
                    <a:pt x="3855070" y="429668"/>
                  </a:lnTo>
                  <a:lnTo>
                    <a:pt x="3872235" y="418095"/>
                  </a:lnTo>
                  <a:lnTo>
                    <a:pt x="3883807" y="400931"/>
                  </a:lnTo>
                  <a:lnTo>
                    <a:pt x="3888051" y="379911"/>
                  </a:lnTo>
                  <a:lnTo>
                    <a:pt x="3888051" y="0"/>
                  </a:lnTo>
                  <a:close/>
                </a:path>
              </a:pathLst>
            </a:custGeom>
            <a:solidFill>
              <a:srgbClr val="F8EEE8"/>
            </a:solidFill>
          </p:spPr>
          <p:txBody>
            <a:bodyPr wrap="square" lIns="0" tIns="0" rIns="0" bIns="0" rtlCol="0"/>
            <a:lstStyle/>
            <a:p>
              <a:endParaRPr/>
            </a:p>
          </p:txBody>
        </p:sp>
      </p:grpSp>
      <p:sp>
        <p:nvSpPr>
          <p:cNvPr id="30" name="object 30"/>
          <p:cNvSpPr txBox="1"/>
          <p:nvPr/>
        </p:nvSpPr>
        <p:spPr>
          <a:xfrm>
            <a:off x="408597" y="2190069"/>
            <a:ext cx="3892550" cy="666750"/>
          </a:xfrm>
          <a:prstGeom prst="rect">
            <a:avLst/>
          </a:prstGeom>
        </p:spPr>
        <p:txBody>
          <a:bodyPr vert="horz" wrap="square" lIns="0" tIns="74930" rIns="0" bIns="0" rtlCol="0">
            <a:spAutoFit/>
          </a:bodyPr>
          <a:lstStyle/>
          <a:p>
            <a:pPr marL="12700">
              <a:lnSpc>
                <a:spcPct val="100000"/>
              </a:lnSpc>
              <a:spcBef>
                <a:spcPts val="590"/>
              </a:spcBef>
            </a:pPr>
            <a:r>
              <a:rPr sz="1200" spc="-30" dirty="0">
                <a:solidFill>
                  <a:srgbClr val="FFFFFF"/>
                </a:solidFill>
                <a:latin typeface="SimSun"/>
                <a:cs typeface="SimSun"/>
              </a:rPr>
              <a:t>分析结论</a:t>
            </a:r>
            <a:endParaRPr sz="1200">
              <a:latin typeface="SimSun"/>
              <a:cs typeface="SimSun"/>
            </a:endParaRPr>
          </a:p>
          <a:p>
            <a:pPr marL="12700" marR="5080">
              <a:lnSpc>
                <a:spcPct val="102600"/>
              </a:lnSpc>
              <a:spcBef>
                <a:spcPts val="405"/>
              </a:spcBef>
            </a:pPr>
            <a:r>
              <a:rPr sz="1100" spc="-15" dirty="0">
                <a:latin typeface="SimSun"/>
                <a:cs typeface="SimSun"/>
              </a:rPr>
              <a:t>轻量级并发模型通常更晚达到瓶颈，但并不具备无限扩展性；</a:t>
            </a:r>
            <a:r>
              <a:rPr sz="1100" spc="-65" dirty="0">
                <a:latin typeface="SimSun"/>
                <a:cs typeface="SimSun"/>
              </a:rPr>
              <a:t>因此应将 </a:t>
            </a:r>
            <a:r>
              <a:rPr sz="1100" b="1" dirty="0">
                <a:latin typeface="Times New Roman"/>
                <a:cs typeface="Times New Roman"/>
              </a:rPr>
              <a:t>QPS</a:t>
            </a:r>
            <a:r>
              <a:rPr sz="1100" b="1" spc="45" dirty="0">
                <a:latin typeface="Times New Roman"/>
                <a:cs typeface="Times New Roman"/>
              </a:rPr>
              <a:t> </a:t>
            </a:r>
            <a:r>
              <a:rPr sz="1100" spc="-25" dirty="0">
                <a:latin typeface="SimSun"/>
                <a:cs typeface="SimSun"/>
              </a:rPr>
              <a:t>与内存趋势作为主要证据。</a:t>
            </a:r>
            <a:endParaRPr sz="1100">
              <a:latin typeface="SimSun"/>
              <a:cs typeface="SimSun"/>
            </a:endParaRPr>
          </a:p>
        </p:txBody>
      </p:sp>
      <p:grpSp>
        <p:nvGrpSpPr>
          <p:cNvPr id="31" name="object 31"/>
          <p:cNvGrpSpPr/>
          <p:nvPr/>
        </p:nvGrpSpPr>
        <p:grpSpPr>
          <a:xfrm>
            <a:off x="0" y="3309520"/>
            <a:ext cx="4608195" cy="146685"/>
            <a:chOff x="0" y="3309520"/>
            <a:chExt cx="4608195" cy="146685"/>
          </a:xfrm>
        </p:grpSpPr>
        <p:sp>
          <p:nvSpPr>
            <p:cNvPr id="32" name="object 32"/>
            <p:cNvSpPr/>
            <p:nvPr/>
          </p:nvSpPr>
          <p:spPr>
            <a:xfrm>
              <a:off x="0" y="3309520"/>
              <a:ext cx="1464945" cy="146685"/>
            </a:xfrm>
            <a:custGeom>
              <a:avLst/>
              <a:gdLst/>
              <a:ahLst/>
              <a:cxnLst/>
              <a:rect l="l" t="t" r="r" b="b"/>
              <a:pathLst>
                <a:path w="1464945" h="146685">
                  <a:moveTo>
                    <a:pt x="1464490" y="146530"/>
                  </a:moveTo>
                  <a:lnTo>
                    <a:pt x="1464490" y="0"/>
                  </a:lnTo>
                  <a:lnTo>
                    <a:pt x="0" y="0"/>
                  </a:lnTo>
                  <a:lnTo>
                    <a:pt x="0" y="146530"/>
                  </a:lnTo>
                  <a:lnTo>
                    <a:pt x="1464490" y="146530"/>
                  </a:lnTo>
                  <a:close/>
                </a:path>
              </a:pathLst>
            </a:custGeom>
            <a:solidFill>
              <a:srgbClr val="4681B4"/>
            </a:solidFill>
          </p:spPr>
          <p:txBody>
            <a:bodyPr wrap="square" lIns="0" tIns="0" rIns="0" bIns="0" rtlCol="0"/>
            <a:lstStyle/>
            <a:p>
              <a:endParaRPr/>
            </a:p>
          </p:txBody>
        </p:sp>
        <p:sp>
          <p:nvSpPr>
            <p:cNvPr id="33" name="object 33"/>
            <p:cNvSpPr/>
            <p:nvPr/>
          </p:nvSpPr>
          <p:spPr>
            <a:xfrm>
              <a:off x="1464490" y="3309520"/>
              <a:ext cx="2672715" cy="146685"/>
            </a:xfrm>
            <a:custGeom>
              <a:avLst/>
              <a:gdLst/>
              <a:ahLst/>
              <a:cxnLst/>
              <a:rect l="l" t="t" r="r" b="b"/>
              <a:pathLst>
                <a:path w="2672715" h="146685">
                  <a:moveTo>
                    <a:pt x="2672682" y="0"/>
                  </a:moveTo>
                  <a:lnTo>
                    <a:pt x="0" y="0"/>
                  </a:lnTo>
                  <a:lnTo>
                    <a:pt x="0" y="146530"/>
                  </a:lnTo>
                  <a:lnTo>
                    <a:pt x="2672682" y="146530"/>
                  </a:lnTo>
                  <a:lnTo>
                    <a:pt x="2672682" y="0"/>
                  </a:lnTo>
                  <a:close/>
                </a:path>
              </a:pathLst>
            </a:custGeom>
            <a:solidFill>
              <a:srgbClr val="1B4681"/>
            </a:solidFill>
          </p:spPr>
          <p:txBody>
            <a:bodyPr wrap="square" lIns="0" tIns="0" rIns="0" bIns="0" rtlCol="0"/>
            <a:lstStyle/>
            <a:p>
              <a:endParaRPr/>
            </a:p>
          </p:txBody>
        </p:sp>
        <p:sp>
          <p:nvSpPr>
            <p:cNvPr id="34" name="object 34"/>
            <p:cNvSpPr/>
            <p:nvPr/>
          </p:nvSpPr>
          <p:spPr>
            <a:xfrm>
              <a:off x="4137103" y="3309520"/>
              <a:ext cx="471170" cy="146685"/>
            </a:xfrm>
            <a:custGeom>
              <a:avLst/>
              <a:gdLst/>
              <a:ahLst/>
              <a:cxnLst/>
              <a:rect l="l" t="t" r="r" b="b"/>
              <a:pathLst>
                <a:path w="471170" h="146685">
                  <a:moveTo>
                    <a:pt x="470836" y="0"/>
                  </a:moveTo>
                  <a:lnTo>
                    <a:pt x="0" y="0"/>
                  </a:lnTo>
                  <a:lnTo>
                    <a:pt x="0" y="146530"/>
                  </a:lnTo>
                  <a:lnTo>
                    <a:pt x="470836" y="146530"/>
                  </a:lnTo>
                  <a:lnTo>
                    <a:pt x="470836" y="0"/>
                  </a:lnTo>
                  <a:close/>
                </a:path>
              </a:pathLst>
            </a:custGeom>
            <a:solidFill>
              <a:srgbClr val="0A2750"/>
            </a:solidFill>
          </p:spPr>
          <p:txBody>
            <a:bodyPr wrap="square" lIns="0" tIns="0" rIns="0" bIns="0" rtlCol="0"/>
            <a:lstStyle/>
            <a:p>
              <a:endParaRPr/>
            </a:p>
          </p:txBody>
        </p:sp>
      </p:grpSp>
      <p:sp>
        <p:nvSpPr>
          <p:cNvPr id="35" name="object 35"/>
          <p:cNvSpPr txBox="1">
            <a:spLocks noGrp="1"/>
          </p:cNvSpPr>
          <p:nvPr>
            <p:ph type="dt" sz="half" idx="6"/>
          </p:nvPr>
        </p:nvSpPr>
        <p:spPr>
          <a:prstGeom prst="rect">
            <a:avLst/>
          </a:prstGeom>
        </p:spPr>
        <p:txBody>
          <a:bodyPr vert="horz" wrap="square" lIns="0" tIns="1270" rIns="0" bIns="0" rtlCol="0">
            <a:spAutoFit/>
          </a:bodyPr>
          <a:lstStyle/>
          <a:p>
            <a:pPr marL="12700">
              <a:lnSpc>
                <a:spcPct val="100000"/>
              </a:lnSpc>
              <a:spcBef>
                <a:spcPts val="10"/>
              </a:spcBef>
            </a:pPr>
            <a:r>
              <a:rPr spc="35" dirty="0"/>
              <a:t>尚文轩 南开大学</a:t>
            </a:r>
          </a:p>
        </p:txBody>
      </p:sp>
      <p:sp>
        <p:nvSpPr>
          <p:cNvPr id="36" name="object 36"/>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spc="-30" dirty="0">
                <a:latin typeface="Times New Roman"/>
                <a:cs typeface="Times New Roman"/>
              </a:rPr>
              <a:t>OT-</a:t>
            </a:r>
            <a:r>
              <a:rPr spc="-20" dirty="0"/>
              <a:t>协程技术调研</a:t>
            </a:r>
          </a:p>
        </p:txBody>
      </p:sp>
      <p:sp>
        <p:nvSpPr>
          <p:cNvPr id="37" name="object 37"/>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25" dirty="0"/>
              <a:t>17</a:t>
            </a:fld>
            <a:endParaRPr spc="-25" dirty="0"/>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7" name="图片 26">
            <a:extLst>
              <a:ext uri="{FF2B5EF4-FFF2-40B4-BE49-F238E27FC236}">
                <a16:creationId xmlns:a16="http://schemas.microsoft.com/office/drawing/2014/main" id="{D072ADCC-133C-6009-8812-E8D9AC2924F6}"/>
              </a:ext>
            </a:extLst>
          </p:cNvPr>
          <p:cNvPicPr>
            <a:picLocks noChangeAspect="1"/>
          </p:cNvPicPr>
          <p:nvPr/>
        </p:nvPicPr>
        <p:blipFill>
          <a:blip r:embed="rId2"/>
          <a:stretch>
            <a:fillRect/>
          </a:stretch>
        </p:blipFill>
        <p:spPr>
          <a:xfrm>
            <a:off x="0" y="1"/>
            <a:ext cx="4610100" cy="250672"/>
          </a:xfrm>
          <a:prstGeom prst="rect">
            <a:avLst/>
          </a:prstGeom>
        </p:spPr>
      </p:pic>
      <p:sp>
        <p:nvSpPr>
          <p:cNvPr id="2" name="object 2" descr="$PPTXTitle"/>
          <p:cNvSpPr txBox="1">
            <a:spLocks noGrp="1"/>
          </p:cNvSpPr>
          <p:nvPr>
            <p:ph type="title"/>
          </p:nvPr>
        </p:nvSpPr>
        <p:spPr>
          <a:xfrm>
            <a:off x="105130" y="42594"/>
            <a:ext cx="2103755" cy="180819"/>
          </a:xfrm>
          <a:prstGeom prst="rect">
            <a:avLst/>
          </a:prstGeom>
        </p:spPr>
        <p:txBody>
          <a:bodyPr vert="horz" wrap="square" lIns="0" tIns="11430" rIns="0" bIns="0" rtlCol="0">
            <a:spAutoFit/>
          </a:bodyPr>
          <a:lstStyle/>
          <a:p>
            <a:pPr marL="12700">
              <a:lnSpc>
                <a:spcPct val="100000"/>
              </a:lnSpc>
              <a:spcBef>
                <a:spcPts val="90"/>
              </a:spcBef>
            </a:pPr>
            <a:r>
              <a:rPr spc="-25" dirty="0">
                <a:solidFill>
                  <a:schemeClr val="bg1"/>
                </a:solidFill>
              </a:rPr>
              <a:t>实验结果如何支撑结论？</a:t>
            </a:r>
          </a:p>
        </p:txBody>
      </p:sp>
      <p:sp>
        <p:nvSpPr>
          <p:cNvPr id="3" name="object 3"/>
          <p:cNvSpPr/>
          <p:nvPr/>
        </p:nvSpPr>
        <p:spPr>
          <a:xfrm>
            <a:off x="0" y="252052"/>
            <a:ext cx="4608195" cy="0"/>
          </a:xfrm>
          <a:custGeom>
            <a:avLst/>
            <a:gdLst/>
            <a:ahLst/>
            <a:cxnLst/>
            <a:rect l="l" t="t" r="r" b="b"/>
            <a:pathLst>
              <a:path w="4608195">
                <a:moveTo>
                  <a:pt x="0" y="0"/>
                </a:moveTo>
                <a:lnTo>
                  <a:pt x="4608060" y="0"/>
                </a:lnTo>
              </a:path>
            </a:pathLst>
          </a:custGeom>
          <a:ln w="12652">
            <a:solidFill>
              <a:srgbClr val="1B4681"/>
            </a:solidFill>
          </a:ln>
        </p:spPr>
        <p:txBody>
          <a:bodyPr wrap="square" lIns="0" tIns="0" rIns="0" bIns="0" rtlCol="0"/>
          <a:lstStyle/>
          <a:p>
            <a:endParaRPr/>
          </a:p>
        </p:txBody>
      </p:sp>
      <p:sp>
        <p:nvSpPr>
          <p:cNvPr id="4" name="object 4"/>
          <p:cNvSpPr/>
          <p:nvPr/>
        </p:nvSpPr>
        <p:spPr>
          <a:xfrm>
            <a:off x="359994" y="493839"/>
            <a:ext cx="4088129" cy="0"/>
          </a:xfrm>
          <a:custGeom>
            <a:avLst/>
            <a:gdLst/>
            <a:ahLst/>
            <a:cxnLst/>
            <a:rect l="l" t="t" r="r" b="b"/>
            <a:pathLst>
              <a:path w="4088129">
                <a:moveTo>
                  <a:pt x="0" y="0"/>
                </a:moveTo>
                <a:lnTo>
                  <a:pt x="4087571" y="0"/>
                </a:lnTo>
              </a:path>
            </a:pathLst>
          </a:custGeom>
          <a:ln w="11083">
            <a:solidFill>
              <a:srgbClr val="000000"/>
            </a:solidFill>
          </a:ln>
        </p:spPr>
        <p:txBody>
          <a:bodyPr wrap="square" lIns="0" tIns="0" rIns="0" bIns="0" rtlCol="0"/>
          <a:lstStyle/>
          <a:p>
            <a:endParaRPr/>
          </a:p>
        </p:txBody>
      </p:sp>
      <p:sp>
        <p:nvSpPr>
          <p:cNvPr id="5" name="object 5"/>
          <p:cNvSpPr txBox="1"/>
          <p:nvPr/>
        </p:nvSpPr>
        <p:spPr>
          <a:xfrm>
            <a:off x="410565" y="510217"/>
            <a:ext cx="253365" cy="162560"/>
          </a:xfrm>
          <a:prstGeom prst="rect">
            <a:avLst/>
          </a:prstGeom>
        </p:spPr>
        <p:txBody>
          <a:bodyPr vert="horz" wrap="square" lIns="0" tIns="12065" rIns="0" bIns="0" rtlCol="0">
            <a:spAutoFit/>
          </a:bodyPr>
          <a:lstStyle/>
          <a:p>
            <a:pPr marL="12700">
              <a:lnSpc>
                <a:spcPct val="100000"/>
              </a:lnSpc>
              <a:spcBef>
                <a:spcPts val="95"/>
              </a:spcBef>
            </a:pPr>
            <a:r>
              <a:rPr sz="900" spc="-30" dirty="0">
                <a:latin typeface="SimSun"/>
                <a:cs typeface="SimSun"/>
              </a:rPr>
              <a:t>实验</a:t>
            </a:r>
            <a:endParaRPr sz="900">
              <a:latin typeface="SimSun"/>
              <a:cs typeface="SimSun"/>
            </a:endParaRPr>
          </a:p>
        </p:txBody>
      </p:sp>
      <p:sp>
        <p:nvSpPr>
          <p:cNvPr id="6" name="object 6"/>
          <p:cNvSpPr txBox="1"/>
          <p:nvPr/>
        </p:nvSpPr>
        <p:spPr>
          <a:xfrm>
            <a:off x="1509090" y="510217"/>
            <a:ext cx="708660" cy="162560"/>
          </a:xfrm>
          <a:prstGeom prst="rect">
            <a:avLst/>
          </a:prstGeom>
        </p:spPr>
        <p:txBody>
          <a:bodyPr vert="horz" wrap="square" lIns="0" tIns="12065" rIns="0" bIns="0" rtlCol="0">
            <a:spAutoFit/>
          </a:bodyPr>
          <a:lstStyle/>
          <a:p>
            <a:pPr marL="12700">
              <a:lnSpc>
                <a:spcPct val="100000"/>
              </a:lnSpc>
              <a:spcBef>
                <a:spcPts val="95"/>
              </a:spcBef>
            </a:pPr>
            <a:r>
              <a:rPr sz="900" spc="-20" dirty="0">
                <a:latin typeface="SimSun"/>
                <a:cs typeface="SimSun"/>
              </a:rPr>
              <a:t>观察到的现象</a:t>
            </a:r>
            <a:endParaRPr sz="900">
              <a:latin typeface="SimSun"/>
              <a:cs typeface="SimSun"/>
            </a:endParaRPr>
          </a:p>
        </p:txBody>
      </p:sp>
      <p:sp>
        <p:nvSpPr>
          <p:cNvPr id="7" name="object 7"/>
          <p:cNvSpPr txBox="1"/>
          <p:nvPr/>
        </p:nvSpPr>
        <p:spPr>
          <a:xfrm>
            <a:off x="2787611" y="510217"/>
            <a:ext cx="594995" cy="162560"/>
          </a:xfrm>
          <a:prstGeom prst="rect">
            <a:avLst/>
          </a:prstGeom>
        </p:spPr>
        <p:txBody>
          <a:bodyPr vert="horz" wrap="square" lIns="0" tIns="12065" rIns="0" bIns="0" rtlCol="0">
            <a:spAutoFit/>
          </a:bodyPr>
          <a:lstStyle/>
          <a:p>
            <a:pPr marL="12700">
              <a:lnSpc>
                <a:spcPct val="100000"/>
              </a:lnSpc>
              <a:spcBef>
                <a:spcPts val="95"/>
              </a:spcBef>
            </a:pPr>
            <a:r>
              <a:rPr sz="900" spc="-20" dirty="0">
                <a:latin typeface="SimSun"/>
                <a:cs typeface="SimSun"/>
              </a:rPr>
              <a:t>支持的判断</a:t>
            </a:r>
            <a:endParaRPr sz="900">
              <a:latin typeface="SimSun"/>
              <a:cs typeface="SimSun"/>
            </a:endParaRPr>
          </a:p>
        </p:txBody>
      </p:sp>
      <p:sp>
        <p:nvSpPr>
          <p:cNvPr id="8" name="object 8"/>
          <p:cNvSpPr/>
          <p:nvPr/>
        </p:nvSpPr>
        <p:spPr>
          <a:xfrm>
            <a:off x="359994" y="706615"/>
            <a:ext cx="4088129" cy="0"/>
          </a:xfrm>
          <a:custGeom>
            <a:avLst/>
            <a:gdLst/>
            <a:ahLst/>
            <a:cxnLst/>
            <a:rect l="l" t="t" r="r" b="b"/>
            <a:pathLst>
              <a:path w="4088129">
                <a:moveTo>
                  <a:pt x="0" y="0"/>
                </a:moveTo>
                <a:lnTo>
                  <a:pt x="4087571" y="0"/>
                </a:lnTo>
              </a:path>
            </a:pathLst>
          </a:custGeom>
          <a:ln w="6927">
            <a:solidFill>
              <a:srgbClr val="000000"/>
            </a:solidFill>
          </a:ln>
        </p:spPr>
        <p:txBody>
          <a:bodyPr wrap="square" lIns="0" tIns="0" rIns="0" bIns="0" rtlCol="0"/>
          <a:lstStyle/>
          <a:p>
            <a:endParaRPr/>
          </a:p>
        </p:txBody>
      </p:sp>
      <p:sp>
        <p:nvSpPr>
          <p:cNvPr id="9" name="object 9"/>
          <p:cNvSpPr txBox="1"/>
          <p:nvPr/>
        </p:nvSpPr>
        <p:spPr>
          <a:xfrm>
            <a:off x="410565" y="720910"/>
            <a:ext cx="459105" cy="162560"/>
          </a:xfrm>
          <a:prstGeom prst="rect">
            <a:avLst/>
          </a:prstGeom>
        </p:spPr>
        <p:txBody>
          <a:bodyPr vert="horz" wrap="square" lIns="0" tIns="12065" rIns="0" bIns="0" rtlCol="0">
            <a:spAutoFit/>
          </a:bodyPr>
          <a:lstStyle/>
          <a:p>
            <a:pPr marL="12700">
              <a:lnSpc>
                <a:spcPct val="100000"/>
              </a:lnSpc>
              <a:spcBef>
                <a:spcPts val="95"/>
              </a:spcBef>
            </a:pPr>
            <a:r>
              <a:rPr sz="900" dirty="0">
                <a:latin typeface="Times New Roman"/>
                <a:cs typeface="Times New Roman"/>
              </a:rPr>
              <a:t>Sleep</a:t>
            </a:r>
            <a:r>
              <a:rPr sz="900" spc="-25" dirty="0">
                <a:latin typeface="Times New Roman"/>
                <a:cs typeface="Times New Roman"/>
              </a:rPr>
              <a:t> I/O</a:t>
            </a:r>
            <a:endParaRPr sz="900">
              <a:latin typeface="Times New Roman"/>
              <a:cs typeface="Times New Roman"/>
            </a:endParaRPr>
          </a:p>
        </p:txBody>
      </p:sp>
      <p:sp>
        <p:nvSpPr>
          <p:cNvPr id="10" name="object 10"/>
          <p:cNvSpPr txBox="1"/>
          <p:nvPr/>
        </p:nvSpPr>
        <p:spPr>
          <a:xfrm>
            <a:off x="1509090" y="720910"/>
            <a:ext cx="1177925" cy="1136650"/>
          </a:xfrm>
          <a:prstGeom prst="rect">
            <a:avLst/>
          </a:prstGeom>
        </p:spPr>
        <p:txBody>
          <a:bodyPr vert="horz" wrap="square" lIns="0" tIns="10160" rIns="0" bIns="0" rtlCol="0">
            <a:spAutoFit/>
          </a:bodyPr>
          <a:lstStyle/>
          <a:p>
            <a:pPr marL="12700" marR="5080">
              <a:lnSpc>
                <a:spcPct val="101499"/>
              </a:lnSpc>
              <a:spcBef>
                <a:spcPts val="80"/>
              </a:spcBef>
            </a:pPr>
            <a:r>
              <a:rPr sz="900" spc="-30" dirty="0">
                <a:latin typeface="SimSun"/>
                <a:cs typeface="SimSun"/>
              </a:rPr>
              <a:t>协程最高约 </a:t>
            </a:r>
            <a:r>
              <a:rPr sz="900" dirty="0">
                <a:latin typeface="Times New Roman"/>
                <a:cs typeface="Times New Roman"/>
              </a:rPr>
              <a:t>18.06</a:t>
            </a:r>
            <a:r>
              <a:rPr sz="900" spc="80" dirty="0">
                <a:latin typeface="Times New Roman"/>
                <a:cs typeface="Times New Roman"/>
              </a:rPr>
              <a:t> </a:t>
            </a:r>
            <a:r>
              <a:rPr sz="900" spc="-25" dirty="0">
                <a:latin typeface="SimSun"/>
                <a:cs typeface="SimSun"/>
              </a:rPr>
              <a:t>倍优</a:t>
            </a:r>
            <a:r>
              <a:rPr sz="900" spc="-50" dirty="0">
                <a:latin typeface="SimSun"/>
                <a:cs typeface="SimSun"/>
              </a:rPr>
              <a:t>势</a:t>
            </a:r>
            <a:endParaRPr sz="900">
              <a:latin typeface="SimSun"/>
              <a:cs typeface="SimSun"/>
            </a:endParaRPr>
          </a:p>
          <a:p>
            <a:pPr marL="12700" marR="5080">
              <a:lnSpc>
                <a:spcPct val="101499"/>
              </a:lnSpc>
            </a:pPr>
            <a:r>
              <a:rPr sz="900" spc="-85" dirty="0">
                <a:latin typeface="SimSun"/>
                <a:cs typeface="SimSun"/>
              </a:rPr>
              <a:t>真实 </a:t>
            </a:r>
            <a:r>
              <a:rPr sz="900" dirty="0">
                <a:latin typeface="Times New Roman"/>
                <a:cs typeface="Times New Roman"/>
              </a:rPr>
              <a:t>I/O</a:t>
            </a:r>
            <a:r>
              <a:rPr sz="900" spc="-25" dirty="0">
                <a:latin typeface="Times New Roman"/>
                <a:cs typeface="Times New Roman"/>
              </a:rPr>
              <a:t> </a:t>
            </a:r>
            <a:r>
              <a:rPr sz="900" spc="-20" dirty="0">
                <a:latin typeface="SimSun"/>
                <a:cs typeface="SimSun"/>
              </a:rPr>
              <a:t>中仍稳定领先三种模型耗时接近</a:t>
            </a:r>
            <a:r>
              <a:rPr sz="900" spc="-50" dirty="0">
                <a:latin typeface="SimSun"/>
                <a:cs typeface="SimSun"/>
              </a:rPr>
              <a:t> </a:t>
            </a:r>
            <a:r>
              <a:rPr sz="900" dirty="0">
                <a:latin typeface="Times New Roman"/>
                <a:cs typeface="Times New Roman"/>
              </a:rPr>
              <a:t>asyncio</a:t>
            </a:r>
            <a:r>
              <a:rPr sz="900" spc="-60" dirty="0">
                <a:latin typeface="Times New Roman"/>
                <a:cs typeface="Times New Roman"/>
              </a:rPr>
              <a:t> </a:t>
            </a:r>
            <a:r>
              <a:rPr sz="900" spc="-15" dirty="0">
                <a:latin typeface="SimSun"/>
                <a:cs typeface="SimSun"/>
              </a:rPr>
              <a:t>吞吐更高，</a:t>
            </a:r>
            <a:r>
              <a:rPr sz="900" spc="-20" dirty="0">
                <a:latin typeface="Times New Roman"/>
                <a:cs typeface="Times New Roman"/>
              </a:rPr>
              <a:t>RSS</a:t>
            </a:r>
            <a:r>
              <a:rPr sz="900" spc="-25" dirty="0">
                <a:latin typeface="SimSun"/>
                <a:cs typeface="SimSun"/>
              </a:rPr>
              <a:t>更平稳</a:t>
            </a:r>
            <a:endParaRPr sz="900">
              <a:latin typeface="SimSun"/>
              <a:cs typeface="SimSun"/>
            </a:endParaRPr>
          </a:p>
          <a:p>
            <a:pPr marL="12700">
              <a:lnSpc>
                <a:spcPct val="100000"/>
              </a:lnSpc>
              <a:spcBef>
                <a:spcPts val="15"/>
              </a:spcBef>
            </a:pPr>
            <a:r>
              <a:rPr sz="900" dirty="0">
                <a:latin typeface="Times New Roman"/>
                <a:cs typeface="Times New Roman"/>
              </a:rPr>
              <a:t>virtual</a:t>
            </a:r>
            <a:r>
              <a:rPr sz="900" spc="345" dirty="0">
                <a:latin typeface="Times New Roman"/>
                <a:cs typeface="Times New Roman"/>
              </a:rPr>
              <a:t> </a:t>
            </a:r>
            <a:r>
              <a:rPr sz="900" dirty="0">
                <a:latin typeface="Times New Roman"/>
                <a:cs typeface="Times New Roman"/>
              </a:rPr>
              <a:t>thread</a:t>
            </a:r>
            <a:r>
              <a:rPr sz="900" spc="360" dirty="0">
                <a:latin typeface="Times New Roman"/>
                <a:cs typeface="Times New Roman"/>
              </a:rPr>
              <a:t> </a:t>
            </a:r>
            <a:r>
              <a:rPr sz="900" spc="-80" dirty="0">
                <a:latin typeface="SimSun"/>
                <a:cs typeface="SimSun"/>
              </a:rPr>
              <a:t>高 并 发</a:t>
            </a:r>
            <a:endParaRPr sz="900">
              <a:latin typeface="SimSun"/>
              <a:cs typeface="SimSun"/>
            </a:endParaRPr>
          </a:p>
          <a:p>
            <a:pPr marL="12700">
              <a:lnSpc>
                <a:spcPct val="100000"/>
              </a:lnSpc>
              <a:spcBef>
                <a:spcPts val="15"/>
              </a:spcBef>
            </a:pPr>
            <a:r>
              <a:rPr sz="900" dirty="0">
                <a:latin typeface="Times New Roman"/>
                <a:cs typeface="Times New Roman"/>
              </a:rPr>
              <a:t>QPS</a:t>
            </a:r>
            <a:r>
              <a:rPr sz="900" spc="-35" dirty="0">
                <a:latin typeface="Times New Roman"/>
                <a:cs typeface="Times New Roman"/>
              </a:rPr>
              <a:t> </a:t>
            </a:r>
            <a:r>
              <a:rPr sz="900" spc="-30" dirty="0">
                <a:latin typeface="SimSun"/>
                <a:cs typeface="SimSun"/>
              </a:rPr>
              <a:t>更高</a:t>
            </a:r>
            <a:endParaRPr sz="900">
              <a:latin typeface="SimSun"/>
              <a:cs typeface="SimSun"/>
            </a:endParaRPr>
          </a:p>
        </p:txBody>
      </p:sp>
      <p:sp>
        <p:nvSpPr>
          <p:cNvPr id="11" name="object 11"/>
          <p:cNvSpPr txBox="1"/>
          <p:nvPr/>
        </p:nvSpPr>
        <p:spPr>
          <a:xfrm>
            <a:off x="2787542" y="720910"/>
            <a:ext cx="1609725" cy="1136650"/>
          </a:xfrm>
          <a:prstGeom prst="rect">
            <a:avLst/>
          </a:prstGeom>
        </p:spPr>
        <p:txBody>
          <a:bodyPr vert="horz" wrap="square" lIns="0" tIns="10160" rIns="0" bIns="0" rtlCol="0">
            <a:spAutoFit/>
          </a:bodyPr>
          <a:lstStyle/>
          <a:p>
            <a:pPr marL="12700" marR="5080">
              <a:lnSpc>
                <a:spcPct val="101499"/>
              </a:lnSpc>
              <a:spcBef>
                <a:spcPts val="80"/>
              </a:spcBef>
            </a:pPr>
            <a:r>
              <a:rPr sz="900" spc="-30" dirty="0">
                <a:latin typeface="SimSun"/>
                <a:cs typeface="SimSun"/>
              </a:rPr>
              <a:t>大量等待任务中，协程调度成本更低</a:t>
            </a:r>
            <a:endParaRPr sz="900">
              <a:latin typeface="SimSun"/>
              <a:cs typeface="SimSun"/>
            </a:endParaRPr>
          </a:p>
          <a:p>
            <a:pPr marL="12700">
              <a:lnSpc>
                <a:spcPct val="100000"/>
              </a:lnSpc>
              <a:spcBef>
                <a:spcPts val="15"/>
              </a:spcBef>
            </a:pPr>
            <a:r>
              <a:rPr sz="900" spc="-35" dirty="0">
                <a:latin typeface="SimSun"/>
                <a:cs typeface="SimSun"/>
              </a:rPr>
              <a:t>优势不只存在于模拟 </a:t>
            </a:r>
            <a:r>
              <a:rPr sz="900" spc="-10" dirty="0">
                <a:latin typeface="Times New Roman"/>
                <a:cs typeface="Times New Roman"/>
              </a:rPr>
              <a:t>sleep</a:t>
            </a:r>
            <a:endParaRPr sz="900">
              <a:latin typeface="Times New Roman"/>
              <a:cs typeface="Times New Roman"/>
            </a:endParaRPr>
          </a:p>
          <a:p>
            <a:pPr marL="12700">
              <a:lnSpc>
                <a:spcPct val="100000"/>
              </a:lnSpc>
              <a:spcBef>
                <a:spcPts val="15"/>
              </a:spcBef>
            </a:pPr>
            <a:r>
              <a:rPr sz="900" spc="-20" dirty="0">
                <a:latin typeface="SimSun"/>
                <a:cs typeface="SimSun"/>
              </a:rPr>
              <a:t>协程不加速纯计算</a:t>
            </a:r>
            <a:endParaRPr sz="900">
              <a:latin typeface="SimSun"/>
              <a:cs typeface="SimSun"/>
            </a:endParaRPr>
          </a:p>
          <a:p>
            <a:pPr marL="12700" marR="5080">
              <a:lnSpc>
                <a:spcPct val="101499"/>
              </a:lnSpc>
            </a:pPr>
            <a:r>
              <a:rPr sz="900" spc="45" dirty="0">
                <a:latin typeface="SimSun"/>
                <a:cs typeface="SimSun"/>
              </a:rPr>
              <a:t>高并发下轻量任务模型资源成</a:t>
            </a:r>
            <a:r>
              <a:rPr sz="900" spc="-25" dirty="0">
                <a:latin typeface="SimSun"/>
                <a:cs typeface="SimSun"/>
              </a:rPr>
              <a:t>本更低</a:t>
            </a:r>
            <a:endParaRPr sz="900">
              <a:latin typeface="SimSun"/>
              <a:cs typeface="SimSun"/>
            </a:endParaRPr>
          </a:p>
          <a:p>
            <a:pPr marL="12700" marR="5080">
              <a:lnSpc>
                <a:spcPct val="101499"/>
              </a:lnSpc>
            </a:pPr>
            <a:r>
              <a:rPr sz="900" spc="45" dirty="0">
                <a:latin typeface="SimSun"/>
                <a:cs typeface="SimSun"/>
              </a:rPr>
              <a:t>轻量级并发思想具有跨语言意</a:t>
            </a:r>
            <a:r>
              <a:rPr sz="900" spc="-50" dirty="0">
                <a:latin typeface="SimSun"/>
                <a:cs typeface="SimSun"/>
              </a:rPr>
              <a:t>义</a:t>
            </a:r>
            <a:endParaRPr sz="900">
              <a:latin typeface="SimSun"/>
              <a:cs typeface="SimSun"/>
            </a:endParaRPr>
          </a:p>
        </p:txBody>
      </p:sp>
      <p:sp>
        <p:nvSpPr>
          <p:cNvPr id="12" name="object 12"/>
          <p:cNvSpPr txBox="1"/>
          <p:nvPr/>
        </p:nvSpPr>
        <p:spPr>
          <a:xfrm>
            <a:off x="410565" y="999269"/>
            <a:ext cx="699135" cy="440690"/>
          </a:xfrm>
          <a:prstGeom prst="rect">
            <a:avLst/>
          </a:prstGeom>
        </p:spPr>
        <p:txBody>
          <a:bodyPr vert="horz" wrap="square" lIns="0" tIns="10160" rIns="0" bIns="0" rtlCol="0">
            <a:spAutoFit/>
          </a:bodyPr>
          <a:lstStyle/>
          <a:p>
            <a:pPr marL="12700" marR="5080">
              <a:lnSpc>
                <a:spcPct val="101499"/>
              </a:lnSpc>
              <a:spcBef>
                <a:spcPts val="80"/>
              </a:spcBef>
            </a:pPr>
            <a:r>
              <a:rPr sz="900" dirty="0">
                <a:latin typeface="Times New Roman"/>
                <a:cs typeface="Times New Roman"/>
              </a:rPr>
              <a:t>Local</a:t>
            </a:r>
            <a:r>
              <a:rPr sz="900" spc="-30" dirty="0">
                <a:latin typeface="Times New Roman"/>
                <a:cs typeface="Times New Roman"/>
              </a:rPr>
              <a:t> </a:t>
            </a:r>
            <a:r>
              <a:rPr sz="900" spc="-20" dirty="0">
                <a:latin typeface="Times New Roman"/>
                <a:cs typeface="Times New Roman"/>
              </a:rPr>
              <a:t>HTTP </a:t>
            </a:r>
            <a:r>
              <a:rPr sz="900" spc="-10" dirty="0">
                <a:latin typeface="Times New Roman"/>
                <a:cs typeface="Times New Roman"/>
              </a:rPr>
              <a:t>CPU-bound </a:t>
            </a:r>
            <a:r>
              <a:rPr sz="900" dirty="0">
                <a:latin typeface="Times New Roman"/>
                <a:cs typeface="Times New Roman"/>
              </a:rPr>
              <a:t>Python</a:t>
            </a:r>
            <a:r>
              <a:rPr sz="900" spc="-35" dirty="0">
                <a:latin typeface="Times New Roman"/>
                <a:cs typeface="Times New Roman"/>
              </a:rPr>
              <a:t> </a:t>
            </a:r>
            <a:r>
              <a:rPr sz="900" spc="-10" dirty="0">
                <a:latin typeface="Times New Roman"/>
                <a:cs typeface="Times New Roman"/>
              </a:rPr>
              <a:t>scaling</a:t>
            </a:r>
            <a:endParaRPr sz="900">
              <a:latin typeface="Times New Roman"/>
              <a:cs typeface="Times New Roman"/>
            </a:endParaRPr>
          </a:p>
        </p:txBody>
      </p:sp>
      <p:sp>
        <p:nvSpPr>
          <p:cNvPr id="13" name="object 13"/>
          <p:cNvSpPr txBox="1"/>
          <p:nvPr/>
        </p:nvSpPr>
        <p:spPr>
          <a:xfrm>
            <a:off x="410565" y="1555986"/>
            <a:ext cx="579120" cy="162560"/>
          </a:xfrm>
          <a:prstGeom prst="rect">
            <a:avLst/>
          </a:prstGeom>
        </p:spPr>
        <p:txBody>
          <a:bodyPr vert="horz" wrap="square" lIns="0" tIns="12065" rIns="0" bIns="0" rtlCol="0">
            <a:spAutoFit/>
          </a:bodyPr>
          <a:lstStyle/>
          <a:p>
            <a:pPr marL="12700">
              <a:lnSpc>
                <a:spcPct val="100000"/>
              </a:lnSpc>
              <a:spcBef>
                <a:spcPts val="95"/>
              </a:spcBef>
            </a:pPr>
            <a:r>
              <a:rPr sz="900" dirty="0">
                <a:latin typeface="Times New Roman"/>
                <a:cs typeface="Times New Roman"/>
              </a:rPr>
              <a:t>Java</a:t>
            </a:r>
            <a:r>
              <a:rPr sz="900" spc="-25" dirty="0">
                <a:latin typeface="Times New Roman"/>
                <a:cs typeface="Times New Roman"/>
              </a:rPr>
              <a:t> </a:t>
            </a:r>
            <a:r>
              <a:rPr sz="900" spc="-10" dirty="0">
                <a:latin typeface="Times New Roman"/>
                <a:cs typeface="Times New Roman"/>
              </a:rPr>
              <a:t>scaling</a:t>
            </a:r>
            <a:endParaRPr sz="900">
              <a:latin typeface="Times New Roman"/>
              <a:cs typeface="Times New Roman"/>
            </a:endParaRPr>
          </a:p>
        </p:txBody>
      </p:sp>
      <p:sp>
        <p:nvSpPr>
          <p:cNvPr id="14" name="object 14"/>
          <p:cNvSpPr/>
          <p:nvPr/>
        </p:nvSpPr>
        <p:spPr>
          <a:xfrm>
            <a:off x="359994" y="1893633"/>
            <a:ext cx="4088129" cy="0"/>
          </a:xfrm>
          <a:custGeom>
            <a:avLst/>
            <a:gdLst/>
            <a:ahLst/>
            <a:cxnLst/>
            <a:rect l="l" t="t" r="r" b="b"/>
            <a:pathLst>
              <a:path w="4088129">
                <a:moveTo>
                  <a:pt x="0" y="0"/>
                </a:moveTo>
                <a:lnTo>
                  <a:pt x="4087571" y="0"/>
                </a:lnTo>
              </a:path>
            </a:pathLst>
          </a:custGeom>
          <a:ln w="11083">
            <a:solidFill>
              <a:srgbClr val="000000"/>
            </a:solidFill>
          </a:ln>
        </p:spPr>
        <p:txBody>
          <a:bodyPr wrap="square" lIns="0" tIns="0" rIns="0" bIns="0" rtlCol="0"/>
          <a:lstStyle/>
          <a:p>
            <a:endParaRPr/>
          </a:p>
        </p:txBody>
      </p:sp>
      <p:grpSp>
        <p:nvGrpSpPr>
          <p:cNvPr id="15" name="object 15"/>
          <p:cNvGrpSpPr/>
          <p:nvPr/>
        </p:nvGrpSpPr>
        <p:grpSpPr>
          <a:xfrm>
            <a:off x="359994" y="2023575"/>
            <a:ext cx="3888104" cy="635000"/>
            <a:chOff x="359994" y="2023575"/>
            <a:chExt cx="3888104" cy="635000"/>
          </a:xfrm>
        </p:grpSpPr>
        <p:sp>
          <p:nvSpPr>
            <p:cNvPr id="16" name="object 16"/>
            <p:cNvSpPr/>
            <p:nvPr/>
          </p:nvSpPr>
          <p:spPr>
            <a:xfrm>
              <a:off x="413994" y="2090228"/>
              <a:ext cx="3780154" cy="526415"/>
            </a:xfrm>
            <a:custGeom>
              <a:avLst/>
              <a:gdLst/>
              <a:ahLst/>
              <a:cxnLst/>
              <a:rect l="l" t="t" r="r" b="b"/>
              <a:pathLst>
                <a:path w="3780154" h="526414">
                  <a:moveTo>
                    <a:pt x="3780050" y="0"/>
                  </a:moveTo>
                  <a:lnTo>
                    <a:pt x="0" y="0"/>
                  </a:lnTo>
                  <a:lnTo>
                    <a:pt x="0" y="526381"/>
                  </a:lnTo>
                  <a:lnTo>
                    <a:pt x="3780050" y="526381"/>
                  </a:lnTo>
                  <a:lnTo>
                    <a:pt x="3780050" y="0"/>
                  </a:lnTo>
                  <a:close/>
                </a:path>
              </a:pathLst>
            </a:custGeom>
            <a:solidFill>
              <a:srgbClr val="B2B2B2"/>
            </a:solidFill>
          </p:spPr>
          <p:txBody>
            <a:bodyPr wrap="square" lIns="0" tIns="0" rIns="0" bIns="0" rtlCol="0"/>
            <a:lstStyle/>
            <a:p>
              <a:endParaRPr/>
            </a:p>
          </p:txBody>
        </p:sp>
        <p:sp>
          <p:nvSpPr>
            <p:cNvPr id="17" name="object 17"/>
            <p:cNvSpPr/>
            <p:nvPr/>
          </p:nvSpPr>
          <p:spPr>
            <a:xfrm>
              <a:off x="359994" y="2023575"/>
              <a:ext cx="3888104" cy="635000"/>
            </a:xfrm>
            <a:custGeom>
              <a:avLst/>
              <a:gdLst/>
              <a:ahLst/>
              <a:cxnLst/>
              <a:rect l="l" t="t" r="r" b="b"/>
              <a:pathLst>
                <a:path w="3888104" h="635000">
                  <a:moveTo>
                    <a:pt x="3834050" y="0"/>
                  </a:moveTo>
                  <a:lnTo>
                    <a:pt x="54000" y="0"/>
                  </a:lnTo>
                  <a:lnTo>
                    <a:pt x="32980" y="4243"/>
                  </a:lnTo>
                  <a:lnTo>
                    <a:pt x="15816" y="15816"/>
                  </a:lnTo>
                  <a:lnTo>
                    <a:pt x="4243" y="32980"/>
                  </a:lnTo>
                  <a:lnTo>
                    <a:pt x="0" y="54000"/>
                  </a:lnTo>
                  <a:lnTo>
                    <a:pt x="0" y="580381"/>
                  </a:lnTo>
                  <a:lnTo>
                    <a:pt x="4243" y="601401"/>
                  </a:lnTo>
                  <a:lnTo>
                    <a:pt x="15816" y="618566"/>
                  </a:lnTo>
                  <a:lnTo>
                    <a:pt x="32980" y="630138"/>
                  </a:lnTo>
                  <a:lnTo>
                    <a:pt x="54000" y="634382"/>
                  </a:lnTo>
                  <a:lnTo>
                    <a:pt x="3834050" y="634382"/>
                  </a:lnTo>
                  <a:lnTo>
                    <a:pt x="3855070" y="630138"/>
                  </a:lnTo>
                  <a:lnTo>
                    <a:pt x="3872235" y="618566"/>
                  </a:lnTo>
                  <a:lnTo>
                    <a:pt x="3883807" y="601401"/>
                  </a:lnTo>
                  <a:lnTo>
                    <a:pt x="3888051" y="580381"/>
                  </a:lnTo>
                  <a:lnTo>
                    <a:pt x="3888051" y="54000"/>
                  </a:lnTo>
                  <a:lnTo>
                    <a:pt x="3883807" y="32980"/>
                  </a:lnTo>
                  <a:lnTo>
                    <a:pt x="3872235" y="15816"/>
                  </a:lnTo>
                  <a:lnTo>
                    <a:pt x="3855070" y="4243"/>
                  </a:lnTo>
                  <a:lnTo>
                    <a:pt x="3834050" y="0"/>
                  </a:lnTo>
                  <a:close/>
                </a:path>
              </a:pathLst>
            </a:custGeom>
            <a:solidFill>
              <a:srgbClr val="BE581F"/>
            </a:solidFill>
          </p:spPr>
          <p:txBody>
            <a:bodyPr wrap="square" lIns="0" tIns="0" rIns="0" bIns="0" rtlCol="0"/>
            <a:lstStyle/>
            <a:p>
              <a:endParaRPr/>
            </a:p>
          </p:txBody>
        </p:sp>
        <p:sp>
          <p:nvSpPr>
            <p:cNvPr id="18" name="object 18"/>
            <p:cNvSpPr/>
            <p:nvPr/>
          </p:nvSpPr>
          <p:spPr>
            <a:xfrm>
              <a:off x="359994" y="2235546"/>
              <a:ext cx="3888104" cy="422909"/>
            </a:xfrm>
            <a:custGeom>
              <a:avLst/>
              <a:gdLst/>
              <a:ahLst/>
              <a:cxnLst/>
              <a:rect l="l" t="t" r="r" b="b"/>
              <a:pathLst>
                <a:path w="3888104" h="422910">
                  <a:moveTo>
                    <a:pt x="3888051" y="0"/>
                  </a:moveTo>
                  <a:lnTo>
                    <a:pt x="0" y="0"/>
                  </a:lnTo>
                  <a:lnTo>
                    <a:pt x="0" y="368410"/>
                  </a:lnTo>
                  <a:lnTo>
                    <a:pt x="4243" y="389430"/>
                  </a:lnTo>
                  <a:lnTo>
                    <a:pt x="15816" y="406595"/>
                  </a:lnTo>
                  <a:lnTo>
                    <a:pt x="32980" y="418167"/>
                  </a:lnTo>
                  <a:lnTo>
                    <a:pt x="54000" y="422411"/>
                  </a:lnTo>
                  <a:lnTo>
                    <a:pt x="3834050" y="422411"/>
                  </a:lnTo>
                  <a:lnTo>
                    <a:pt x="3855070" y="418167"/>
                  </a:lnTo>
                  <a:lnTo>
                    <a:pt x="3872235" y="406595"/>
                  </a:lnTo>
                  <a:lnTo>
                    <a:pt x="3883807" y="389430"/>
                  </a:lnTo>
                  <a:lnTo>
                    <a:pt x="3888051" y="368410"/>
                  </a:lnTo>
                  <a:lnTo>
                    <a:pt x="3888051" y="0"/>
                  </a:lnTo>
                  <a:close/>
                </a:path>
              </a:pathLst>
            </a:custGeom>
            <a:solidFill>
              <a:srgbClr val="F8EEE8"/>
            </a:solidFill>
          </p:spPr>
          <p:txBody>
            <a:bodyPr wrap="square" lIns="0" tIns="0" rIns="0" bIns="0" rtlCol="0"/>
            <a:lstStyle/>
            <a:p>
              <a:endParaRPr/>
            </a:p>
          </p:txBody>
        </p:sp>
      </p:grpSp>
      <p:sp>
        <p:nvSpPr>
          <p:cNvPr id="19" name="object 19"/>
          <p:cNvSpPr txBox="1"/>
          <p:nvPr/>
        </p:nvSpPr>
        <p:spPr>
          <a:xfrm>
            <a:off x="408597" y="1956014"/>
            <a:ext cx="3790950" cy="668020"/>
          </a:xfrm>
          <a:prstGeom prst="rect">
            <a:avLst/>
          </a:prstGeom>
        </p:spPr>
        <p:txBody>
          <a:bodyPr vert="horz" wrap="square" lIns="0" tIns="75565" rIns="0" bIns="0" rtlCol="0">
            <a:spAutoFit/>
          </a:bodyPr>
          <a:lstStyle/>
          <a:p>
            <a:pPr marL="12700">
              <a:lnSpc>
                <a:spcPct val="100000"/>
              </a:lnSpc>
              <a:spcBef>
                <a:spcPts val="595"/>
              </a:spcBef>
            </a:pPr>
            <a:r>
              <a:rPr sz="1200" spc="-30" dirty="0">
                <a:solidFill>
                  <a:srgbClr val="FFFFFF"/>
                </a:solidFill>
                <a:latin typeface="SimSun"/>
                <a:cs typeface="SimSun"/>
              </a:rPr>
              <a:t>结论归纳</a:t>
            </a:r>
            <a:endParaRPr sz="1200">
              <a:latin typeface="SimSun"/>
              <a:cs typeface="SimSun"/>
            </a:endParaRPr>
          </a:p>
          <a:p>
            <a:pPr marL="12700" marR="5080">
              <a:lnSpc>
                <a:spcPct val="102600"/>
              </a:lnSpc>
              <a:spcBef>
                <a:spcPts val="409"/>
              </a:spcBef>
            </a:pPr>
            <a:r>
              <a:rPr sz="1100" spc="-25" dirty="0">
                <a:latin typeface="SimSun"/>
                <a:cs typeface="SimSun"/>
              </a:rPr>
              <a:t>等待型任务收益显著；纯计算任务不自动受益；轻量并发思想具有跨语言适用性。</a:t>
            </a:r>
            <a:endParaRPr sz="1100">
              <a:latin typeface="SimSun"/>
              <a:cs typeface="SimSun"/>
            </a:endParaRPr>
          </a:p>
        </p:txBody>
      </p:sp>
      <p:grpSp>
        <p:nvGrpSpPr>
          <p:cNvPr id="20" name="object 20"/>
          <p:cNvGrpSpPr/>
          <p:nvPr/>
        </p:nvGrpSpPr>
        <p:grpSpPr>
          <a:xfrm>
            <a:off x="0" y="3309520"/>
            <a:ext cx="4608195" cy="146685"/>
            <a:chOff x="0" y="3309520"/>
            <a:chExt cx="4608195" cy="146685"/>
          </a:xfrm>
        </p:grpSpPr>
        <p:sp>
          <p:nvSpPr>
            <p:cNvPr id="21" name="object 21"/>
            <p:cNvSpPr/>
            <p:nvPr/>
          </p:nvSpPr>
          <p:spPr>
            <a:xfrm>
              <a:off x="0" y="3309520"/>
              <a:ext cx="1464945" cy="146685"/>
            </a:xfrm>
            <a:custGeom>
              <a:avLst/>
              <a:gdLst/>
              <a:ahLst/>
              <a:cxnLst/>
              <a:rect l="l" t="t" r="r" b="b"/>
              <a:pathLst>
                <a:path w="1464945" h="146685">
                  <a:moveTo>
                    <a:pt x="1464490" y="146530"/>
                  </a:moveTo>
                  <a:lnTo>
                    <a:pt x="1464490" y="0"/>
                  </a:lnTo>
                  <a:lnTo>
                    <a:pt x="0" y="0"/>
                  </a:lnTo>
                  <a:lnTo>
                    <a:pt x="0" y="146530"/>
                  </a:lnTo>
                  <a:lnTo>
                    <a:pt x="1464490" y="146530"/>
                  </a:lnTo>
                  <a:close/>
                </a:path>
              </a:pathLst>
            </a:custGeom>
            <a:solidFill>
              <a:srgbClr val="4681B4"/>
            </a:solidFill>
          </p:spPr>
          <p:txBody>
            <a:bodyPr wrap="square" lIns="0" tIns="0" rIns="0" bIns="0" rtlCol="0"/>
            <a:lstStyle/>
            <a:p>
              <a:endParaRPr/>
            </a:p>
          </p:txBody>
        </p:sp>
        <p:sp>
          <p:nvSpPr>
            <p:cNvPr id="22" name="object 22"/>
            <p:cNvSpPr/>
            <p:nvPr/>
          </p:nvSpPr>
          <p:spPr>
            <a:xfrm>
              <a:off x="1464490" y="3309520"/>
              <a:ext cx="2672715" cy="146685"/>
            </a:xfrm>
            <a:custGeom>
              <a:avLst/>
              <a:gdLst/>
              <a:ahLst/>
              <a:cxnLst/>
              <a:rect l="l" t="t" r="r" b="b"/>
              <a:pathLst>
                <a:path w="2672715" h="146685">
                  <a:moveTo>
                    <a:pt x="2672682" y="0"/>
                  </a:moveTo>
                  <a:lnTo>
                    <a:pt x="0" y="0"/>
                  </a:lnTo>
                  <a:lnTo>
                    <a:pt x="0" y="146530"/>
                  </a:lnTo>
                  <a:lnTo>
                    <a:pt x="2672682" y="146530"/>
                  </a:lnTo>
                  <a:lnTo>
                    <a:pt x="2672682" y="0"/>
                  </a:lnTo>
                  <a:close/>
                </a:path>
              </a:pathLst>
            </a:custGeom>
            <a:solidFill>
              <a:srgbClr val="1B4681"/>
            </a:solidFill>
          </p:spPr>
          <p:txBody>
            <a:bodyPr wrap="square" lIns="0" tIns="0" rIns="0" bIns="0" rtlCol="0"/>
            <a:lstStyle/>
            <a:p>
              <a:endParaRPr/>
            </a:p>
          </p:txBody>
        </p:sp>
        <p:sp>
          <p:nvSpPr>
            <p:cNvPr id="23" name="object 23"/>
            <p:cNvSpPr/>
            <p:nvPr/>
          </p:nvSpPr>
          <p:spPr>
            <a:xfrm>
              <a:off x="4137103" y="3309520"/>
              <a:ext cx="471170" cy="146685"/>
            </a:xfrm>
            <a:custGeom>
              <a:avLst/>
              <a:gdLst/>
              <a:ahLst/>
              <a:cxnLst/>
              <a:rect l="l" t="t" r="r" b="b"/>
              <a:pathLst>
                <a:path w="471170" h="146685">
                  <a:moveTo>
                    <a:pt x="470836" y="0"/>
                  </a:moveTo>
                  <a:lnTo>
                    <a:pt x="0" y="0"/>
                  </a:lnTo>
                  <a:lnTo>
                    <a:pt x="0" y="146530"/>
                  </a:lnTo>
                  <a:lnTo>
                    <a:pt x="470836" y="146530"/>
                  </a:lnTo>
                  <a:lnTo>
                    <a:pt x="470836" y="0"/>
                  </a:lnTo>
                  <a:close/>
                </a:path>
              </a:pathLst>
            </a:custGeom>
            <a:solidFill>
              <a:srgbClr val="0A2750"/>
            </a:solidFill>
          </p:spPr>
          <p:txBody>
            <a:bodyPr wrap="square" lIns="0" tIns="0" rIns="0" bIns="0" rtlCol="0"/>
            <a:lstStyle/>
            <a:p>
              <a:endParaRPr/>
            </a:p>
          </p:txBody>
        </p:sp>
      </p:grpSp>
      <p:sp>
        <p:nvSpPr>
          <p:cNvPr id="24" name="object 24"/>
          <p:cNvSpPr txBox="1">
            <a:spLocks noGrp="1"/>
          </p:cNvSpPr>
          <p:nvPr>
            <p:ph type="dt" sz="half" idx="6"/>
          </p:nvPr>
        </p:nvSpPr>
        <p:spPr>
          <a:prstGeom prst="rect">
            <a:avLst/>
          </a:prstGeom>
        </p:spPr>
        <p:txBody>
          <a:bodyPr vert="horz" wrap="square" lIns="0" tIns="1270" rIns="0" bIns="0" rtlCol="0">
            <a:spAutoFit/>
          </a:bodyPr>
          <a:lstStyle/>
          <a:p>
            <a:pPr marL="12700">
              <a:lnSpc>
                <a:spcPct val="100000"/>
              </a:lnSpc>
              <a:spcBef>
                <a:spcPts val="10"/>
              </a:spcBef>
            </a:pPr>
            <a:r>
              <a:rPr spc="35" dirty="0"/>
              <a:t>尚文轩 南开大学</a:t>
            </a:r>
          </a:p>
        </p:txBody>
      </p:sp>
      <p:sp>
        <p:nvSpPr>
          <p:cNvPr id="25" name="object 25"/>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spc="-30" dirty="0">
                <a:latin typeface="Times New Roman"/>
                <a:cs typeface="Times New Roman"/>
              </a:rPr>
              <a:t>OT-</a:t>
            </a:r>
            <a:r>
              <a:rPr spc="-20" dirty="0"/>
              <a:t>协程技术调研</a:t>
            </a:r>
          </a:p>
        </p:txBody>
      </p:sp>
      <p:sp>
        <p:nvSpPr>
          <p:cNvPr id="26" name="object 26"/>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25" dirty="0"/>
              <a:t>18</a:t>
            </a:fld>
            <a:endParaRPr spc="-25" dirty="0"/>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ABA03ADC-E68A-6205-4007-041ED8698CCC}"/>
              </a:ext>
            </a:extLst>
          </p:cNvPr>
          <p:cNvPicPr>
            <a:picLocks noChangeAspect="1"/>
          </p:cNvPicPr>
          <p:nvPr/>
        </p:nvPicPr>
        <p:blipFill>
          <a:blip r:embed="rId2"/>
          <a:stretch>
            <a:fillRect/>
          </a:stretch>
        </p:blipFill>
        <p:spPr>
          <a:xfrm>
            <a:off x="0" y="1"/>
            <a:ext cx="4610100" cy="250672"/>
          </a:xfrm>
          <a:prstGeom prst="rect">
            <a:avLst/>
          </a:prstGeom>
        </p:spPr>
      </p:pic>
      <p:sp>
        <p:nvSpPr>
          <p:cNvPr id="2" name="object 2" descr="$PPTXTitle"/>
          <p:cNvSpPr txBox="1">
            <a:spLocks noGrp="1"/>
          </p:cNvSpPr>
          <p:nvPr>
            <p:ph type="title"/>
          </p:nvPr>
        </p:nvSpPr>
        <p:spPr>
          <a:xfrm>
            <a:off x="105130" y="43140"/>
            <a:ext cx="579755" cy="180819"/>
          </a:xfrm>
          <a:prstGeom prst="rect">
            <a:avLst/>
          </a:prstGeom>
        </p:spPr>
        <p:txBody>
          <a:bodyPr vert="horz" wrap="square" lIns="0" tIns="11430" rIns="0" bIns="0" rtlCol="0">
            <a:spAutoFit/>
          </a:bodyPr>
          <a:lstStyle/>
          <a:p>
            <a:pPr marL="12700">
              <a:lnSpc>
                <a:spcPct val="100000"/>
              </a:lnSpc>
              <a:spcBef>
                <a:spcPts val="90"/>
              </a:spcBef>
            </a:pPr>
            <a:r>
              <a:rPr spc="-30" dirty="0">
                <a:solidFill>
                  <a:schemeClr val="bg1"/>
                </a:solidFill>
              </a:rPr>
              <a:t>主要结论</a:t>
            </a:r>
          </a:p>
        </p:txBody>
      </p:sp>
      <p:sp>
        <p:nvSpPr>
          <p:cNvPr id="3" name="object 3"/>
          <p:cNvSpPr/>
          <p:nvPr/>
        </p:nvSpPr>
        <p:spPr>
          <a:xfrm>
            <a:off x="0" y="252052"/>
            <a:ext cx="4608195" cy="0"/>
          </a:xfrm>
          <a:custGeom>
            <a:avLst/>
            <a:gdLst/>
            <a:ahLst/>
            <a:cxnLst/>
            <a:rect l="l" t="t" r="r" b="b"/>
            <a:pathLst>
              <a:path w="4608195">
                <a:moveTo>
                  <a:pt x="0" y="0"/>
                </a:moveTo>
                <a:lnTo>
                  <a:pt x="4608060" y="0"/>
                </a:lnTo>
              </a:path>
            </a:pathLst>
          </a:custGeom>
          <a:ln w="12652">
            <a:solidFill>
              <a:srgbClr val="1B4681"/>
            </a:solidFill>
          </a:ln>
        </p:spPr>
        <p:txBody>
          <a:bodyPr wrap="square" lIns="0" tIns="0" rIns="0" bIns="0" rtlCol="0"/>
          <a:lstStyle/>
          <a:p>
            <a:endParaRPr/>
          </a:p>
        </p:txBody>
      </p:sp>
      <p:sp>
        <p:nvSpPr>
          <p:cNvPr id="4" name="object 4"/>
          <p:cNvSpPr txBox="1"/>
          <p:nvPr/>
        </p:nvSpPr>
        <p:spPr>
          <a:xfrm>
            <a:off x="451205" y="878203"/>
            <a:ext cx="3801110" cy="1338580"/>
          </a:xfrm>
          <a:prstGeom prst="rect">
            <a:avLst/>
          </a:prstGeom>
        </p:spPr>
        <p:txBody>
          <a:bodyPr vert="horz" wrap="square" lIns="0" tIns="6985" rIns="0" bIns="0" rtlCol="0">
            <a:spAutoFit/>
          </a:bodyPr>
          <a:lstStyle/>
          <a:p>
            <a:pPr marL="185420" marR="5080" indent="-173355">
              <a:lnSpc>
                <a:spcPct val="102600"/>
              </a:lnSpc>
              <a:spcBef>
                <a:spcPts val="55"/>
              </a:spcBef>
              <a:buClr>
                <a:srgbClr val="092850"/>
              </a:buClr>
              <a:buFont typeface="Times New Roman"/>
              <a:buAutoNum type="arabicPeriod"/>
              <a:tabLst>
                <a:tab pos="185420" algn="l"/>
              </a:tabLst>
            </a:pPr>
            <a:r>
              <a:rPr sz="1100" spc="-25" dirty="0">
                <a:latin typeface="SimSun"/>
                <a:cs typeface="SimSun"/>
              </a:rPr>
              <a:t>协程不是为了消灭线程，而是为了低成本组织大量等待型任</a:t>
            </a:r>
            <a:r>
              <a:rPr sz="1100" spc="-35" dirty="0">
                <a:latin typeface="SimSun"/>
                <a:cs typeface="SimSun"/>
              </a:rPr>
              <a:t>务。</a:t>
            </a:r>
            <a:endParaRPr sz="1100">
              <a:latin typeface="SimSun"/>
              <a:cs typeface="SimSun"/>
            </a:endParaRPr>
          </a:p>
          <a:p>
            <a:pPr marL="185420" indent="-172720">
              <a:lnSpc>
                <a:spcPct val="100000"/>
              </a:lnSpc>
              <a:spcBef>
                <a:spcPts val="335"/>
              </a:spcBef>
              <a:buClr>
                <a:srgbClr val="092850"/>
              </a:buClr>
              <a:buFont typeface="Times New Roman"/>
              <a:buAutoNum type="arabicPeriod"/>
              <a:tabLst>
                <a:tab pos="185420" algn="l"/>
              </a:tabLst>
            </a:pPr>
            <a:r>
              <a:rPr sz="1100" spc="-25" dirty="0">
                <a:latin typeface="SimSun"/>
                <a:cs typeface="SimSun"/>
              </a:rPr>
              <a:t>底层实现依赖编译器、运行时、操作系统三层协同。</a:t>
            </a:r>
            <a:endParaRPr sz="1100">
              <a:latin typeface="SimSun"/>
              <a:cs typeface="SimSun"/>
            </a:endParaRPr>
          </a:p>
          <a:p>
            <a:pPr marL="185420" marR="71755" indent="-173355">
              <a:lnSpc>
                <a:spcPct val="102699"/>
              </a:lnSpc>
              <a:spcBef>
                <a:spcPts val="295"/>
              </a:spcBef>
              <a:buClr>
                <a:srgbClr val="092850"/>
              </a:buClr>
              <a:buFont typeface="Times New Roman"/>
              <a:buAutoNum type="arabicPeriod"/>
              <a:tabLst>
                <a:tab pos="185420" algn="l"/>
              </a:tabLst>
            </a:pPr>
            <a:r>
              <a:rPr sz="1100" spc="-20" dirty="0">
                <a:latin typeface="SimSun"/>
                <a:cs typeface="SimSun"/>
              </a:rPr>
              <a:t>不同语言抽象层次不同：</a:t>
            </a:r>
            <a:r>
              <a:rPr sz="1100" spc="-10" dirty="0">
                <a:latin typeface="Times New Roman"/>
                <a:cs typeface="Times New Roman"/>
              </a:rPr>
              <a:t>C++20 </a:t>
            </a:r>
            <a:r>
              <a:rPr sz="1100" spc="-15" dirty="0">
                <a:latin typeface="SimSun"/>
                <a:cs typeface="SimSun"/>
              </a:rPr>
              <a:t>偏底层，</a:t>
            </a:r>
            <a:r>
              <a:rPr sz="1100" dirty="0">
                <a:latin typeface="Times New Roman"/>
                <a:cs typeface="Times New Roman"/>
              </a:rPr>
              <a:t>Go </a:t>
            </a:r>
            <a:r>
              <a:rPr sz="1100" spc="-25" dirty="0">
                <a:latin typeface="SimSun"/>
                <a:cs typeface="SimSun"/>
              </a:rPr>
              <a:t>偏运行时一体</a:t>
            </a:r>
            <a:r>
              <a:rPr sz="1100" spc="-10" dirty="0">
                <a:latin typeface="SimSun"/>
                <a:cs typeface="SimSun"/>
              </a:rPr>
              <a:t>化，</a:t>
            </a:r>
            <a:r>
              <a:rPr sz="1100" dirty="0">
                <a:latin typeface="Times New Roman"/>
                <a:cs typeface="Times New Roman"/>
              </a:rPr>
              <a:t>Python / C#</a:t>
            </a:r>
            <a:r>
              <a:rPr sz="1100" spc="5" dirty="0">
                <a:latin typeface="Times New Roman"/>
                <a:cs typeface="Times New Roman"/>
              </a:rPr>
              <a:t> </a:t>
            </a:r>
            <a:r>
              <a:rPr sz="1100" spc="254" dirty="0">
                <a:latin typeface="SimSun"/>
                <a:cs typeface="SimSun"/>
              </a:rPr>
              <a:t>偏</a:t>
            </a:r>
            <a:r>
              <a:rPr sz="1100" spc="-10" dirty="0">
                <a:latin typeface="Times New Roman"/>
                <a:cs typeface="Times New Roman"/>
              </a:rPr>
              <a:t>async/await</a:t>
            </a:r>
            <a:r>
              <a:rPr sz="1100" spc="-10" dirty="0">
                <a:latin typeface="SimSun"/>
                <a:cs typeface="SimSun"/>
              </a:rPr>
              <a:t>，</a:t>
            </a:r>
            <a:r>
              <a:rPr sz="1100" spc="-10" dirty="0">
                <a:latin typeface="Times New Roman"/>
                <a:cs typeface="Times New Roman"/>
              </a:rPr>
              <a:t>Java</a:t>
            </a:r>
            <a:r>
              <a:rPr sz="1100" spc="5" dirty="0">
                <a:latin typeface="Times New Roman"/>
                <a:cs typeface="Times New Roman"/>
              </a:rPr>
              <a:t> </a:t>
            </a:r>
            <a:r>
              <a:rPr sz="1100" dirty="0">
                <a:latin typeface="Times New Roman"/>
                <a:cs typeface="Times New Roman"/>
              </a:rPr>
              <a:t>21</a:t>
            </a:r>
            <a:r>
              <a:rPr sz="1100" spc="5" dirty="0">
                <a:latin typeface="Times New Roman"/>
                <a:cs typeface="Times New Roman"/>
              </a:rPr>
              <a:t> </a:t>
            </a:r>
            <a:r>
              <a:rPr sz="1100" spc="-25" dirty="0">
                <a:latin typeface="SimSun"/>
                <a:cs typeface="SimSun"/>
              </a:rPr>
              <a:t>偏虚拟线程。</a:t>
            </a:r>
            <a:endParaRPr sz="1100">
              <a:latin typeface="SimSun"/>
              <a:cs typeface="SimSun"/>
            </a:endParaRPr>
          </a:p>
          <a:p>
            <a:pPr marL="185420" marR="5080" indent="-173355">
              <a:lnSpc>
                <a:spcPct val="102600"/>
              </a:lnSpc>
              <a:spcBef>
                <a:spcPts val="300"/>
              </a:spcBef>
              <a:buClr>
                <a:srgbClr val="092850"/>
              </a:buClr>
              <a:buFont typeface="Times New Roman"/>
              <a:buAutoNum type="arabicPeriod"/>
              <a:tabLst>
                <a:tab pos="185420" algn="l"/>
              </a:tabLst>
            </a:pPr>
            <a:r>
              <a:rPr sz="1100" spc="-20" dirty="0">
                <a:latin typeface="SimSun"/>
                <a:cs typeface="SimSun"/>
              </a:rPr>
              <a:t>实验表明：</a:t>
            </a:r>
            <a:r>
              <a:rPr sz="1100" b="1" dirty="0">
                <a:latin typeface="Times New Roman"/>
                <a:cs typeface="Times New Roman"/>
              </a:rPr>
              <a:t>I/O </a:t>
            </a:r>
            <a:r>
              <a:rPr sz="1100" spc="-20" dirty="0">
                <a:latin typeface="SimSun"/>
                <a:cs typeface="SimSun"/>
              </a:rPr>
              <a:t>密集型任务收益显著；</a:t>
            </a:r>
            <a:r>
              <a:rPr sz="1100" b="1" spc="-10" dirty="0">
                <a:latin typeface="Times New Roman"/>
                <a:cs typeface="Times New Roman"/>
              </a:rPr>
              <a:t>CPU </a:t>
            </a:r>
            <a:r>
              <a:rPr sz="1100" spc="-25" dirty="0">
                <a:latin typeface="SimSun"/>
                <a:cs typeface="SimSun"/>
              </a:rPr>
              <a:t>密集型任务无天然收益；高并发下轻量模型也会有平台与波动。</a:t>
            </a:r>
            <a:endParaRPr sz="1100">
              <a:latin typeface="SimSun"/>
              <a:cs typeface="SimSun"/>
            </a:endParaRPr>
          </a:p>
        </p:txBody>
      </p:sp>
      <p:grpSp>
        <p:nvGrpSpPr>
          <p:cNvPr id="5" name="object 5"/>
          <p:cNvGrpSpPr/>
          <p:nvPr/>
        </p:nvGrpSpPr>
        <p:grpSpPr>
          <a:xfrm>
            <a:off x="0" y="3309520"/>
            <a:ext cx="4608195" cy="146685"/>
            <a:chOff x="0" y="3309520"/>
            <a:chExt cx="4608195" cy="146685"/>
          </a:xfrm>
        </p:grpSpPr>
        <p:sp>
          <p:nvSpPr>
            <p:cNvPr id="6" name="object 6"/>
            <p:cNvSpPr/>
            <p:nvPr/>
          </p:nvSpPr>
          <p:spPr>
            <a:xfrm>
              <a:off x="0" y="3309520"/>
              <a:ext cx="1464945" cy="146685"/>
            </a:xfrm>
            <a:custGeom>
              <a:avLst/>
              <a:gdLst/>
              <a:ahLst/>
              <a:cxnLst/>
              <a:rect l="l" t="t" r="r" b="b"/>
              <a:pathLst>
                <a:path w="1464945" h="146685">
                  <a:moveTo>
                    <a:pt x="1464490" y="146530"/>
                  </a:moveTo>
                  <a:lnTo>
                    <a:pt x="1464490" y="0"/>
                  </a:lnTo>
                  <a:lnTo>
                    <a:pt x="0" y="0"/>
                  </a:lnTo>
                  <a:lnTo>
                    <a:pt x="0" y="146530"/>
                  </a:lnTo>
                  <a:lnTo>
                    <a:pt x="1464490" y="146530"/>
                  </a:lnTo>
                  <a:close/>
                </a:path>
              </a:pathLst>
            </a:custGeom>
            <a:solidFill>
              <a:srgbClr val="4681B4"/>
            </a:solidFill>
          </p:spPr>
          <p:txBody>
            <a:bodyPr wrap="square" lIns="0" tIns="0" rIns="0" bIns="0" rtlCol="0"/>
            <a:lstStyle/>
            <a:p>
              <a:endParaRPr/>
            </a:p>
          </p:txBody>
        </p:sp>
        <p:sp>
          <p:nvSpPr>
            <p:cNvPr id="7" name="object 7"/>
            <p:cNvSpPr/>
            <p:nvPr/>
          </p:nvSpPr>
          <p:spPr>
            <a:xfrm>
              <a:off x="1464490" y="3309520"/>
              <a:ext cx="2672715" cy="146685"/>
            </a:xfrm>
            <a:custGeom>
              <a:avLst/>
              <a:gdLst/>
              <a:ahLst/>
              <a:cxnLst/>
              <a:rect l="l" t="t" r="r" b="b"/>
              <a:pathLst>
                <a:path w="2672715" h="146685">
                  <a:moveTo>
                    <a:pt x="2672682" y="0"/>
                  </a:moveTo>
                  <a:lnTo>
                    <a:pt x="0" y="0"/>
                  </a:lnTo>
                  <a:lnTo>
                    <a:pt x="0" y="146530"/>
                  </a:lnTo>
                  <a:lnTo>
                    <a:pt x="2672682" y="146530"/>
                  </a:lnTo>
                  <a:lnTo>
                    <a:pt x="2672682" y="0"/>
                  </a:lnTo>
                  <a:close/>
                </a:path>
              </a:pathLst>
            </a:custGeom>
            <a:solidFill>
              <a:srgbClr val="1B4681"/>
            </a:solidFill>
          </p:spPr>
          <p:txBody>
            <a:bodyPr wrap="square" lIns="0" tIns="0" rIns="0" bIns="0" rtlCol="0"/>
            <a:lstStyle/>
            <a:p>
              <a:endParaRPr/>
            </a:p>
          </p:txBody>
        </p:sp>
        <p:sp>
          <p:nvSpPr>
            <p:cNvPr id="8" name="object 8"/>
            <p:cNvSpPr/>
            <p:nvPr/>
          </p:nvSpPr>
          <p:spPr>
            <a:xfrm>
              <a:off x="4137103" y="3309520"/>
              <a:ext cx="471170" cy="146685"/>
            </a:xfrm>
            <a:custGeom>
              <a:avLst/>
              <a:gdLst/>
              <a:ahLst/>
              <a:cxnLst/>
              <a:rect l="l" t="t" r="r" b="b"/>
              <a:pathLst>
                <a:path w="471170" h="146685">
                  <a:moveTo>
                    <a:pt x="470836" y="0"/>
                  </a:moveTo>
                  <a:lnTo>
                    <a:pt x="0" y="0"/>
                  </a:lnTo>
                  <a:lnTo>
                    <a:pt x="0" y="146530"/>
                  </a:lnTo>
                  <a:lnTo>
                    <a:pt x="470836" y="146530"/>
                  </a:lnTo>
                  <a:lnTo>
                    <a:pt x="470836" y="0"/>
                  </a:lnTo>
                  <a:close/>
                </a:path>
              </a:pathLst>
            </a:custGeom>
            <a:solidFill>
              <a:srgbClr val="0A2750"/>
            </a:solidFill>
          </p:spPr>
          <p:txBody>
            <a:bodyPr wrap="square" lIns="0" tIns="0" rIns="0" bIns="0" rtlCol="0"/>
            <a:lstStyle/>
            <a:p>
              <a:endParaRPr/>
            </a:p>
          </p:txBody>
        </p:sp>
      </p:grpSp>
      <p:sp>
        <p:nvSpPr>
          <p:cNvPr id="9" name="object 9"/>
          <p:cNvSpPr txBox="1">
            <a:spLocks noGrp="1"/>
          </p:cNvSpPr>
          <p:nvPr>
            <p:ph type="dt" sz="half" idx="6"/>
          </p:nvPr>
        </p:nvSpPr>
        <p:spPr>
          <a:prstGeom prst="rect">
            <a:avLst/>
          </a:prstGeom>
        </p:spPr>
        <p:txBody>
          <a:bodyPr vert="horz" wrap="square" lIns="0" tIns="1270" rIns="0" bIns="0" rtlCol="0">
            <a:spAutoFit/>
          </a:bodyPr>
          <a:lstStyle/>
          <a:p>
            <a:pPr marL="12700">
              <a:lnSpc>
                <a:spcPct val="100000"/>
              </a:lnSpc>
              <a:spcBef>
                <a:spcPts val="10"/>
              </a:spcBef>
            </a:pPr>
            <a:r>
              <a:rPr spc="35" dirty="0"/>
              <a:t>尚文轩 南开大学</a:t>
            </a:r>
          </a:p>
        </p:txBody>
      </p:sp>
      <p:sp>
        <p:nvSpPr>
          <p:cNvPr id="10" name="object 10"/>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spc="-30" dirty="0">
                <a:latin typeface="Times New Roman"/>
                <a:cs typeface="Times New Roman"/>
              </a:rPr>
              <a:t>OT-</a:t>
            </a:r>
            <a:r>
              <a:rPr spc="-20" dirty="0"/>
              <a:t>协程技术调研</a:t>
            </a:r>
          </a:p>
        </p:txBody>
      </p:sp>
      <p:sp>
        <p:nvSpPr>
          <p:cNvPr id="11" name="object 11"/>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25" dirty="0"/>
              <a:t>19</a:t>
            </a:fld>
            <a:endParaRPr spc="-25" dirty="0"/>
          </a:p>
        </p:txBody>
      </p:sp>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6" name="图片 25">
            <a:extLst>
              <a:ext uri="{FF2B5EF4-FFF2-40B4-BE49-F238E27FC236}">
                <a16:creationId xmlns:a16="http://schemas.microsoft.com/office/drawing/2014/main" id="{F537288D-26D5-3047-EA40-1487EBA29BD9}"/>
              </a:ext>
            </a:extLst>
          </p:cNvPr>
          <p:cNvPicPr>
            <a:picLocks noChangeAspect="1"/>
          </p:cNvPicPr>
          <p:nvPr/>
        </p:nvPicPr>
        <p:blipFill>
          <a:blip r:embed="rId2"/>
          <a:stretch>
            <a:fillRect/>
          </a:stretch>
        </p:blipFill>
        <p:spPr>
          <a:xfrm>
            <a:off x="0" y="1"/>
            <a:ext cx="4610100" cy="250672"/>
          </a:xfrm>
          <a:prstGeom prst="rect">
            <a:avLst/>
          </a:prstGeom>
        </p:spPr>
      </p:pic>
      <p:sp>
        <p:nvSpPr>
          <p:cNvPr id="2" name="object 2" descr="$PPTXTitle"/>
          <p:cNvSpPr txBox="1">
            <a:spLocks noGrp="1"/>
          </p:cNvSpPr>
          <p:nvPr>
            <p:ph type="title"/>
          </p:nvPr>
        </p:nvSpPr>
        <p:spPr>
          <a:xfrm>
            <a:off x="105130" y="34949"/>
            <a:ext cx="2578735" cy="180819"/>
          </a:xfrm>
          <a:prstGeom prst="rect">
            <a:avLst/>
          </a:prstGeom>
        </p:spPr>
        <p:txBody>
          <a:bodyPr vert="horz" wrap="square" lIns="0" tIns="11430" rIns="0" bIns="0" rtlCol="0">
            <a:spAutoFit/>
          </a:bodyPr>
          <a:lstStyle/>
          <a:p>
            <a:pPr marL="12700">
              <a:lnSpc>
                <a:spcPct val="100000"/>
              </a:lnSpc>
              <a:spcBef>
                <a:spcPts val="90"/>
              </a:spcBef>
            </a:pPr>
            <a:r>
              <a:rPr spc="-25" dirty="0">
                <a:solidFill>
                  <a:schemeClr val="bg1"/>
                </a:solidFill>
                <a:latin typeface="Times New Roman"/>
                <a:cs typeface="Times New Roman"/>
              </a:rPr>
              <a:t>Takeaways</a:t>
            </a:r>
            <a:r>
              <a:rPr spc="-30" dirty="0">
                <a:solidFill>
                  <a:schemeClr val="bg1"/>
                </a:solidFill>
              </a:rPr>
              <a:t>：未来遇到类似问题怎么判断？</a:t>
            </a:r>
          </a:p>
        </p:txBody>
      </p:sp>
      <p:sp>
        <p:nvSpPr>
          <p:cNvPr id="3" name="object 3"/>
          <p:cNvSpPr/>
          <p:nvPr/>
        </p:nvSpPr>
        <p:spPr>
          <a:xfrm>
            <a:off x="0" y="252052"/>
            <a:ext cx="4608195" cy="0"/>
          </a:xfrm>
          <a:custGeom>
            <a:avLst/>
            <a:gdLst/>
            <a:ahLst/>
            <a:cxnLst/>
            <a:rect l="l" t="t" r="r" b="b"/>
            <a:pathLst>
              <a:path w="4608195">
                <a:moveTo>
                  <a:pt x="0" y="0"/>
                </a:moveTo>
                <a:lnTo>
                  <a:pt x="4608060" y="0"/>
                </a:lnTo>
              </a:path>
            </a:pathLst>
          </a:custGeom>
          <a:ln w="12652">
            <a:solidFill>
              <a:srgbClr val="1B4681"/>
            </a:solidFill>
          </a:ln>
        </p:spPr>
        <p:txBody>
          <a:bodyPr wrap="square" lIns="0" tIns="0" rIns="0" bIns="0" rtlCol="0"/>
          <a:lstStyle/>
          <a:p>
            <a:endParaRPr/>
          </a:p>
        </p:txBody>
      </p:sp>
      <p:grpSp>
        <p:nvGrpSpPr>
          <p:cNvPr id="4" name="object 4"/>
          <p:cNvGrpSpPr/>
          <p:nvPr/>
        </p:nvGrpSpPr>
        <p:grpSpPr>
          <a:xfrm>
            <a:off x="359994" y="477403"/>
            <a:ext cx="3888104" cy="634365"/>
            <a:chOff x="359994" y="477403"/>
            <a:chExt cx="3888104" cy="634365"/>
          </a:xfrm>
        </p:grpSpPr>
        <p:sp>
          <p:nvSpPr>
            <p:cNvPr id="5" name="object 5"/>
            <p:cNvSpPr/>
            <p:nvPr/>
          </p:nvSpPr>
          <p:spPr>
            <a:xfrm>
              <a:off x="413994" y="544056"/>
              <a:ext cx="3780154" cy="526415"/>
            </a:xfrm>
            <a:custGeom>
              <a:avLst/>
              <a:gdLst/>
              <a:ahLst/>
              <a:cxnLst/>
              <a:rect l="l" t="t" r="r" b="b"/>
              <a:pathLst>
                <a:path w="3780154" h="526415">
                  <a:moveTo>
                    <a:pt x="3780050" y="0"/>
                  </a:moveTo>
                  <a:lnTo>
                    <a:pt x="0" y="0"/>
                  </a:lnTo>
                  <a:lnTo>
                    <a:pt x="0" y="526277"/>
                  </a:lnTo>
                  <a:lnTo>
                    <a:pt x="3780050" y="526277"/>
                  </a:lnTo>
                  <a:lnTo>
                    <a:pt x="3780050" y="0"/>
                  </a:lnTo>
                  <a:close/>
                </a:path>
              </a:pathLst>
            </a:custGeom>
            <a:solidFill>
              <a:srgbClr val="B2B2B2"/>
            </a:solidFill>
          </p:spPr>
          <p:txBody>
            <a:bodyPr wrap="square" lIns="0" tIns="0" rIns="0" bIns="0" rtlCol="0"/>
            <a:lstStyle/>
            <a:p>
              <a:endParaRPr/>
            </a:p>
          </p:txBody>
        </p:sp>
        <p:sp>
          <p:nvSpPr>
            <p:cNvPr id="6" name="object 6"/>
            <p:cNvSpPr/>
            <p:nvPr/>
          </p:nvSpPr>
          <p:spPr>
            <a:xfrm>
              <a:off x="359994" y="477403"/>
              <a:ext cx="3888104" cy="634365"/>
            </a:xfrm>
            <a:custGeom>
              <a:avLst/>
              <a:gdLst/>
              <a:ahLst/>
              <a:cxnLst/>
              <a:rect l="l" t="t" r="r" b="b"/>
              <a:pathLst>
                <a:path w="3888104" h="634365">
                  <a:moveTo>
                    <a:pt x="3834050" y="0"/>
                  </a:moveTo>
                  <a:lnTo>
                    <a:pt x="54000" y="0"/>
                  </a:lnTo>
                  <a:lnTo>
                    <a:pt x="32980" y="4243"/>
                  </a:lnTo>
                  <a:lnTo>
                    <a:pt x="15816" y="15816"/>
                  </a:lnTo>
                  <a:lnTo>
                    <a:pt x="4243" y="32980"/>
                  </a:lnTo>
                  <a:lnTo>
                    <a:pt x="0" y="54000"/>
                  </a:lnTo>
                  <a:lnTo>
                    <a:pt x="0" y="580278"/>
                  </a:lnTo>
                  <a:lnTo>
                    <a:pt x="4243" y="601297"/>
                  </a:lnTo>
                  <a:lnTo>
                    <a:pt x="15816" y="618462"/>
                  </a:lnTo>
                  <a:lnTo>
                    <a:pt x="32980" y="630034"/>
                  </a:lnTo>
                  <a:lnTo>
                    <a:pt x="54000" y="634278"/>
                  </a:lnTo>
                  <a:lnTo>
                    <a:pt x="3834050" y="634278"/>
                  </a:lnTo>
                  <a:lnTo>
                    <a:pt x="3855070" y="630034"/>
                  </a:lnTo>
                  <a:lnTo>
                    <a:pt x="3872235" y="618462"/>
                  </a:lnTo>
                  <a:lnTo>
                    <a:pt x="3883807" y="601297"/>
                  </a:lnTo>
                  <a:lnTo>
                    <a:pt x="3888051" y="580278"/>
                  </a:lnTo>
                  <a:lnTo>
                    <a:pt x="3888051" y="54000"/>
                  </a:lnTo>
                  <a:lnTo>
                    <a:pt x="3883807" y="32980"/>
                  </a:lnTo>
                  <a:lnTo>
                    <a:pt x="3872235" y="15816"/>
                  </a:lnTo>
                  <a:lnTo>
                    <a:pt x="3855070" y="4243"/>
                  </a:lnTo>
                  <a:lnTo>
                    <a:pt x="3834050" y="0"/>
                  </a:lnTo>
                  <a:close/>
                </a:path>
              </a:pathLst>
            </a:custGeom>
            <a:solidFill>
              <a:srgbClr val="BE581F"/>
            </a:solidFill>
          </p:spPr>
          <p:txBody>
            <a:bodyPr wrap="square" lIns="0" tIns="0" rIns="0" bIns="0" rtlCol="0"/>
            <a:lstStyle/>
            <a:p>
              <a:endParaRPr/>
            </a:p>
          </p:txBody>
        </p:sp>
        <p:sp>
          <p:nvSpPr>
            <p:cNvPr id="7" name="object 7"/>
            <p:cNvSpPr/>
            <p:nvPr/>
          </p:nvSpPr>
          <p:spPr>
            <a:xfrm>
              <a:off x="359994" y="688188"/>
              <a:ext cx="3888104" cy="423545"/>
            </a:xfrm>
            <a:custGeom>
              <a:avLst/>
              <a:gdLst/>
              <a:ahLst/>
              <a:cxnLst/>
              <a:rect l="l" t="t" r="r" b="b"/>
              <a:pathLst>
                <a:path w="3888104" h="423544">
                  <a:moveTo>
                    <a:pt x="3888051" y="0"/>
                  </a:moveTo>
                  <a:lnTo>
                    <a:pt x="0" y="0"/>
                  </a:lnTo>
                  <a:lnTo>
                    <a:pt x="0" y="369493"/>
                  </a:lnTo>
                  <a:lnTo>
                    <a:pt x="4243" y="390512"/>
                  </a:lnTo>
                  <a:lnTo>
                    <a:pt x="15816" y="407677"/>
                  </a:lnTo>
                  <a:lnTo>
                    <a:pt x="32980" y="419250"/>
                  </a:lnTo>
                  <a:lnTo>
                    <a:pt x="54000" y="423493"/>
                  </a:lnTo>
                  <a:lnTo>
                    <a:pt x="3834050" y="423493"/>
                  </a:lnTo>
                  <a:lnTo>
                    <a:pt x="3855070" y="419250"/>
                  </a:lnTo>
                  <a:lnTo>
                    <a:pt x="3872235" y="407677"/>
                  </a:lnTo>
                  <a:lnTo>
                    <a:pt x="3883807" y="390512"/>
                  </a:lnTo>
                  <a:lnTo>
                    <a:pt x="3888051" y="369493"/>
                  </a:lnTo>
                  <a:lnTo>
                    <a:pt x="3888051" y="0"/>
                  </a:lnTo>
                  <a:close/>
                </a:path>
              </a:pathLst>
            </a:custGeom>
            <a:solidFill>
              <a:srgbClr val="F8EEE8"/>
            </a:solidFill>
          </p:spPr>
          <p:txBody>
            <a:bodyPr wrap="square" lIns="0" tIns="0" rIns="0" bIns="0" rtlCol="0"/>
            <a:lstStyle/>
            <a:p>
              <a:endParaRPr/>
            </a:p>
          </p:txBody>
        </p:sp>
      </p:grpSp>
      <p:grpSp>
        <p:nvGrpSpPr>
          <p:cNvPr id="8" name="object 8"/>
          <p:cNvGrpSpPr/>
          <p:nvPr/>
        </p:nvGrpSpPr>
        <p:grpSpPr>
          <a:xfrm>
            <a:off x="359994" y="1370590"/>
            <a:ext cx="3888104" cy="1398905"/>
            <a:chOff x="359994" y="1370590"/>
            <a:chExt cx="3888104" cy="1398905"/>
          </a:xfrm>
        </p:grpSpPr>
        <p:sp>
          <p:nvSpPr>
            <p:cNvPr id="9" name="object 9"/>
            <p:cNvSpPr/>
            <p:nvPr/>
          </p:nvSpPr>
          <p:spPr>
            <a:xfrm>
              <a:off x="413994" y="1437243"/>
              <a:ext cx="3780154" cy="1290955"/>
            </a:xfrm>
            <a:custGeom>
              <a:avLst/>
              <a:gdLst/>
              <a:ahLst/>
              <a:cxnLst/>
              <a:rect l="l" t="t" r="r" b="b"/>
              <a:pathLst>
                <a:path w="3780154" h="1290955">
                  <a:moveTo>
                    <a:pt x="3780050" y="0"/>
                  </a:moveTo>
                  <a:lnTo>
                    <a:pt x="0" y="0"/>
                  </a:lnTo>
                  <a:lnTo>
                    <a:pt x="0" y="1290605"/>
                  </a:lnTo>
                  <a:lnTo>
                    <a:pt x="3780050" y="1290605"/>
                  </a:lnTo>
                  <a:lnTo>
                    <a:pt x="3780050" y="0"/>
                  </a:lnTo>
                  <a:close/>
                </a:path>
              </a:pathLst>
            </a:custGeom>
            <a:solidFill>
              <a:srgbClr val="B2B2B2"/>
            </a:solidFill>
          </p:spPr>
          <p:txBody>
            <a:bodyPr wrap="square" lIns="0" tIns="0" rIns="0" bIns="0" rtlCol="0"/>
            <a:lstStyle/>
            <a:p>
              <a:endParaRPr/>
            </a:p>
          </p:txBody>
        </p:sp>
        <p:sp>
          <p:nvSpPr>
            <p:cNvPr id="10" name="object 10"/>
            <p:cNvSpPr/>
            <p:nvPr/>
          </p:nvSpPr>
          <p:spPr>
            <a:xfrm>
              <a:off x="359994" y="1370590"/>
              <a:ext cx="3888104" cy="1398905"/>
            </a:xfrm>
            <a:custGeom>
              <a:avLst/>
              <a:gdLst/>
              <a:ahLst/>
              <a:cxnLst/>
              <a:rect l="l" t="t" r="r" b="b"/>
              <a:pathLst>
                <a:path w="3888104" h="1398905">
                  <a:moveTo>
                    <a:pt x="3834050" y="0"/>
                  </a:moveTo>
                  <a:lnTo>
                    <a:pt x="54000" y="0"/>
                  </a:lnTo>
                  <a:lnTo>
                    <a:pt x="32980" y="4243"/>
                  </a:lnTo>
                  <a:lnTo>
                    <a:pt x="15816" y="15816"/>
                  </a:lnTo>
                  <a:lnTo>
                    <a:pt x="4243" y="32980"/>
                  </a:lnTo>
                  <a:lnTo>
                    <a:pt x="0" y="54000"/>
                  </a:lnTo>
                  <a:lnTo>
                    <a:pt x="0" y="1344606"/>
                  </a:lnTo>
                  <a:lnTo>
                    <a:pt x="4243" y="1365625"/>
                  </a:lnTo>
                  <a:lnTo>
                    <a:pt x="15816" y="1382790"/>
                  </a:lnTo>
                  <a:lnTo>
                    <a:pt x="32980" y="1394363"/>
                  </a:lnTo>
                  <a:lnTo>
                    <a:pt x="54000" y="1398606"/>
                  </a:lnTo>
                  <a:lnTo>
                    <a:pt x="3834050" y="1398606"/>
                  </a:lnTo>
                  <a:lnTo>
                    <a:pt x="3855070" y="1394363"/>
                  </a:lnTo>
                  <a:lnTo>
                    <a:pt x="3872235" y="1382790"/>
                  </a:lnTo>
                  <a:lnTo>
                    <a:pt x="3883807" y="1365625"/>
                  </a:lnTo>
                  <a:lnTo>
                    <a:pt x="3888051" y="1344606"/>
                  </a:lnTo>
                  <a:lnTo>
                    <a:pt x="3888051" y="54000"/>
                  </a:lnTo>
                  <a:lnTo>
                    <a:pt x="3883807" y="32980"/>
                  </a:lnTo>
                  <a:lnTo>
                    <a:pt x="3872235" y="15816"/>
                  </a:lnTo>
                  <a:lnTo>
                    <a:pt x="3855070" y="4243"/>
                  </a:lnTo>
                  <a:lnTo>
                    <a:pt x="3834050" y="0"/>
                  </a:lnTo>
                  <a:close/>
                </a:path>
              </a:pathLst>
            </a:custGeom>
            <a:solidFill>
              <a:srgbClr val="1B4681"/>
            </a:solidFill>
          </p:spPr>
          <p:txBody>
            <a:bodyPr wrap="square" lIns="0" tIns="0" rIns="0" bIns="0" rtlCol="0"/>
            <a:lstStyle/>
            <a:p>
              <a:endParaRPr/>
            </a:p>
          </p:txBody>
        </p:sp>
        <p:sp>
          <p:nvSpPr>
            <p:cNvPr id="11" name="object 11"/>
            <p:cNvSpPr/>
            <p:nvPr/>
          </p:nvSpPr>
          <p:spPr>
            <a:xfrm>
              <a:off x="359994" y="1582561"/>
              <a:ext cx="3888104" cy="1186815"/>
            </a:xfrm>
            <a:custGeom>
              <a:avLst/>
              <a:gdLst/>
              <a:ahLst/>
              <a:cxnLst/>
              <a:rect l="l" t="t" r="r" b="b"/>
              <a:pathLst>
                <a:path w="3888104" h="1186814">
                  <a:moveTo>
                    <a:pt x="3888051" y="0"/>
                  </a:moveTo>
                  <a:lnTo>
                    <a:pt x="0" y="0"/>
                  </a:lnTo>
                  <a:lnTo>
                    <a:pt x="0" y="1132635"/>
                  </a:lnTo>
                  <a:lnTo>
                    <a:pt x="4243" y="1153654"/>
                  </a:lnTo>
                  <a:lnTo>
                    <a:pt x="15816" y="1170819"/>
                  </a:lnTo>
                  <a:lnTo>
                    <a:pt x="32980" y="1182392"/>
                  </a:lnTo>
                  <a:lnTo>
                    <a:pt x="54000" y="1186635"/>
                  </a:lnTo>
                  <a:lnTo>
                    <a:pt x="3834050" y="1186635"/>
                  </a:lnTo>
                  <a:lnTo>
                    <a:pt x="3855070" y="1182392"/>
                  </a:lnTo>
                  <a:lnTo>
                    <a:pt x="3872235" y="1170819"/>
                  </a:lnTo>
                  <a:lnTo>
                    <a:pt x="3883807" y="1153654"/>
                  </a:lnTo>
                  <a:lnTo>
                    <a:pt x="3888051" y="1132635"/>
                  </a:lnTo>
                  <a:lnTo>
                    <a:pt x="3888051" y="0"/>
                  </a:lnTo>
                  <a:close/>
                </a:path>
              </a:pathLst>
            </a:custGeom>
            <a:solidFill>
              <a:srgbClr val="E8ECF2"/>
            </a:solidFill>
          </p:spPr>
          <p:txBody>
            <a:bodyPr wrap="square" lIns="0" tIns="0" rIns="0" bIns="0" rtlCol="0"/>
            <a:lstStyle/>
            <a:p>
              <a:endParaRPr/>
            </a:p>
          </p:txBody>
        </p:sp>
        <p:sp>
          <p:nvSpPr>
            <p:cNvPr id="12" name="object 12"/>
            <p:cNvSpPr/>
            <p:nvPr/>
          </p:nvSpPr>
          <p:spPr>
            <a:xfrm>
              <a:off x="601290" y="1708540"/>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3" name="object 13"/>
            <p:cNvSpPr/>
            <p:nvPr/>
          </p:nvSpPr>
          <p:spPr>
            <a:xfrm>
              <a:off x="601290" y="1708540"/>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sp>
          <p:nvSpPr>
            <p:cNvPr id="14" name="object 14"/>
            <p:cNvSpPr/>
            <p:nvPr/>
          </p:nvSpPr>
          <p:spPr>
            <a:xfrm>
              <a:off x="601290" y="2090657"/>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5" name="object 15"/>
            <p:cNvSpPr/>
            <p:nvPr/>
          </p:nvSpPr>
          <p:spPr>
            <a:xfrm>
              <a:off x="601290" y="2090657"/>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sp>
          <p:nvSpPr>
            <p:cNvPr id="16" name="object 16"/>
            <p:cNvSpPr/>
            <p:nvPr/>
          </p:nvSpPr>
          <p:spPr>
            <a:xfrm>
              <a:off x="601290" y="2472762"/>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7" name="object 17"/>
            <p:cNvSpPr/>
            <p:nvPr/>
          </p:nvSpPr>
          <p:spPr>
            <a:xfrm>
              <a:off x="601290" y="2472762"/>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sp>
        <p:nvSpPr>
          <p:cNvPr id="18" name="object 18"/>
          <p:cNvSpPr txBox="1"/>
          <p:nvPr/>
        </p:nvSpPr>
        <p:spPr>
          <a:xfrm>
            <a:off x="408597" y="411175"/>
            <a:ext cx="3790950" cy="2324100"/>
          </a:xfrm>
          <a:prstGeom prst="rect">
            <a:avLst/>
          </a:prstGeom>
        </p:spPr>
        <p:txBody>
          <a:bodyPr vert="horz" wrap="square" lIns="0" tIns="74295" rIns="0" bIns="0" rtlCol="0">
            <a:spAutoFit/>
          </a:bodyPr>
          <a:lstStyle/>
          <a:p>
            <a:pPr marL="12700">
              <a:lnSpc>
                <a:spcPct val="100000"/>
              </a:lnSpc>
              <a:spcBef>
                <a:spcPts val="585"/>
              </a:spcBef>
            </a:pPr>
            <a:r>
              <a:rPr sz="1200" spc="-30" dirty="0">
                <a:solidFill>
                  <a:srgbClr val="FFFFFF"/>
                </a:solidFill>
                <a:latin typeface="SimSun"/>
                <a:cs typeface="SimSun"/>
              </a:rPr>
              <a:t>总体结论</a:t>
            </a:r>
            <a:endParaRPr sz="1200">
              <a:latin typeface="SimSun"/>
              <a:cs typeface="SimSun"/>
            </a:endParaRPr>
          </a:p>
          <a:p>
            <a:pPr marL="12700" marR="5080">
              <a:lnSpc>
                <a:spcPct val="102699"/>
              </a:lnSpc>
              <a:spcBef>
                <a:spcPts val="400"/>
              </a:spcBef>
            </a:pPr>
            <a:r>
              <a:rPr sz="1100" spc="-20" dirty="0">
                <a:latin typeface="SimSun"/>
                <a:cs typeface="SimSun"/>
              </a:rPr>
              <a:t>协程的作用不在于取代线程，而在于降低海量等待型任务的组</a:t>
            </a:r>
            <a:r>
              <a:rPr sz="1100" spc="-25" dirty="0">
                <a:latin typeface="SimSun"/>
                <a:cs typeface="SimSun"/>
              </a:rPr>
              <a:t>织与调度成本。</a:t>
            </a:r>
            <a:endParaRPr sz="1100">
              <a:latin typeface="SimSun"/>
              <a:cs typeface="SimSun"/>
            </a:endParaRPr>
          </a:p>
          <a:p>
            <a:pPr>
              <a:lnSpc>
                <a:spcPct val="100000"/>
              </a:lnSpc>
              <a:spcBef>
                <a:spcPts val="1070"/>
              </a:spcBef>
            </a:pPr>
            <a:endParaRPr sz="1100">
              <a:latin typeface="SimSun"/>
              <a:cs typeface="SimSun"/>
            </a:endParaRPr>
          </a:p>
          <a:p>
            <a:pPr marL="12700">
              <a:lnSpc>
                <a:spcPct val="100000"/>
              </a:lnSpc>
            </a:pPr>
            <a:r>
              <a:rPr sz="1200" spc="-25" dirty="0">
                <a:solidFill>
                  <a:srgbClr val="FFFFFF"/>
                </a:solidFill>
                <a:latin typeface="SimSun"/>
                <a:cs typeface="SimSun"/>
              </a:rPr>
              <a:t>工程选型框架</a:t>
            </a:r>
            <a:endParaRPr sz="1200">
              <a:latin typeface="SimSun"/>
              <a:cs typeface="SimSun"/>
            </a:endParaRPr>
          </a:p>
          <a:p>
            <a:pPr marL="289560" marR="247015">
              <a:lnSpc>
                <a:spcPct val="102600"/>
              </a:lnSpc>
              <a:spcBef>
                <a:spcPts val="415"/>
              </a:spcBef>
            </a:pPr>
            <a:r>
              <a:rPr sz="1100" spc="-20" dirty="0">
                <a:latin typeface="SimSun"/>
                <a:cs typeface="SimSun"/>
              </a:rPr>
              <a:t>任务大部分时间在“等”</a:t>
            </a:r>
            <a:r>
              <a:rPr sz="1100" spc="80" dirty="0">
                <a:latin typeface="Cambria"/>
                <a:cs typeface="Cambria"/>
              </a:rPr>
              <a:t>⇒ </a:t>
            </a:r>
            <a:r>
              <a:rPr sz="1100" spc="-20" dirty="0">
                <a:latin typeface="SimSun"/>
                <a:cs typeface="SimSun"/>
              </a:rPr>
              <a:t>协程、</a:t>
            </a:r>
            <a:r>
              <a:rPr sz="1100" spc="-10" dirty="0">
                <a:latin typeface="Times New Roman"/>
                <a:cs typeface="Times New Roman"/>
              </a:rPr>
              <a:t>async/await</a:t>
            </a:r>
            <a:r>
              <a:rPr sz="1100" spc="-20" dirty="0">
                <a:latin typeface="SimSun"/>
                <a:cs typeface="SimSun"/>
              </a:rPr>
              <a:t>、</a:t>
            </a:r>
            <a:r>
              <a:rPr sz="1100" spc="-10" dirty="0">
                <a:latin typeface="Times New Roman"/>
                <a:cs typeface="Times New Roman"/>
              </a:rPr>
              <a:t>virtual thread</a:t>
            </a:r>
            <a:endParaRPr sz="1100">
              <a:latin typeface="Times New Roman"/>
              <a:cs typeface="Times New Roman"/>
            </a:endParaRPr>
          </a:p>
          <a:p>
            <a:pPr marL="289560" marR="84455">
              <a:lnSpc>
                <a:spcPct val="102600"/>
              </a:lnSpc>
              <a:spcBef>
                <a:spcPts val="300"/>
              </a:spcBef>
            </a:pPr>
            <a:r>
              <a:rPr sz="1100" spc="-20" dirty="0">
                <a:latin typeface="SimSun"/>
                <a:cs typeface="SimSun"/>
              </a:rPr>
              <a:t>任务大部分时间在“算”</a:t>
            </a:r>
            <a:r>
              <a:rPr sz="1100" dirty="0">
                <a:latin typeface="Cambria"/>
                <a:cs typeface="Cambria"/>
              </a:rPr>
              <a:t>⇒ </a:t>
            </a:r>
            <a:r>
              <a:rPr sz="1100" spc="-25" dirty="0">
                <a:latin typeface="SimSun"/>
                <a:cs typeface="SimSun"/>
              </a:rPr>
              <a:t>多线程并行、</a:t>
            </a:r>
            <a:r>
              <a:rPr sz="1100" spc="-20" dirty="0">
                <a:latin typeface="Times New Roman"/>
                <a:cs typeface="Times New Roman"/>
              </a:rPr>
              <a:t>SIMD</a:t>
            </a:r>
            <a:r>
              <a:rPr sz="1100" spc="-20" dirty="0">
                <a:latin typeface="SimSun"/>
                <a:cs typeface="SimSun"/>
              </a:rPr>
              <a:t>、</a:t>
            </a:r>
            <a:r>
              <a:rPr sz="1100" spc="-25" dirty="0">
                <a:latin typeface="Times New Roman"/>
                <a:cs typeface="Times New Roman"/>
              </a:rPr>
              <a:t>GPU</a:t>
            </a:r>
            <a:r>
              <a:rPr sz="1100" spc="-50" dirty="0">
                <a:latin typeface="SimSun"/>
                <a:cs typeface="SimSun"/>
              </a:rPr>
              <a:t>、</a:t>
            </a:r>
            <a:r>
              <a:rPr sz="1100" spc="-35" dirty="0">
                <a:latin typeface="SimSun"/>
                <a:cs typeface="SimSun"/>
              </a:rPr>
              <a:t>专用库</a:t>
            </a:r>
            <a:endParaRPr sz="1100">
              <a:latin typeface="SimSun"/>
              <a:cs typeface="SimSun"/>
            </a:endParaRPr>
          </a:p>
          <a:p>
            <a:pPr marL="289560" marR="29209">
              <a:lnSpc>
                <a:spcPct val="102600"/>
              </a:lnSpc>
              <a:spcBef>
                <a:spcPts val="300"/>
              </a:spcBef>
            </a:pPr>
            <a:r>
              <a:rPr sz="1100" spc="-25" dirty="0">
                <a:latin typeface="SimSun"/>
                <a:cs typeface="SimSun"/>
              </a:rPr>
              <a:t>评估并发模型时，不只看平均耗时，还要看吞吐、内存、尾延迟和运行时行为</a:t>
            </a:r>
            <a:endParaRPr sz="1100">
              <a:latin typeface="SimSun"/>
              <a:cs typeface="SimSun"/>
            </a:endParaRPr>
          </a:p>
        </p:txBody>
      </p:sp>
      <p:grpSp>
        <p:nvGrpSpPr>
          <p:cNvPr id="19" name="object 19"/>
          <p:cNvGrpSpPr/>
          <p:nvPr/>
        </p:nvGrpSpPr>
        <p:grpSpPr>
          <a:xfrm>
            <a:off x="0" y="3309520"/>
            <a:ext cx="4608195" cy="146685"/>
            <a:chOff x="0" y="3309520"/>
            <a:chExt cx="4608195" cy="146685"/>
          </a:xfrm>
        </p:grpSpPr>
        <p:sp>
          <p:nvSpPr>
            <p:cNvPr id="20" name="object 20"/>
            <p:cNvSpPr/>
            <p:nvPr/>
          </p:nvSpPr>
          <p:spPr>
            <a:xfrm>
              <a:off x="0" y="3309520"/>
              <a:ext cx="1464945" cy="146685"/>
            </a:xfrm>
            <a:custGeom>
              <a:avLst/>
              <a:gdLst/>
              <a:ahLst/>
              <a:cxnLst/>
              <a:rect l="l" t="t" r="r" b="b"/>
              <a:pathLst>
                <a:path w="1464945" h="146685">
                  <a:moveTo>
                    <a:pt x="1464490" y="146530"/>
                  </a:moveTo>
                  <a:lnTo>
                    <a:pt x="1464490" y="0"/>
                  </a:lnTo>
                  <a:lnTo>
                    <a:pt x="0" y="0"/>
                  </a:lnTo>
                  <a:lnTo>
                    <a:pt x="0" y="146530"/>
                  </a:lnTo>
                  <a:lnTo>
                    <a:pt x="1464490" y="146530"/>
                  </a:lnTo>
                  <a:close/>
                </a:path>
              </a:pathLst>
            </a:custGeom>
            <a:solidFill>
              <a:srgbClr val="4681B4"/>
            </a:solidFill>
          </p:spPr>
          <p:txBody>
            <a:bodyPr wrap="square" lIns="0" tIns="0" rIns="0" bIns="0" rtlCol="0"/>
            <a:lstStyle/>
            <a:p>
              <a:endParaRPr/>
            </a:p>
          </p:txBody>
        </p:sp>
        <p:sp>
          <p:nvSpPr>
            <p:cNvPr id="21" name="object 21"/>
            <p:cNvSpPr/>
            <p:nvPr/>
          </p:nvSpPr>
          <p:spPr>
            <a:xfrm>
              <a:off x="1464490" y="3309520"/>
              <a:ext cx="2672715" cy="146685"/>
            </a:xfrm>
            <a:custGeom>
              <a:avLst/>
              <a:gdLst/>
              <a:ahLst/>
              <a:cxnLst/>
              <a:rect l="l" t="t" r="r" b="b"/>
              <a:pathLst>
                <a:path w="2672715" h="146685">
                  <a:moveTo>
                    <a:pt x="2672682" y="0"/>
                  </a:moveTo>
                  <a:lnTo>
                    <a:pt x="0" y="0"/>
                  </a:lnTo>
                  <a:lnTo>
                    <a:pt x="0" y="146530"/>
                  </a:lnTo>
                  <a:lnTo>
                    <a:pt x="2672682" y="146530"/>
                  </a:lnTo>
                  <a:lnTo>
                    <a:pt x="2672682" y="0"/>
                  </a:lnTo>
                  <a:close/>
                </a:path>
              </a:pathLst>
            </a:custGeom>
            <a:solidFill>
              <a:srgbClr val="1B4681"/>
            </a:solidFill>
          </p:spPr>
          <p:txBody>
            <a:bodyPr wrap="square" lIns="0" tIns="0" rIns="0" bIns="0" rtlCol="0"/>
            <a:lstStyle/>
            <a:p>
              <a:endParaRPr/>
            </a:p>
          </p:txBody>
        </p:sp>
        <p:sp>
          <p:nvSpPr>
            <p:cNvPr id="22" name="object 22"/>
            <p:cNvSpPr/>
            <p:nvPr/>
          </p:nvSpPr>
          <p:spPr>
            <a:xfrm>
              <a:off x="4137103" y="3309520"/>
              <a:ext cx="471170" cy="146685"/>
            </a:xfrm>
            <a:custGeom>
              <a:avLst/>
              <a:gdLst/>
              <a:ahLst/>
              <a:cxnLst/>
              <a:rect l="l" t="t" r="r" b="b"/>
              <a:pathLst>
                <a:path w="471170" h="146685">
                  <a:moveTo>
                    <a:pt x="470836" y="0"/>
                  </a:moveTo>
                  <a:lnTo>
                    <a:pt x="0" y="0"/>
                  </a:lnTo>
                  <a:lnTo>
                    <a:pt x="0" y="146530"/>
                  </a:lnTo>
                  <a:lnTo>
                    <a:pt x="470836" y="146530"/>
                  </a:lnTo>
                  <a:lnTo>
                    <a:pt x="470836" y="0"/>
                  </a:lnTo>
                  <a:close/>
                </a:path>
              </a:pathLst>
            </a:custGeom>
            <a:solidFill>
              <a:srgbClr val="0A2750"/>
            </a:solidFill>
          </p:spPr>
          <p:txBody>
            <a:bodyPr wrap="square" lIns="0" tIns="0" rIns="0" bIns="0" rtlCol="0"/>
            <a:lstStyle/>
            <a:p>
              <a:endParaRPr/>
            </a:p>
          </p:txBody>
        </p:sp>
      </p:grpSp>
      <p:sp>
        <p:nvSpPr>
          <p:cNvPr id="23" name="object 23"/>
          <p:cNvSpPr txBox="1">
            <a:spLocks noGrp="1"/>
          </p:cNvSpPr>
          <p:nvPr>
            <p:ph type="dt" sz="half" idx="6"/>
          </p:nvPr>
        </p:nvSpPr>
        <p:spPr>
          <a:prstGeom prst="rect">
            <a:avLst/>
          </a:prstGeom>
        </p:spPr>
        <p:txBody>
          <a:bodyPr vert="horz" wrap="square" lIns="0" tIns="1270" rIns="0" bIns="0" rtlCol="0">
            <a:spAutoFit/>
          </a:bodyPr>
          <a:lstStyle/>
          <a:p>
            <a:pPr marL="12700">
              <a:lnSpc>
                <a:spcPct val="100000"/>
              </a:lnSpc>
              <a:spcBef>
                <a:spcPts val="10"/>
              </a:spcBef>
            </a:pPr>
            <a:r>
              <a:rPr spc="35" dirty="0"/>
              <a:t>尚文轩 南开大学</a:t>
            </a:r>
          </a:p>
        </p:txBody>
      </p:sp>
      <p:sp>
        <p:nvSpPr>
          <p:cNvPr id="24" name="object 24"/>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spc="-30" dirty="0">
                <a:latin typeface="Times New Roman"/>
                <a:cs typeface="Times New Roman"/>
              </a:rPr>
              <a:t>OT-</a:t>
            </a:r>
            <a:r>
              <a:rPr spc="-20" dirty="0"/>
              <a:t>协程技术调研</a:t>
            </a:r>
          </a:p>
        </p:txBody>
      </p:sp>
      <p:sp>
        <p:nvSpPr>
          <p:cNvPr id="25" name="object 25"/>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25" dirty="0"/>
              <a:t>20</a:t>
            </a:fld>
            <a:endParaRPr spc="-25" dirty="0"/>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4" name="图片 23">
            <a:extLst>
              <a:ext uri="{FF2B5EF4-FFF2-40B4-BE49-F238E27FC236}">
                <a16:creationId xmlns:a16="http://schemas.microsoft.com/office/drawing/2014/main" id="{36D250A0-05DB-565C-9717-93BBC550A980}"/>
              </a:ext>
            </a:extLst>
          </p:cNvPr>
          <p:cNvPicPr>
            <a:picLocks noChangeAspect="1"/>
          </p:cNvPicPr>
          <p:nvPr/>
        </p:nvPicPr>
        <p:blipFill>
          <a:blip r:embed="rId2"/>
          <a:stretch>
            <a:fillRect/>
          </a:stretch>
        </p:blipFill>
        <p:spPr>
          <a:xfrm>
            <a:off x="0" y="1"/>
            <a:ext cx="4610100" cy="250672"/>
          </a:xfrm>
          <a:prstGeom prst="rect">
            <a:avLst/>
          </a:prstGeom>
        </p:spPr>
      </p:pic>
      <p:sp>
        <p:nvSpPr>
          <p:cNvPr id="2" name="object 2" descr="$PPTXTitle"/>
          <p:cNvSpPr txBox="1">
            <a:spLocks noGrp="1"/>
          </p:cNvSpPr>
          <p:nvPr>
            <p:ph type="title"/>
          </p:nvPr>
        </p:nvSpPr>
        <p:spPr>
          <a:xfrm>
            <a:off x="105130" y="42861"/>
            <a:ext cx="1730375" cy="180819"/>
          </a:xfrm>
          <a:prstGeom prst="rect">
            <a:avLst/>
          </a:prstGeom>
        </p:spPr>
        <p:txBody>
          <a:bodyPr vert="horz" wrap="square" lIns="0" tIns="11430" rIns="0" bIns="0" rtlCol="0">
            <a:spAutoFit/>
          </a:bodyPr>
          <a:lstStyle/>
          <a:p>
            <a:pPr marL="12700">
              <a:lnSpc>
                <a:spcPct val="100000"/>
              </a:lnSpc>
              <a:spcBef>
                <a:spcPts val="90"/>
              </a:spcBef>
            </a:pPr>
            <a:r>
              <a:rPr dirty="0">
                <a:solidFill>
                  <a:schemeClr val="bg1"/>
                </a:solidFill>
                <a:latin typeface="Times New Roman"/>
                <a:cs typeface="Times New Roman"/>
              </a:rPr>
              <a:t>AI</a:t>
            </a:r>
            <a:r>
              <a:rPr spc="70" dirty="0">
                <a:solidFill>
                  <a:schemeClr val="bg1"/>
                </a:solidFill>
                <a:latin typeface="Times New Roman"/>
                <a:cs typeface="Times New Roman"/>
              </a:rPr>
              <a:t> </a:t>
            </a:r>
            <a:r>
              <a:rPr spc="-25" dirty="0">
                <a:solidFill>
                  <a:schemeClr val="bg1"/>
                </a:solidFill>
              </a:rPr>
              <a:t>辅助使用说明与人工核验</a:t>
            </a:r>
          </a:p>
        </p:txBody>
      </p:sp>
      <p:sp>
        <p:nvSpPr>
          <p:cNvPr id="3" name="object 3"/>
          <p:cNvSpPr/>
          <p:nvPr/>
        </p:nvSpPr>
        <p:spPr>
          <a:xfrm>
            <a:off x="0" y="252052"/>
            <a:ext cx="4608195" cy="0"/>
          </a:xfrm>
          <a:custGeom>
            <a:avLst/>
            <a:gdLst/>
            <a:ahLst/>
            <a:cxnLst/>
            <a:rect l="l" t="t" r="r" b="b"/>
            <a:pathLst>
              <a:path w="4608195">
                <a:moveTo>
                  <a:pt x="0" y="0"/>
                </a:moveTo>
                <a:lnTo>
                  <a:pt x="4608060" y="0"/>
                </a:lnTo>
              </a:path>
            </a:pathLst>
          </a:custGeom>
          <a:ln w="12652">
            <a:solidFill>
              <a:srgbClr val="1B4681"/>
            </a:solidFill>
          </a:ln>
        </p:spPr>
        <p:txBody>
          <a:bodyPr wrap="square" lIns="0" tIns="0" rIns="0" bIns="0" rtlCol="0"/>
          <a:lstStyle/>
          <a:p>
            <a:endParaRPr/>
          </a:p>
        </p:txBody>
      </p:sp>
      <p:grpSp>
        <p:nvGrpSpPr>
          <p:cNvPr id="4" name="object 4"/>
          <p:cNvGrpSpPr/>
          <p:nvPr/>
        </p:nvGrpSpPr>
        <p:grpSpPr>
          <a:xfrm>
            <a:off x="537457" y="908779"/>
            <a:ext cx="30480" cy="30480"/>
            <a:chOff x="537457" y="908779"/>
            <a:chExt cx="30480" cy="30480"/>
          </a:xfrm>
        </p:grpSpPr>
        <p:sp>
          <p:nvSpPr>
            <p:cNvPr id="5" name="object 5"/>
            <p:cNvSpPr/>
            <p:nvPr/>
          </p:nvSpPr>
          <p:spPr>
            <a:xfrm>
              <a:off x="539987" y="911310"/>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6" name="object 6"/>
            <p:cNvSpPr/>
            <p:nvPr/>
          </p:nvSpPr>
          <p:spPr>
            <a:xfrm>
              <a:off x="539987" y="911310"/>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sp>
        <p:nvSpPr>
          <p:cNvPr id="7" name="object 7"/>
          <p:cNvSpPr txBox="1"/>
          <p:nvPr/>
        </p:nvSpPr>
        <p:spPr>
          <a:xfrm>
            <a:off x="624395" y="809598"/>
            <a:ext cx="3636645" cy="1510665"/>
          </a:xfrm>
          <a:prstGeom prst="rect">
            <a:avLst/>
          </a:prstGeom>
        </p:spPr>
        <p:txBody>
          <a:bodyPr vert="horz" wrap="square" lIns="0" tIns="6985" rIns="0" bIns="0" rtlCol="0">
            <a:spAutoFit/>
          </a:bodyPr>
          <a:lstStyle/>
          <a:p>
            <a:pPr marL="12700" marR="13335">
              <a:lnSpc>
                <a:spcPct val="102600"/>
              </a:lnSpc>
              <a:spcBef>
                <a:spcPts val="55"/>
              </a:spcBef>
            </a:pPr>
            <a:r>
              <a:rPr sz="1100" spc="-25" dirty="0">
                <a:latin typeface="SimSun"/>
                <a:cs typeface="SimSun"/>
              </a:rPr>
              <a:t>使用大语言模型辅助完成：资料检索方向规划、报告结构设计、实验方案讨论、</a:t>
            </a:r>
            <a:r>
              <a:rPr sz="1100" spc="-25" dirty="0">
                <a:latin typeface="Times New Roman"/>
                <a:cs typeface="Times New Roman"/>
              </a:rPr>
              <a:t>LaTeX</a:t>
            </a:r>
            <a:r>
              <a:rPr sz="1100" spc="130" dirty="0">
                <a:latin typeface="Times New Roman"/>
                <a:cs typeface="Times New Roman"/>
              </a:rPr>
              <a:t> </a:t>
            </a:r>
            <a:r>
              <a:rPr sz="1100" spc="-25" dirty="0">
                <a:latin typeface="SimSun"/>
                <a:cs typeface="SimSun"/>
              </a:rPr>
              <a:t>表格与图示骨架生成。</a:t>
            </a:r>
            <a:endParaRPr sz="1100">
              <a:latin typeface="SimSun"/>
              <a:cs typeface="SimSun"/>
            </a:endParaRPr>
          </a:p>
          <a:p>
            <a:pPr marL="12700" marR="5080">
              <a:lnSpc>
                <a:spcPct val="102600"/>
              </a:lnSpc>
              <a:spcBef>
                <a:spcPts val="300"/>
              </a:spcBef>
            </a:pPr>
            <a:r>
              <a:rPr sz="1100" spc="-25" dirty="0">
                <a:latin typeface="SimSun"/>
                <a:cs typeface="SimSun"/>
              </a:rPr>
              <a:t>所有实验均由本人在本地环境实际运行，</a:t>
            </a:r>
            <a:r>
              <a:rPr sz="1100" spc="-30" dirty="0">
                <a:latin typeface="Times New Roman"/>
                <a:cs typeface="Times New Roman"/>
              </a:rPr>
              <a:t>CSV </a:t>
            </a:r>
            <a:r>
              <a:rPr sz="1100" spc="-45" dirty="0">
                <a:latin typeface="SimSun"/>
                <a:cs typeface="SimSun"/>
              </a:rPr>
              <a:t>数据、图表与</a:t>
            </a:r>
            <a:r>
              <a:rPr sz="1100" spc="-25" dirty="0">
                <a:latin typeface="SimSun"/>
                <a:cs typeface="SimSun"/>
              </a:rPr>
              <a:t>摘要表由脚本生成并人工检查。</a:t>
            </a:r>
            <a:endParaRPr sz="1100">
              <a:latin typeface="SimSun"/>
              <a:cs typeface="SimSun"/>
            </a:endParaRPr>
          </a:p>
          <a:p>
            <a:pPr marL="12700" marR="5080">
              <a:lnSpc>
                <a:spcPct val="102600"/>
              </a:lnSpc>
              <a:spcBef>
                <a:spcPts val="300"/>
              </a:spcBef>
            </a:pPr>
            <a:r>
              <a:rPr sz="1100" dirty="0">
                <a:latin typeface="SimSun"/>
                <a:cs typeface="SimSun"/>
              </a:rPr>
              <a:t>对关键结论采用“官方文档</a:t>
            </a:r>
            <a:r>
              <a:rPr sz="1100" dirty="0">
                <a:latin typeface="Times New Roman"/>
                <a:cs typeface="Times New Roman"/>
              </a:rPr>
              <a:t>+ </a:t>
            </a:r>
            <a:r>
              <a:rPr sz="1100" spc="-25" dirty="0">
                <a:latin typeface="SimSun"/>
                <a:cs typeface="SimSun"/>
              </a:rPr>
              <a:t>自己实验”的双重支撑，避免只依赖定性描述。</a:t>
            </a:r>
            <a:endParaRPr sz="1100">
              <a:latin typeface="SimSun"/>
              <a:cs typeface="SimSun"/>
            </a:endParaRPr>
          </a:p>
          <a:p>
            <a:pPr marL="12700" marR="5080">
              <a:lnSpc>
                <a:spcPct val="102600"/>
              </a:lnSpc>
              <a:spcBef>
                <a:spcPts val="300"/>
              </a:spcBef>
            </a:pPr>
            <a:r>
              <a:rPr sz="1100" spc="254" dirty="0">
                <a:latin typeface="SimSun"/>
                <a:cs typeface="SimSun"/>
              </a:rPr>
              <a:t>对</a:t>
            </a:r>
            <a:r>
              <a:rPr sz="1100" dirty="0">
                <a:latin typeface="Times New Roman"/>
                <a:cs typeface="Times New Roman"/>
              </a:rPr>
              <a:t>P95 </a:t>
            </a:r>
            <a:r>
              <a:rPr sz="1100" spc="-25" dirty="0">
                <a:latin typeface="SimSun"/>
                <a:cs typeface="SimSun"/>
              </a:rPr>
              <a:t>延迟、</a:t>
            </a:r>
            <a:r>
              <a:rPr sz="1100" dirty="0">
                <a:latin typeface="Times New Roman"/>
                <a:cs typeface="Times New Roman"/>
              </a:rPr>
              <a:t>Java </a:t>
            </a:r>
            <a:r>
              <a:rPr sz="1100" spc="-30" dirty="0">
                <a:latin typeface="SimSun"/>
                <a:cs typeface="SimSun"/>
              </a:rPr>
              <a:t>内存等易受统计口径影响的指标，在报告</a:t>
            </a:r>
            <a:r>
              <a:rPr sz="1100" spc="-25" dirty="0">
                <a:latin typeface="SimSun"/>
                <a:cs typeface="SimSun"/>
              </a:rPr>
              <a:t>中明确说明其解释边界。</a:t>
            </a:r>
            <a:endParaRPr sz="1100">
              <a:latin typeface="SimSun"/>
              <a:cs typeface="SimSun"/>
            </a:endParaRPr>
          </a:p>
        </p:txBody>
      </p:sp>
      <p:grpSp>
        <p:nvGrpSpPr>
          <p:cNvPr id="8" name="object 8"/>
          <p:cNvGrpSpPr/>
          <p:nvPr/>
        </p:nvGrpSpPr>
        <p:grpSpPr>
          <a:xfrm>
            <a:off x="537457" y="1290897"/>
            <a:ext cx="30480" cy="30480"/>
            <a:chOff x="537457" y="1290897"/>
            <a:chExt cx="30480" cy="30480"/>
          </a:xfrm>
        </p:grpSpPr>
        <p:sp>
          <p:nvSpPr>
            <p:cNvPr id="9" name="object 9"/>
            <p:cNvSpPr/>
            <p:nvPr/>
          </p:nvSpPr>
          <p:spPr>
            <a:xfrm>
              <a:off x="539987" y="1293428"/>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0" name="object 10"/>
            <p:cNvSpPr/>
            <p:nvPr/>
          </p:nvSpPr>
          <p:spPr>
            <a:xfrm>
              <a:off x="539987" y="1293428"/>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1" name="object 11"/>
          <p:cNvGrpSpPr/>
          <p:nvPr/>
        </p:nvGrpSpPr>
        <p:grpSpPr>
          <a:xfrm>
            <a:off x="537457" y="1673002"/>
            <a:ext cx="30480" cy="30480"/>
            <a:chOff x="537457" y="1673002"/>
            <a:chExt cx="30480" cy="30480"/>
          </a:xfrm>
        </p:grpSpPr>
        <p:sp>
          <p:nvSpPr>
            <p:cNvPr id="12" name="object 12"/>
            <p:cNvSpPr/>
            <p:nvPr/>
          </p:nvSpPr>
          <p:spPr>
            <a:xfrm>
              <a:off x="539987" y="1675532"/>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3" name="object 13"/>
            <p:cNvSpPr/>
            <p:nvPr/>
          </p:nvSpPr>
          <p:spPr>
            <a:xfrm>
              <a:off x="539987" y="1675532"/>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4" name="object 14"/>
          <p:cNvGrpSpPr/>
          <p:nvPr/>
        </p:nvGrpSpPr>
        <p:grpSpPr>
          <a:xfrm>
            <a:off x="537457" y="2055107"/>
            <a:ext cx="30480" cy="30480"/>
            <a:chOff x="537457" y="2055107"/>
            <a:chExt cx="30480" cy="30480"/>
          </a:xfrm>
        </p:grpSpPr>
        <p:sp>
          <p:nvSpPr>
            <p:cNvPr id="15" name="object 15"/>
            <p:cNvSpPr/>
            <p:nvPr/>
          </p:nvSpPr>
          <p:spPr>
            <a:xfrm>
              <a:off x="539987" y="2057637"/>
              <a:ext cx="25400" cy="25400"/>
            </a:xfrm>
            <a:custGeom>
              <a:avLst/>
              <a:gdLst/>
              <a:ahLst/>
              <a:cxnLst/>
              <a:rect l="l" t="t" r="r" b="b"/>
              <a:pathLst>
                <a:path w="25400" h="25400">
                  <a:moveTo>
                    <a:pt x="19640" y="0"/>
                  </a:moveTo>
                  <a:lnTo>
                    <a:pt x="5664" y="0"/>
                  </a:lnTo>
                  <a:lnTo>
                    <a:pt x="0" y="5664"/>
                  </a:lnTo>
                  <a:lnTo>
                    <a:pt x="0" y="19640"/>
                  </a:lnTo>
                  <a:lnTo>
                    <a:pt x="5664" y="25305"/>
                  </a:lnTo>
                  <a:lnTo>
                    <a:pt x="19640" y="25305"/>
                  </a:lnTo>
                  <a:lnTo>
                    <a:pt x="25305" y="19640"/>
                  </a:lnTo>
                  <a:lnTo>
                    <a:pt x="25305" y="5664"/>
                  </a:lnTo>
                  <a:lnTo>
                    <a:pt x="19640" y="0"/>
                  </a:lnTo>
                  <a:close/>
                </a:path>
              </a:pathLst>
            </a:custGeom>
            <a:solidFill>
              <a:srgbClr val="222222">
                <a:alpha val="79998"/>
              </a:srgbClr>
            </a:solidFill>
          </p:spPr>
          <p:txBody>
            <a:bodyPr wrap="square" lIns="0" tIns="0" rIns="0" bIns="0" rtlCol="0"/>
            <a:lstStyle/>
            <a:p>
              <a:endParaRPr/>
            </a:p>
          </p:txBody>
        </p:sp>
        <p:sp>
          <p:nvSpPr>
            <p:cNvPr id="16" name="object 16"/>
            <p:cNvSpPr/>
            <p:nvPr/>
          </p:nvSpPr>
          <p:spPr>
            <a:xfrm>
              <a:off x="539987" y="2057637"/>
              <a:ext cx="25400" cy="25400"/>
            </a:xfrm>
            <a:custGeom>
              <a:avLst/>
              <a:gdLst/>
              <a:ahLst/>
              <a:cxnLst/>
              <a:rect l="l" t="t" r="r" b="b"/>
              <a:pathLst>
                <a:path w="25400" h="25400">
                  <a:moveTo>
                    <a:pt x="25305" y="12652"/>
                  </a:moveTo>
                  <a:lnTo>
                    <a:pt x="25305" y="5664"/>
                  </a:lnTo>
                  <a:lnTo>
                    <a:pt x="19640" y="0"/>
                  </a:lnTo>
                  <a:lnTo>
                    <a:pt x="12652" y="0"/>
                  </a:lnTo>
                  <a:lnTo>
                    <a:pt x="5664" y="0"/>
                  </a:lnTo>
                  <a:lnTo>
                    <a:pt x="0" y="5664"/>
                  </a:lnTo>
                  <a:lnTo>
                    <a:pt x="0" y="12652"/>
                  </a:lnTo>
                  <a:lnTo>
                    <a:pt x="0" y="19640"/>
                  </a:lnTo>
                  <a:lnTo>
                    <a:pt x="5664" y="25305"/>
                  </a:lnTo>
                  <a:lnTo>
                    <a:pt x="12652" y="25305"/>
                  </a:lnTo>
                  <a:lnTo>
                    <a:pt x="19640" y="25305"/>
                  </a:lnTo>
                  <a:lnTo>
                    <a:pt x="25305" y="19640"/>
                  </a:lnTo>
                  <a:lnTo>
                    <a:pt x="25305" y="12652"/>
                  </a:lnTo>
                  <a:close/>
                </a:path>
              </a:pathLst>
            </a:custGeom>
            <a:ln w="5060">
              <a:solidFill>
                <a:srgbClr val="222222"/>
              </a:solidFill>
            </a:ln>
          </p:spPr>
          <p:txBody>
            <a:bodyPr wrap="square" lIns="0" tIns="0" rIns="0" bIns="0" rtlCol="0"/>
            <a:lstStyle/>
            <a:p>
              <a:endParaRPr/>
            </a:p>
          </p:txBody>
        </p:sp>
      </p:grpSp>
      <p:grpSp>
        <p:nvGrpSpPr>
          <p:cNvPr id="17" name="object 17"/>
          <p:cNvGrpSpPr/>
          <p:nvPr/>
        </p:nvGrpSpPr>
        <p:grpSpPr>
          <a:xfrm>
            <a:off x="0" y="3309520"/>
            <a:ext cx="4608195" cy="146685"/>
            <a:chOff x="0" y="3309520"/>
            <a:chExt cx="4608195" cy="146685"/>
          </a:xfrm>
        </p:grpSpPr>
        <p:sp>
          <p:nvSpPr>
            <p:cNvPr id="18" name="object 18"/>
            <p:cNvSpPr/>
            <p:nvPr/>
          </p:nvSpPr>
          <p:spPr>
            <a:xfrm>
              <a:off x="0" y="3309520"/>
              <a:ext cx="1464945" cy="146685"/>
            </a:xfrm>
            <a:custGeom>
              <a:avLst/>
              <a:gdLst/>
              <a:ahLst/>
              <a:cxnLst/>
              <a:rect l="l" t="t" r="r" b="b"/>
              <a:pathLst>
                <a:path w="1464945" h="146685">
                  <a:moveTo>
                    <a:pt x="1464490" y="146530"/>
                  </a:moveTo>
                  <a:lnTo>
                    <a:pt x="1464490" y="0"/>
                  </a:lnTo>
                  <a:lnTo>
                    <a:pt x="0" y="0"/>
                  </a:lnTo>
                  <a:lnTo>
                    <a:pt x="0" y="146530"/>
                  </a:lnTo>
                  <a:lnTo>
                    <a:pt x="1464490" y="146530"/>
                  </a:lnTo>
                  <a:close/>
                </a:path>
              </a:pathLst>
            </a:custGeom>
            <a:solidFill>
              <a:srgbClr val="4681B4"/>
            </a:solidFill>
          </p:spPr>
          <p:txBody>
            <a:bodyPr wrap="square" lIns="0" tIns="0" rIns="0" bIns="0" rtlCol="0"/>
            <a:lstStyle/>
            <a:p>
              <a:endParaRPr/>
            </a:p>
          </p:txBody>
        </p:sp>
        <p:sp>
          <p:nvSpPr>
            <p:cNvPr id="19" name="object 19"/>
            <p:cNvSpPr/>
            <p:nvPr/>
          </p:nvSpPr>
          <p:spPr>
            <a:xfrm>
              <a:off x="1464490" y="3309520"/>
              <a:ext cx="2672715" cy="146685"/>
            </a:xfrm>
            <a:custGeom>
              <a:avLst/>
              <a:gdLst/>
              <a:ahLst/>
              <a:cxnLst/>
              <a:rect l="l" t="t" r="r" b="b"/>
              <a:pathLst>
                <a:path w="2672715" h="146685">
                  <a:moveTo>
                    <a:pt x="2672682" y="0"/>
                  </a:moveTo>
                  <a:lnTo>
                    <a:pt x="0" y="0"/>
                  </a:lnTo>
                  <a:lnTo>
                    <a:pt x="0" y="146530"/>
                  </a:lnTo>
                  <a:lnTo>
                    <a:pt x="2672682" y="146530"/>
                  </a:lnTo>
                  <a:lnTo>
                    <a:pt x="2672682" y="0"/>
                  </a:lnTo>
                  <a:close/>
                </a:path>
              </a:pathLst>
            </a:custGeom>
            <a:solidFill>
              <a:srgbClr val="1B4681"/>
            </a:solidFill>
          </p:spPr>
          <p:txBody>
            <a:bodyPr wrap="square" lIns="0" tIns="0" rIns="0" bIns="0" rtlCol="0"/>
            <a:lstStyle/>
            <a:p>
              <a:endParaRPr/>
            </a:p>
          </p:txBody>
        </p:sp>
        <p:sp>
          <p:nvSpPr>
            <p:cNvPr id="20" name="object 20"/>
            <p:cNvSpPr/>
            <p:nvPr/>
          </p:nvSpPr>
          <p:spPr>
            <a:xfrm>
              <a:off x="4137103" y="3309520"/>
              <a:ext cx="471170" cy="146685"/>
            </a:xfrm>
            <a:custGeom>
              <a:avLst/>
              <a:gdLst/>
              <a:ahLst/>
              <a:cxnLst/>
              <a:rect l="l" t="t" r="r" b="b"/>
              <a:pathLst>
                <a:path w="471170" h="146685">
                  <a:moveTo>
                    <a:pt x="470836" y="0"/>
                  </a:moveTo>
                  <a:lnTo>
                    <a:pt x="0" y="0"/>
                  </a:lnTo>
                  <a:lnTo>
                    <a:pt x="0" y="146530"/>
                  </a:lnTo>
                  <a:lnTo>
                    <a:pt x="470836" y="146530"/>
                  </a:lnTo>
                  <a:lnTo>
                    <a:pt x="470836" y="0"/>
                  </a:lnTo>
                  <a:close/>
                </a:path>
              </a:pathLst>
            </a:custGeom>
            <a:solidFill>
              <a:srgbClr val="0A2750"/>
            </a:solidFill>
          </p:spPr>
          <p:txBody>
            <a:bodyPr wrap="square" lIns="0" tIns="0" rIns="0" bIns="0" rtlCol="0"/>
            <a:lstStyle/>
            <a:p>
              <a:endParaRPr/>
            </a:p>
          </p:txBody>
        </p:sp>
      </p:grpSp>
      <p:sp>
        <p:nvSpPr>
          <p:cNvPr id="21" name="object 21"/>
          <p:cNvSpPr txBox="1">
            <a:spLocks noGrp="1"/>
          </p:cNvSpPr>
          <p:nvPr>
            <p:ph type="dt" sz="half" idx="6"/>
          </p:nvPr>
        </p:nvSpPr>
        <p:spPr>
          <a:prstGeom prst="rect">
            <a:avLst/>
          </a:prstGeom>
        </p:spPr>
        <p:txBody>
          <a:bodyPr vert="horz" wrap="square" lIns="0" tIns="1270" rIns="0" bIns="0" rtlCol="0">
            <a:spAutoFit/>
          </a:bodyPr>
          <a:lstStyle/>
          <a:p>
            <a:pPr marL="12700">
              <a:lnSpc>
                <a:spcPct val="100000"/>
              </a:lnSpc>
              <a:spcBef>
                <a:spcPts val="10"/>
              </a:spcBef>
            </a:pPr>
            <a:r>
              <a:rPr spc="35" dirty="0"/>
              <a:t>尚文轩 南开大学</a:t>
            </a:r>
          </a:p>
        </p:txBody>
      </p:sp>
      <p:sp>
        <p:nvSpPr>
          <p:cNvPr id="22" name="object 22"/>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spc="-30" dirty="0">
                <a:latin typeface="Times New Roman"/>
                <a:cs typeface="Times New Roman"/>
              </a:rPr>
              <a:t>OT-</a:t>
            </a:r>
            <a:r>
              <a:rPr spc="-20" dirty="0"/>
              <a:t>协程技术调研</a:t>
            </a:r>
          </a:p>
        </p:txBody>
      </p:sp>
      <p:sp>
        <p:nvSpPr>
          <p:cNvPr id="23" name="object 23"/>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25" dirty="0"/>
              <a:t>21</a:t>
            </a:fld>
            <a:endParaRPr spc="-25" dirty="0"/>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FCE91581-3C8E-8CDA-101A-B919D07ACB18}"/>
              </a:ext>
            </a:extLst>
          </p:cNvPr>
          <p:cNvPicPr>
            <a:picLocks noChangeAspect="1"/>
          </p:cNvPicPr>
          <p:nvPr/>
        </p:nvPicPr>
        <p:blipFill>
          <a:blip r:embed="rId2"/>
          <a:stretch>
            <a:fillRect/>
          </a:stretch>
        </p:blipFill>
        <p:spPr>
          <a:xfrm>
            <a:off x="0" y="1"/>
            <a:ext cx="4610100" cy="250672"/>
          </a:xfrm>
          <a:prstGeom prst="rect">
            <a:avLst/>
          </a:prstGeom>
        </p:spPr>
      </p:pic>
      <p:sp>
        <p:nvSpPr>
          <p:cNvPr id="2" name="object 2"/>
          <p:cNvSpPr txBox="1"/>
          <p:nvPr/>
        </p:nvSpPr>
        <p:spPr>
          <a:xfrm>
            <a:off x="105130" y="27341"/>
            <a:ext cx="1333500" cy="180819"/>
          </a:xfrm>
          <a:prstGeom prst="rect">
            <a:avLst/>
          </a:prstGeom>
        </p:spPr>
        <p:txBody>
          <a:bodyPr vert="horz" wrap="square" lIns="0" tIns="11430" rIns="0" bIns="0" rtlCol="0">
            <a:spAutoFit/>
          </a:bodyPr>
          <a:lstStyle/>
          <a:p>
            <a:pPr marL="12700">
              <a:lnSpc>
                <a:spcPct val="100000"/>
              </a:lnSpc>
              <a:spcBef>
                <a:spcPts val="90"/>
              </a:spcBef>
            </a:pPr>
            <a:r>
              <a:rPr sz="1100" spc="-10" dirty="0">
                <a:solidFill>
                  <a:schemeClr val="bg1"/>
                </a:solidFill>
                <a:latin typeface="Times New Roman"/>
                <a:cs typeface="Times New Roman"/>
              </a:rPr>
              <a:t>Questions </a:t>
            </a:r>
            <a:r>
              <a:rPr sz="1100" dirty="0">
                <a:solidFill>
                  <a:schemeClr val="bg1"/>
                </a:solidFill>
                <a:latin typeface="Times New Roman"/>
                <a:cs typeface="Times New Roman"/>
              </a:rPr>
              <a:t>and</a:t>
            </a:r>
            <a:r>
              <a:rPr sz="1100" spc="-10" dirty="0">
                <a:solidFill>
                  <a:schemeClr val="bg1"/>
                </a:solidFill>
                <a:latin typeface="Times New Roman"/>
                <a:cs typeface="Times New Roman"/>
              </a:rPr>
              <a:t> Answers</a:t>
            </a:r>
            <a:endParaRPr sz="1100" dirty="0">
              <a:solidFill>
                <a:schemeClr val="bg1"/>
              </a:solidFill>
              <a:latin typeface="Times New Roman"/>
              <a:cs typeface="Times New Roman"/>
            </a:endParaRPr>
          </a:p>
        </p:txBody>
      </p:sp>
      <p:sp>
        <p:nvSpPr>
          <p:cNvPr id="3" name="object 3"/>
          <p:cNvSpPr/>
          <p:nvPr/>
        </p:nvSpPr>
        <p:spPr>
          <a:xfrm>
            <a:off x="0" y="252052"/>
            <a:ext cx="4608195" cy="0"/>
          </a:xfrm>
          <a:custGeom>
            <a:avLst/>
            <a:gdLst/>
            <a:ahLst/>
            <a:cxnLst/>
            <a:rect l="l" t="t" r="r" b="b"/>
            <a:pathLst>
              <a:path w="4608195">
                <a:moveTo>
                  <a:pt x="0" y="0"/>
                </a:moveTo>
                <a:lnTo>
                  <a:pt x="4608060" y="0"/>
                </a:lnTo>
              </a:path>
            </a:pathLst>
          </a:custGeom>
          <a:ln w="12652">
            <a:solidFill>
              <a:srgbClr val="1B4681"/>
            </a:solidFill>
          </a:ln>
        </p:spPr>
        <p:txBody>
          <a:bodyPr wrap="square" lIns="0" tIns="0" rIns="0" bIns="0" rtlCol="0"/>
          <a:lstStyle/>
          <a:p>
            <a:endParaRPr/>
          </a:p>
        </p:txBody>
      </p:sp>
      <p:sp>
        <p:nvSpPr>
          <p:cNvPr id="4" name="object 4"/>
          <p:cNvSpPr txBox="1"/>
          <p:nvPr/>
        </p:nvSpPr>
        <p:spPr>
          <a:xfrm>
            <a:off x="1924088" y="1341055"/>
            <a:ext cx="760095" cy="403225"/>
          </a:xfrm>
          <a:prstGeom prst="rect">
            <a:avLst/>
          </a:prstGeom>
        </p:spPr>
        <p:txBody>
          <a:bodyPr vert="horz" wrap="square" lIns="0" tIns="15875" rIns="0" bIns="0" rtlCol="0">
            <a:spAutoFit/>
          </a:bodyPr>
          <a:lstStyle/>
          <a:p>
            <a:pPr marL="12700">
              <a:lnSpc>
                <a:spcPct val="100000"/>
              </a:lnSpc>
              <a:spcBef>
                <a:spcPts val="125"/>
              </a:spcBef>
            </a:pPr>
            <a:r>
              <a:rPr sz="2450" b="1" spc="-25" dirty="0">
                <a:latin typeface="Times New Roman"/>
                <a:cs typeface="Times New Roman"/>
              </a:rPr>
              <a:t>Q&amp;A</a:t>
            </a:r>
            <a:endParaRPr sz="2450">
              <a:latin typeface="Times New Roman"/>
              <a:cs typeface="Times New Roman"/>
            </a:endParaRPr>
          </a:p>
        </p:txBody>
      </p:sp>
      <p:grpSp>
        <p:nvGrpSpPr>
          <p:cNvPr id="5" name="object 5"/>
          <p:cNvGrpSpPr/>
          <p:nvPr/>
        </p:nvGrpSpPr>
        <p:grpSpPr>
          <a:xfrm>
            <a:off x="0" y="3309520"/>
            <a:ext cx="4608195" cy="146685"/>
            <a:chOff x="0" y="3309520"/>
            <a:chExt cx="4608195" cy="146685"/>
          </a:xfrm>
        </p:grpSpPr>
        <p:sp>
          <p:nvSpPr>
            <p:cNvPr id="6" name="object 6"/>
            <p:cNvSpPr/>
            <p:nvPr/>
          </p:nvSpPr>
          <p:spPr>
            <a:xfrm>
              <a:off x="0" y="3309520"/>
              <a:ext cx="1464945" cy="146685"/>
            </a:xfrm>
            <a:custGeom>
              <a:avLst/>
              <a:gdLst/>
              <a:ahLst/>
              <a:cxnLst/>
              <a:rect l="l" t="t" r="r" b="b"/>
              <a:pathLst>
                <a:path w="1464945" h="146685">
                  <a:moveTo>
                    <a:pt x="1464490" y="146530"/>
                  </a:moveTo>
                  <a:lnTo>
                    <a:pt x="1464490" y="0"/>
                  </a:lnTo>
                  <a:lnTo>
                    <a:pt x="0" y="0"/>
                  </a:lnTo>
                  <a:lnTo>
                    <a:pt x="0" y="146530"/>
                  </a:lnTo>
                  <a:lnTo>
                    <a:pt x="1464490" y="146530"/>
                  </a:lnTo>
                  <a:close/>
                </a:path>
              </a:pathLst>
            </a:custGeom>
            <a:solidFill>
              <a:srgbClr val="4681B4"/>
            </a:solidFill>
          </p:spPr>
          <p:txBody>
            <a:bodyPr wrap="square" lIns="0" tIns="0" rIns="0" bIns="0" rtlCol="0"/>
            <a:lstStyle/>
            <a:p>
              <a:endParaRPr/>
            </a:p>
          </p:txBody>
        </p:sp>
        <p:sp>
          <p:nvSpPr>
            <p:cNvPr id="7" name="object 7"/>
            <p:cNvSpPr/>
            <p:nvPr/>
          </p:nvSpPr>
          <p:spPr>
            <a:xfrm>
              <a:off x="1464490" y="3309520"/>
              <a:ext cx="2672715" cy="146685"/>
            </a:xfrm>
            <a:custGeom>
              <a:avLst/>
              <a:gdLst/>
              <a:ahLst/>
              <a:cxnLst/>
              <a:rect l="l" t="t" r="r" b="b"/>
              <a:pathLst>
                <a:path w="2672715" h="146685">
                  <a:moveTo>
                    <a:pt x="2672682" y="0"/>
                  </a:moveTo>
                  <a:lnTo>
                    <a:pt x="0" y="0"/>
                  </a:lnTo>
                  <a:lnTo>
                    <a:pt x="0" y="146530"/>
                  </a:lnTo>
                  <a:lnTo>
                    <a:pt x="2672682" y="146530"/>
                  </a:lnTo>
                  <a:lnTo>
                    <a:pt x="2672682" y="0"/>
                  </a:lnTo>
                  <a:close/>
                </a:path>
              </a:pathLst>
            </a:custGeom>
            <a:solidFill>
              <a:srgbClr val="1B4681"/>
            </a:solidFill>
          </p:spPr>
          <p:txBody>
            <a:bodyPr wrap="square" lIns="0" tIns="0" rIns="0" bIns="0" rtlCol="0"/>
            <a:lstStyle/>
            <a:p>
              <a:endParaRPr/>
            </a:p>
          </p:txBody>
        </p:sp>
        <p:sp>
          <p:nvSpPr>
            <p:cNvPr id="8" name="object 8"/>
            <p:cNvSpPr/>
            <p:nvPr/>
          </p:nvSpPr>
          <p:spPr>
            <a:xfrm>
              <a:off x="4137103" y="3309520"/>
              <a:ext cx="471170" cy="146685"/>
            </a:xfrm>
            <a:custGeom>
              <a:avLst/>
              <a:gdLst/>
              <a:ahLst/>
              <a:cxnLst/>
              <a:rect l="l" t="t" r="r" b="b"/>
              <a:pathLst>
                <a:path w="471170" h="146685">
                  <a:moveTo>
                    <a:pt x="470836" y="0"/>
                  </a:moveTo>
                  <a:lnTo>
                    <a:pt x="0" y="0"/>
                  </a:lnTo>
                  <a:lnTo>
                    <a:pt x="0" y="146530"/>
                  </a:lnTo>
                  <a:lnTo>
                    <a:pt x="470836" y="146530"/>
                  </a:lnTo>
                  <a:lnTo>
                    <a:pt x="470836" y="0"/>
                  </a:lnTo>
                  <a:close/>
                </a:path>
              </a:pathLst>
            </a:custGeom>
            <a:solidFill>
              <a:srgbClr val="0A2750"/>
            </a:solidFill>
          </p:spPr>
          <p:txBody>
            <a:bodyPr wrap="square" lIns="0" tIns="0" rIns="0" bIns="0" rtlCol="0"/>
            <a:lstStyle/>
            <a:p>
              <a:endParaRPr/>
            </a:p>
          </p:txBody>
        </p:sp>
      </p:grpSp>
      <p:sp>
        <p:nvSpPr>
          <p:cNvPr id="9" name="object 9"/>
          <p:cNvSpPr txBox="1">
            <a:spLocks noGrp="1"/>
          </p:cNvSpPr>
          <p:nvPr>
            <p:ph type="dt" sz="half" idx="6"/>
          </p:nvPr>
        </p:nvSpPr>
        <p:spPr>
          <a:prstGeom prst="rect">
            <a:avLst/>
          </a:prstGeom>
        </p:spPr>
        <p:txBody>
          <a:bodyPr vert="horz" wrap="square" lIns="0" tIns="1270" rIns="0" bIns="0" rtlCol="0">
            <a:spAutoFit/>
          </a:bodyPr>
          <a:lstStyle/>
          <a:p>
            <a:pPr marL="12700">
              <a:lnSpc>
                <a:spcPct val="100000"/>
              </a:lnSpc>
              <a:spcBef>
                <a:spcPts val="10"/>
              </a:spcBef>
            </a:pPr>
            <a:r>
              <a:rPr spc="35" dirty="0"/>
              <a:t>尚文轩 南开大学</a:t>
            </a:r>
          </a:p>
        </p:txBody>
      </p:sp>
      <p:sp>
        <p:nvSpPr>
          <p:cNvPr id="10" name="object 10"/>
          <p:cNvSpPr txBox="1">
            <a:spLocks noGrp="1"/>
          </p:cNvSpPr>
          <p:nvPr>
            <p:ph type="ftr" sz="quarter" idx="5"/>
          </p:nvPr>
        </p:nvSpPr>
        <p:spPr>
          <a:prstGeom prst="rect">
            <a:avLst/>
          </a:prstGeom>
        </p:spPr>
        <p:txBody>
          <a:bodyPr vert="horz" wrap="square" lIns="0" tIns="3810" rIns="0" bIns="0" rtlCol="0">
            <a:spAutoFit/>
          </a:bodyPr>
          <a:lstStyle/>
          <a:p>
            <a:pPr marL="12700">
              <a:lnSpc>
                <a:spcPct val="100000"/>
              </a:lnSpc>
              <a:spcBef>
                <a:spcPts val="30"/>
              </a:spcBef>
            </a:pPr>
            <a:r>
              <a:rPr spc="-30" dirty="0">
                <a:latin typeface="Times New Roman"/>
                <a:cs typeface="Times New Roman"/>
              </a:rPr>
              <a:t>OT-</a:t>
            </a:r>
            <a:r>
              <a:rPr spc="-20" dirty="0"/>
              <a:t>协程技术调研</a:t>
            </a:r>
          </a:p>
        </p:txBody>
      </p:sp>
      <p:sp>
        <p:nvSpPr>
          <p:cNvPr id="11" name="object 11"/>
          <p:cNvSpPr txBox="1">
            <a:spLocks noGrp="1"/>
          </p:cNvSpPr>
          <p:nvPr>
            <p:ph type="sldNum" sz="quarter" idx="7"/>
          </p:nvPr>
        </p:nvSpPr>
        <p:spPr>
          <a:prstGeom prst="rect">
            <a:avLst/>
          </a:prstGeom>
        </p:spPr>
        <p:txBody>
          <a:bodyPr vert="horz" wrap="square" lIns="0" tIns="4445" rIns="0" bIns="0" rtlCol="0">
            <a:spAutoFit/>
          </a:bodyPr>
          <a:lstStyle/>
          <a:p>
            <a:pPr marL="38100">
              <a:lnSpc>
                <a:spcPct val="100000"/>
              </a:lnSpc>
              <a:spcBef>
                <a:spcPts val="35"/>
              </a:spcBef>
            </a:pPr>
            <a:fld id="{81D60167-4931-47E6-BA6A-407CBD079E47}" type="slidenum">
              <a:rPr spc="-25" dirty="0"/>
              <a:t>22</a:t>
            </a:fld>
            <a:endParaRPr spc="-25" dirty="0"/>
          </a:p>
        </p:txBody>
      </p:sp>
    </p:spTree>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 y="27"/>
            <a:ext cx="4608195" cy="3456304"/>
          </a:xfrm>
          <a:custGeom>
            <a:avLst/>
            <a:gdLst/>
            <a:ahLst/>
            <a:cxnLst/>
            <a:rect l="l" t="t" r="r" b="b"/>
            <a:pathLst>
              <a:path w="4608195" h="3456304">
                <a:moveTo>
                  <a:pt x="4608060" y="0"/>
                </a:moveTo>
                <a:lnTo>
                  <a:pt x="0" y="0"/>
                </a:lnTo>
                <a:lnTo>
                  <a:pt x="0" y="3456046"/>
                </a:lnTo>
                <a:lnTo>
                  <a:pt x="4608060" y="3456046"/>
                </a:lnTo>
                <a:lnTo>
                  <a:pt x="4608060" y="0"/>
                </a:lnTo>
                <a:close/>
              </a:path>
            </a:pathLst>
          </a:custGeom>
          <a:solidFill>
            <a:srgbClr val="1B4681"/>
          </a:solidFill>
        </p:spPr>
        <p:txBody>
          <a:bodyPr wrap="square" lIns="0" tIns="0" rIns="0" bIns="0" rtlCol="0"/>
          <a:lstStyle/>
          <a:p>
            <a:endParaRPr/>
          </a:p>
        </p:txBody>
      </p:sp>
      <p:sp>
        <p:nvSpPr>
          <p:cNvPr id="3" name="object 3" descr="$PPTXTitle"/>
          <p:cNvSpPr txBox="1">
            <a:spLocks noGrp="1"/>
          </p:cNvSpPr>
          <p:nvPr>
            <p:ph type="ctrTitle"/>
          </p:nvPr>
        </p:nvSpPr>
        <p:spPr>
          <a:prstGeom prst="rect">
            <a:avLst/>
          </a:prstGeom>
        </p:spPr>
        <p:txBody>
          <a:bodyPr vert="horz" wrap="square" lIns="0" tIns="1069862" rIns="0" bIns="0" rtlCol="0">
            <a:spAutoFit/>
          </a:bodyPr>
          <a:lstStyle/>
          <a:p>
            <a:pPr marL="608965">
              <a:lnSpc>
                <a:spcPct val="100000"/>
              </a:lnSpc>
              <a:spcBef>
                <a:spcPts val="135"/>
              </a:spcBef>
            </a:pPr>
            <a:r>
              <a:rPr sz="3350" b="1" dirty="0">
                <a:solidFill>
                  <a:srgbClr val="FFFFFF"/>
                </a:solidFill>
                <a:latin typeface="Times New Roman"/>
                <a:cs typeface="Times New Roman"/>
              </a:rPr>
              <a:t>THANK</a:t>
            </a:r>
            <a:r>
              <a:rPr sz="3350" b="1" spc="120" dirty="0">
                <a:solidFill>
                  <a:srgbClr val="FFFFFF"/>
                </a:solidFill>
                <a:latin typeface="Times New Roman"/>
                <a:cs typeface="Times New Roman"/>
              </a:rPr>
              <a:t> </a:t>
            </a:r>
            <a:r>
              <a:rPr sz="3350" b="1" spc="-25" dirty="0">
                <a:solidFill>
                  <a:srgbClr val="FFFFFF"/>
                </a:solidFill>
                <a:latin typeface="Times New Roman"/>
                <a:cs typeface="Times New Roman"/>
              </a:rPr>
              <a:t>YOU</a:t>
            </a:r>
            <a:endParaRPr sz="3350">
              <a:latin typeface="Times New Roman"/>
              <a:cs typeface="Times New Roman"/>
            </a:endParaRPr>
          </a:p>
        </p:txBody>
      </p:sp>
      <p:sp>
        <p:nvSpPr>
          <p:cNvPr id="4" name="object 4"/>
          <p:cNvSpPr txBox="1"/>
          <p:nvPr/>
        </p:nvSpPr>
        <p:spPr>
          <a:xfrm>
            <a:off x="1539747" y="1994634"/>
            <a:ext cx="1529080" cy="244475"/>
          </a:xfrm>
          <a:prstGeom prst="rect">
            <a:avLst/>
          </a:prstGeom>
        </p:spPr>
        <p:txBody>
          <a:bodyPr vert="horz" wrap="square" lIns="0" tIns="17145" rIns="0" bIns="0" rtlCol="0">
            <a:spAutoFit/>
          </a:bodyPr>
          <a:lstStyle/>
          <a:p>
            <a:pPr marL="12700">
              <a:lnSpc>
                <a:spcPct val="100000"/>
              </a:lnSpc>
              <a:spcBef>
                <a:spcPts val="135"/>
              </a:spcBef>
              <a:tabLst>
                <a:tab pos="786765" algn="l"/>
              </a:tabLst>
            </a:pPr>
            <a:r>
              <a:rPr sz="1400" dirty="0">
                <a:solidFill>
                  <a:srgbClr val="FFFFFF"/>
                </a:solidFill>
                <a:latin typeface="SimSun"/>
                <a:cs typeface="SimSun"/>
              </a:rPr>
              <a:t>尚文</a:t>
            </a:r>
            <a:r>
              <a:rPr sz="1400" spc="-50" dirty="0">
                <a:solidFill>
                  <a:srgbClr val="FFFFFF"/>
                </a:solidFill>
                <a:latin typeface="SimSun"/>
                <a:cs typeface="SimSun"/>
              </a:rPr>
              <a:t>轩</a:t>
            </a:r>
            <a:r>
              <a:rPr sz="1400" dirty="0">
                <a:solidFill>
                  <a:srgbClr val="FFFFFF"/>
                </a:solidFill>
                <a:latin typeface="SimSun"/>
                <a:cs typeface="SimSun"/>
              </a:rPr>
              <a:t>	南开大</a:t>
            </a:r>
            <a:r>
              <a:rPr sz="1400" spc="-50" dirty="0">
                <a:solidFill>
                  <a:srgbClr val="FFFFFF"/>
                </a:solidFill>
                <a:latin typeface="SimSun"/>
                <a:cs typeface="SimSun"/>
              </a:rPr>
              <a:t>学</a:t>
            </a:r>
            <a:endParaRPr sz="1400">
              <a:latin typeface="SimSun"/>
              <a:cs typeface="SimSun"/>
            </a:endParaRP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TotalTime>
  <Words>968</Words>
  <Application>Microsoft Office PowerPoint</Application>
  <PresentationFormat>自定义</PresentationFormat>
  <Paragraphs>272</Paragraphs>
  <Slides>23</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23</vt:i4>
      </vt:variant>
    </vt:vector>
  </HeadingPairs>
  <TitlesOfParts>
    <vt:vector size="27" baseType="lpstr">
      <vt:lpstr>SimSun</vt:lpstr>
      <vt:lpstr>Cambria</vt:lpstr>
      <vt:lpstr>Times New Roman</vt:lpstr>
      <vt:lpstr>Office Theme</vt:lpstr>
      <vt:lpstr>从线程到协程：高并发 I/O 场景下轻量级并发机制的底层实现与实验分析</vt:lpstr>
      <vt:lpstr>报告结构</vt:lpstr>
      <vt:lpstr>问题背景：高并发 I/O 的核心矛盾</vt:lpstr>
      <vt:lpstr>并发模型的演进路径</vt:lpstr>
      <vt:lpstr>协程是什么：可暂停、可恢复的函数</vt:lpstr>
      <vt:lpstr>PowerPoint 演示文稿</vt:lpstr>
      <vt:lpstr>协程一次挂起与恢复的流程</vt:lpstr>
      <vt:lpstr>底层实现：编译器、运行时与操作系统协同</vt:lpstr>
      <vt:lpstr>主流语言中的协程式并发支持比较</vt:lpstr>
      <vt:lpstr>应用范式与工程边界</vt:lpstr>
      <vt:lpstr>实验设计：五组实验回答五个问题</vt:lpstr>
      <vt:lpstr>实验一：Sleep I/O 验证等待型任务优势</vt:lpstr>
      <vt:lpstr>PowerPoint 演示文稿</vt:lpstr>
      <vt:lpstr>实验三：CPU-bound 说明协程边界</vt:lpstr>
      <vt:lpstr>实验四：Python 高并发扩展观察</vt:lpstr>
      <vt:lpstr>实验五：Java 21 虚拟线程扩展观察</vt:lpstr>
      <vt:lpstr>为何高并发场景下会出现平台、波动或回落？</vt:lpstr>
      <vt:lpstr>实验结果如何支撑结论？</vt:lpstr>
      <vt:lpstr>主要结论</vt:lpstr>
      <vt:lpstr>Takeaways：未来遇到类似问题怎么判断？</vt:lpstr>
      <vt:lpstr>AI 辅助使用说明与人工核验</vt:lpstr>
      <vt:lpstr>PowerPoint 演示文稿</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Vincent Shawn</cp:lastModifiedBy>
  <cp:revision>1</cp:revision>
  <dcterms:created xsi:type="dcterms:W3CDTF">2026-06-01T12:30:49Z</dcterms:created>
  <dcterms:modified xsi:type="dcterms:W3CDTF">2026-06-01T12:37:37Z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2026-06-01T00:00:00Z</vt:filetime>
  </property>
  <property fmtid="{D5CDD505-2E9C-101B-9397-08002B2CF9AE}" pid="4" name="Creator">
    <vt:lpwstr>LaTeX with Beamer class</vt:lpwstr>
  </property>
  <property fmtid="{D5CDD505-2E9C-101B-9397-08002B2CF9AE}" pid="5" name="Producer">
    <vt:lpwstr>xdvipdfmx (20250205)</vt:lpwstr>
  </property>
  <property fmtid="{D5CDD505-2E9C-101B-9397-08002B2CF9AE}" pid="6" name="LastSaved">
    <vt:filetime>2026-06-01T00:00:00Z</vt:filetime>
  </property>
</Properties>
</file>